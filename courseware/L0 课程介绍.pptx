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>
  <p:sldMasterIdLst>
    <p:sldMasterId id="2147483648" r:id="rId1"/>
  </p:sldMasterIdLst>
  <p:notesMasterIdLst>
    <p:notesMasterId r:id="rId4"/>
  </p:notesMasterIdLst>
  <p:handoutMasterIdLst>
    <p:handoutMasterId r:id="rId14"/>
  </p:handoutMasterIdLst>
  <p:sldIdLst>
    <p:sldId id="375" r:id="rId3"/>
    <p:sldId id="376" r:id="rId5"/>
    <p:sldId id="377" r:id="rId6"/>
    <p:sldId id="380" r:id="rId7"/>
    <p:sldId id="489" r:id="rId8"/>
    <p:sldId id="379" r:id="rId9"/>
    <p:sldId id="487" r:id="rId10"/>
    <p:sldId id="490" r:id="rId11"/>
    <p:sldId id="381" r:id="rId12"/>
    <p:sldId id="382" r:id="rId13"/>
  </p:sldIdLst>
  <p:sldSz cx="9144000" cy="6858000" type="screen4x3"/>
  <p:notesSz cx="6858000" cy="9144000"/>
  <p:kinsoku lang="zh-CN" invalStChars="!),.:;?]}、。—ˇ¨〃々～‖…’”〕〉》」』〗】∶！＂＇），．：；？］｀｜｝·" invalEndChars="([{‘“〔〈《「『〖【（［｛．·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9" userDrawn="1">
          <p15:clr>
            <a:srgbClr val="A4A3A4"/>
          </p15:clr>
        </p15:guide>
        <p15:guide id="2" pos="52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99"/>
    <a:srgbClr val="FFCCFF"/>
    <a:srgbClr val="CCFFFF"/>
    <a:srgbClr val="0000CC"/>
    <a:srgbClr val="CCFFCC"/>
    <a:srgbClr val="CCECFF"/>
    <a:srgbClr val="E7FFFF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48" autoAdjust="0"/>
    <p:restoredTop sz="86240" autoAdjust="0"/>
  </p:normalViewPr>
  <p:slideViewPr>
    <p:cSldViewPr snapToGrid="0" showGuides="1">
      <p:cViewPr varScale="1">
        <p:scale>
          <a:sx n="128" d="100"/>
          <a:sy n="128" d="100"/>
        </p:scale>
        <p:origin x="1472" y="176"/>
      </p:cViewPr>
      <p:guideLst>
        <p:guide orient="horz" pos="679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-1878" y="-84"/>
      </p:cViewPr>
      <p:guideLst>
        <p:guide orient="horz" pos="2880"/>
        <p:guide pos="2160"/>
      </p:guideLst>
    </p:cSldViewPr>
  </p:notesViewPr>
  <p:gridSpacing cx="180023" cy="180023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/>
          <a:lstStyle>
            <a:lvl1pPr eaLnBrk="0" hangingPunct="0">
              <a:defRPr sz="1200">
                <a:latin typeface="Helvetic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/>
          <a:lstStyle>
            <a:lvl1pPr algn="r" eaLnBrk="0" hangingPunct="0">
              <a:defRPr sz="1200">
                <a:latin typeface="Helvetic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/>
          <a:lstStyle>
            <a:lvl1pPr eaLnBrk="0" hangingPunct="0">
              <a:defRPr sz="1200">
                <a:latin typeface="Helvetic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/>
          <a:lstStyle>
            <a:lvl1pPr algn="r" eaLnBrk="0" hangingPunct="0">
              <a:defRPr sz="1200">
                <a:latin typeface="Helvetic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19A1E342-4ABC-4F76-9F97-486358513B54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/>
          <a:lstStyle>
            <a:lvl1pPr eaLnBrk="0" hangingPunct="0">
              <a:defRPr sz="1200">
                <a:latin typeface="Helvetic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/>
          <a:lstStyle>
            <a:lvl1pPr algn="r" eaLnBrk="0" hangingPunct="0">
              <a:defRPr sz="1200">
                <a:latin typeface="Helvetic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39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22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  <a:p>
            <a:pPr lvl="1"/>
            <a:r>
              <a:rPr lang="en-US" altLang="zh-CN" noProof="0"/>
              <a:t>Second level</a:t>
            </a:r>
            <a:endParaRPr lang="en-US" altLang="zh-CN" noProof="0"/>
          </a:p>
          <a:p>
            <a:pPr lvl="2"/>
            <a:r>
              <a:rPr lang="en-US" altLang="zh-CN" noProof="0"/>
              <a:t>Third level</a:t>
            </a:r>
            <a:endParaRPr lang="en-US" altLang="zh-CN" noProof="0"/>
          </a:p>
          <a:p>
            <a:pPr lvl="3"/>
            <a:r>
              <a:rPr lang="en-US" altLang="zh-CN" noProof="0"/>
              <a:t>Fourth level</a:t>
            </a:r>
            <a:endParaRPr lang="en-US" altLang="zh-CN" noProof="0"/>
          </a:p>
          <a:p>
            <a:pPr lvl="4"/>
            <a:r>
              <a:rPr lang="en-US" altLang="zh-CN" noProof="0"/>
              <a:t>Fifth level</a:t>
            </a:r>
            <a:endParaRPr lang="en-US" altLang="zh-CN" noProof="0"/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/>
          <a:lstStyle>
            <a:lvl1pPr eaLnBrk="0" hangingPunct="0">
              <a:defRPr sz="1200">
                <a:latin typeface="Helvetic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/>
          <a:lstStyle>
            <a:lvl1pPr algn="r" eaLnBrk="0" hangingPunct="0">
              <a:defRPr sz="1200">
                <a:latin typeface="Helvetic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12302D9F-96F8-4751-B3BB-F52E1233E1B3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</a:pPr>
            <a:fld id="{1D35ADB2-7BB9-41DE-86BE-A0AB227F413F}" type="slidenum">
              <a:rPr lang="zh-CN" altLang="en-US" smtClean="0">
                <a:latin typeface="Helvetica" pitchFamily="34" charset="0"/>
              </a:rPr>
            </a:fld>
            <a:endParaRPr lang="en-US" altLang="zh-CN">
              <a:latin typeface="Helvetica" pitchFamily="34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</a:pPr>
            <a:fld id="{B5C74273-C453-404E-B564-B185EC18350D}" type="slidenum">
              <a:rPr lang="zh-CN" altLang="en-US" smtClean="0">
                <a:latin typeface="Helvetica" pitchFamily="34" charset="0"/>
              </a:rPr>
            </a:fld>
            <a:endParaRPr lang="en-US" altLang="zh-CN">
              <a:latin typeface="Helvetica" pitchFamily="34" charset="0"/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</a:pPr>
            <a:fld id="{6267EF14-82F2-4D64-8A01-35820FA68813}" type="slidenum">
              <a:rPr lang="zh-CN" altLang="en-US" smtClean="0">
                <a:latin typeface="Helvetica" pitchFamily="34" charset="0"/>
              </a:rPr>
            </a:fld>
            <a:endParaRPr lang="en-US" altLang="zh-CN">
              <a:latin typeface="Helvetica" pitchFamily="34" charset="0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</a:pPr>
            <a:fld id="{B1B4156B-EF0B-4F91-91D7-4EBA9739B6B9}" type="slidenum">
              <a:rPr lang="zh-CN" altLang="en-US" smtClean="0">
                <a:latin typeface="Helvetica" pitchFamily="34" charset="0"/>
              </a:rPr>
            </a:fld>
            <a:endParaRPr lang="en-US" altLang="zh-CN">
              <a:latin typeface="Helvetica" pitchFamily="34" charset="0"/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</a:pPr>
            <a:fld id="{CEBF3C07-1641-43F9-9AB1-D934E514DB07}" type="slidenum">
              <a:rPr lang="zh-CN" altLang="en-US" smtClean="0">
                <a:latin typeface="Helvetica" pitchFamily="34" charset="0"/>
              </a:rPr>
            </a:fld>
            <a:endParaRPr lang="en-US" altLang="zh-CN">
              <a:latin typeface="Helvetica" pitchFamily="34" charset="0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pPr eaLnBrk="1" hangingPunct="1"/>
            <a:endParaRPr lang="zh-CN" altLang="en-US"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</a:pPr>
            <a:fld id="{4582F7F5-0391-419D-B067-D10D46917B2E}" type="slidenum">
              <a:rPr lang="zh-CN" altLang="en-US" smtClean="0">
                <a:latin typeface="Helvetica" pitchFamily="34" charset="0"/>
              </a:rPr>
            </a:fld>
            <a:endParaRPr lang="en-US" altLang="zh-CN">
              <a:latin typeface="Helvetica" pitchFamily="34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</a:pPr>
            <a:fld id="{4582F7F5-0391-419D-B067-D10D46917B2E}" type="slidenum">
              <a:rPr lang="zh-CN" altLang="en-US" smtClean="0">
                <a:latin typeface="Helvetica" pitchFamily="34" charset="0"/>
              </a:rPr>
            </a:fld>
            <a:endParaRPr lang="en-US" altLang="zh-CN">
              <a:latin typeface="Helvetica" pitchFamily="34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</a:pPr>
            <a:fld id="{4582F7F5-0391-419D-B067-D10D46917B2E}" type="slidenum">
              <a:rPr lang="zh-CN" altLang="en-US" smtClean="0">
                <a:latin typeface="Helvetica" pitchFamily="34" charset="0"/>
              </a:rPr>
            </a:fld>
            <a:endParaRPr lang="en-US" altLang="zh-CN">
              <a:latin typeface="Helvetica" pitchFamily="34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2302D9F-96F8-4751-B3BB-F52E1233E1B3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</a:pPr>
            <a:fld id="{CEBF3C07-1641-43F9-9AB1-D934E514DB07}" type="slidenum">
              <a:rPr lang="zh-CN" altLang="en-US" smtClean="0">
                <a:latin typeface="Helvetica" pitchFamily="34" charset="0"/>
              </a:rPr>
            </a:fld>
            <a:endParaRPr lang="en-US" altLang="zh-CN">
              <a:latin typeface="Helvetica" pitchFamily="34" charset="0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pPr eaLnBrk="1" hangingPunct="1"/>
            <a:endParaRPr lang="zh-CN" altLang="en-US">
              <a:ea typeface="宋体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>
    <p:pull dir="l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57532"/>
            <a:ext cx="8229600" cy="5607170"/>
          </a:xfrm>
        </p:spPr>
        <p:txBody>
          <a:bodyPr/>
          <a:lstStyle>
            <a:lvl1pPr>
              <a:spcBef>
                <a:spcPts val="1000"/>
              </a:spcBef>
              <a:defRPr/>
            </a:lvl1pPr>
            <a:lvl2pPr>
              <a:spcBef>
                <a:spcPts val="1000"/>
              </a:spcBef>
              <a:defRPr/>
            </a:lvl2pPr>
            <a:lvl3pPr>
              <a:spcBef>
                <a:spcPts val="1000"/>
              </a:spcBef>
              <a:defRPr sz="2200"/>
            </a:lvl3pPr>
            <a:lvl4pPr>
              <a:spcBef>
                <a:spcPts val="1000"/>
              </a:spcBef>
              <a:defRPr/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transition>
    <p:pull dir="l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AA2804-491C-49A7-BC16-5E06A1635A30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pull dir="l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16E69B-2304-4451-9C95-D9D61AA38D53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pull dir="l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308192-CF16-4067-92D0-497C2CCB890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pull dir="l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E66E6B-435D-4C86-B1C3-68B3D4F4EAC6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pull dir="l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D29473-591C-491B-A030-5B09F1A6E65A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pull dir="l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20AF59-2092-4ACC-A2C4-4BBD137CC7FB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pull dir="l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938312-6835-4389-99AF-A534785E1ED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pull dir="l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0BE3B9-24E2-4970-BABA-D7DED90DC5C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pull dir="l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9CB82B-AC0D-404B-8FE4-9D796AA3A19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pull dir="l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44068F-8735-4181-AFB8-BC280F3E9B54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pull dir="ld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1690"/>
            <a:ext cx="8229600" cy="700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48907"/>
            <a:ext cx="8229600" cy="56646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183368" y="6613525"/>
            <a:ext cx="954107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软件过程管理</a:t>
            </a:r>
            <a:endParaRPr lang="zh-CN" altLang="en-US" sz="1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7847673" y="6613525"/>
            <a:ext cx="97975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zh-CN" sz="1000" b="1" i="1" dirty="0">
                <a:latin typeface="Helvetica" pitchFamily="34" charset="0"/>
              </a:rPr>
              <a:t>2021</a:t>
            </a:r>
            <a:r>
              <a:rPr lang="zh-CN" altLang="en-US" sz="1000" b="1" i="1" dirty="0">
                <a:latin typeface="Helvetica" pitchFamily="34" charset="0"/>
              </a:rPr>
              <a:t>春季学期</a:t>
            </a:r>
            <a:endParaRPr lang="zh-CN" altLang="en-US" sz="1000" b="1" i="1" dirty="0">
              <a:latin typeface="Helvetica" pitchFamily="34" charset="0"/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 userDrawn="1"/>
        </p:nvSpPr>
        <p:spPr bwMode="auto">
          <a:xfrm>
            <a:off x="0" y="6613525"/>
            <a:ext cx="1338829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复旦大学研究生课程</a:t>
            </a:r>
            <a:endParaRPr lang="zh-CN" altLang="en-US" sz="1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pull dir="ld"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ts val="1000"/>
        </a:spcBef>
        <a:spcAft>
          <a:spcPct val="0"/>
        </a:spcAft>
        <a:buChar char="•"/>
        <a:defRPr sz="28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ts val="1000"/>
        </a:spcBef>
        <a:spcAft>
          <a:spcPct val="0"/>
        </a:spcAft>
        <a:buChar char="–"/>
        <a:defRPr sz="2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marL="1143000" indent="-228600" algn="l" rtl="0" eaLnBrk="0" fontAlgn="base" hangingPunct="0">
        <a:spcBef>
          <a:spcPts val="1000"/>
        </a:spcBef>
        <a:spcAft>
          <a:spcPct val="0"/>
        </a:spcAft>
        <a:buChar char="•"/>
        <a:defRPr sz="2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marL="1600200" indent="-228600" algn="l" rtl="0" eaLnBrk="0" fontAlgn="base" hangingPunct="0">
        <a:spcBef>
          <a:spcPts val="1000"/>
        </a:spcBef>
        <a:spcAft>
          <a:spcPct val="0"/>
        </a:spcAft>
        <a:buChar char="–"/>
        <a:defRPr sz="20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marL="2057400" indent="-228600" algn="l" rtl="0" eaLnBrk="0" fontAlgn="base" hangingPunct="0">
        <a:spcBef>
          <a:spcPts val="1000"/>
        </a:spcBef>
        <a:spcAft>
          <a:spcPct val="0"/>
        </a:spcAft>
        <a:buChar char="»"/>
        <a:defRPr sz="20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hyperlink" Target="mailto:wuyijian@fudan.edu.cn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软件过程管理</a:t>
            </a:r>
            <a:endParaRPr lang="zh-CN" altLang="en-US" dirty="0"/>
          </a:p>
        </p:txBody>
      </p:sp>
      <p:sp>
        <p:nvSpPr>
          <p:cNvPr id="2051" name="Rectangle 6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 </a:t>
            </a:r>
            <a:r>
              <a:rPr lang="zh-CN" altLang="en-US"/>
              <a:t>复旦大学软件学院研究生选修课</a:t>
            </a:r>
            <a:endParaRPr lang="zh-CN" altLang="en-US"/>
          </a:p>
        </p:txBody>
      </p:sp>
    </p:spTree>
  </p:cSld>
  <p:clrMapOvr>
    <a:masterClrMapping/>
  </p:clrMapOvr>
  <p:transition>
    <p:pull dir="l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D48937C-37F7-4BDF-8979-49043D31F214}" type="slidenum">
              <a:rPr lang="zh-CN" altLang="en-US" sz="1400" smtClean="0"/>
            </a:fld>
            <a:endParaRPr lang="en-US" altLang="zh-CN" sz="1400"/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课程简介</a:t>
            </a:r>
            <a:endParaRPr lang="zh-CN" altLang="en-US"/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44546"/>
            <a:ext cx="8229600" cy="5619768"/>
          </a:xfrm>
        </p:spPr>
        <p:txBody>
          <a:bodyPr/>
          <a:lstStyle/>
          <a:p>
            <a:pPr eaLnBrk="1" hangingPunct="1"/>
            <a:r>
              <a:rPr lang="zh-CN" altLang="en-US" dirty="0"/>
              <a:t>关于我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张天戈</a:t>
            </a:r>
            <a:endParaRPr lang="zh-CN" altLang="en-US" dirty="0"/>
          </a:p>
          <a:p>
            <a:pPr lvl="2" eaLnBrk="1" hangingPunct="1"/>
            <a:r>
              <a:rPr lang="zh-CN" altLang="en-US" dirty="0"/>
              <a:t>二号交叉学科楼</a:t>
            </a:r>
            <a:r>
              <a:rPr lang="en-US" altLang="zh-CN" dirty="0"/>
              <a:t>A2025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联系方式</a:t>
            </a:r>
            <a:endParaRPr lang="zh-CN" altLang="en-US" dirty="0"/>
          </a:p>
          <a:p>
            <a:pPr lvl="2" eaLnBrk="1" hangingPunct="1">
              <a:buFontTx/>
              <a:buNone/>
            </a:pPr>
            <a:r>
              <a:rPr lang="zh-CN" altLang="en-US" dirty="0"/>
              <a:t>电邮：</a:t>
            </a:r>
            <a:r>
              <a:rPr lang="en-US" altLang="zh-CN" dirty="0" err="1"/>
              <a:t>ztiange</a:t>
            </a:r>
            <a:r>
              <a:rPr lang="en-US" altLang="zh-CN" dirty="0" err="1">
                <a:hlinkClick r:id="rId1"/>
              </a:rPr>
              <a:t>@fudan.edu.cn</a:t>
            </a:r>
            <a:endParaRPr lang="en-US" altLang="zh-CN" dirty="0"/>
          </a:p>
        </p:txBody>
      </p:sp>
    </p:spTree>
  </p:cSld>
  <p:clrMapOvr>
    <a:masterClrMapping/>
  </p:clrMapOvr>
  <p:transition>
    <p:pull dir="l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8C5E986-5B1D-4DAA-89F7-2480C515176A}" type="slidenum">
              <a:rPr lang="zh-CN" altLang="en-US" sz="1400" smtClean="0"/>
            </a:fld>
            <a:endParaRPr lang="en-US" altLang="zh-CN" sz="1400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23912"/>
          </a:xfrm>
        </p:spPr>
        <p:txBody>
          <a:bodyPr/>
          <a:lstStyle/>
          <a:p>
            <a:pPr eaLnBrk="1" hangingPunct="1"/>
            <a:r>
              <a:rPr lang="en-US" altLang="zh-CN" dirty="0"/>
              <a:t>《</a:t>
            </a:r>
            <a:r>
              <a:rPr lang="zh-CN" altLang="en-US" dirty="0"/>
              <a:t>软件过程管理</a:t>
            </a:r>
            <a:r>
              <a:rPr lang="en-US" altLang="zh-CN" dirty="0"/>
              <a:t>》</a:t>
            </a:r>
            <a:r>
              <a:rPr lang="zh-CN" altLang="en-US" dirty="0"/>
              <a:t>课程简介</a:t>
            </a:r>
            <a:endParaRPr lang="zh-CN" altLang="en-US" dirty="0"/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22375"/>
            <a:ext cx="8229600" cy="536733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/>
              <a:t>主要内容</a:t>
            </a:r>
            <a:endParaRPr lang="zh-CN" altLang="en-US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软件过程和软件过程管理，敏捷过程，</a:t>
            </a:r>
            <a:r>
              <a:rPr lang="en-US" altLang="zh-CN" dirty="0"/>
              <a:t>Scrum</a:t>
            </a:r>
            <a:r>
              <a:rPr lang="zh-CN" altLang="en-US" dirty="0"/>
              <a:t>，</a:t>
            </a:r>
            <a:r>
              <a:rPr lang="en-US" altLang="zh-CN" dirty="0"/>
              <a:t>DevOps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需求管理</a:t>
            </a:r>
            <a:endParaRPr lang="en-US" altLang="zh-CN" dirty="0"/>
          </a:p>
          <a:p>
            <a:pPr lvl="2" eaLnBrk="1" hangingPunct="1">
              <a:lnSpc>
                <a:spcPct val="90000"/>
              </a:lnSpc>
            </a:pPr>
            <a:r>
              <a:rPr lang="zh-CN" altLang="en-US" dirty="0"/>
              <a:t>需求管理模型，需求建模方法，原型法，产品</a:t>
            </a:r>
            <a:r>
              <a:rPr lang="en-US" altLang="zh-CN" dirty="0"/>
              <a:t>Backlog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质量管理</a:t>
            </a:r>
            <a:endParaRPr lang="en-US" altLang="zh-CN" dirty="0"/>
          </a:p>
          <a:p>
            <a:pPr lvl="2" eaLnBrk="1" hangingPunct="1">
              <a:lnSpc>
                <a:spcPct val="90000"/>
              </a:lnSpc>
            </a:pPr>
            <a:r>
              <a:rPr lang="zh-CN" altLang="en-US" dirty="0"/>
              <a:t>产品质量基本概念，包括评审，缺陷分析与预防，度量，代码质量检查，测试驱动思想与实践，自动化测试与持续集成，</a:t>
            </a:r>
            <a:r>
              <a:rPr lang="en-US" altLang="zh-CN" dirty="0"/>
              <a:t> DevOps</a:t>
            </a:r>
            <a:r>
              <a:rPr lang="zh-CN" altLang="en-US" dirty="0"/>
              <a:t>，流水线，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开发过程跟踪</a:t>
            </a:r>
            <a:endParaRPr lang="en-US" altLang="zh-CN" dirty="0"/>
          </a:p>
          <a:p>
            <a:pPr lvl="2" eaLnBrk="1" hangingPunct="1">
              <a:lnSpc>
                <a:spcPct val="90000"/>
              </a:lnSpc>
            </a:pPr>
            <a:r>
              <a:rPr lang="zh-CN" altLang="en-US" dirty="0"/>
              <a:t>代码托管、产品增量、分支策略、配置管理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项目实践</a:t>
            </a:r>
            <a:endParaRPr lang="en-US" altLang="zh-CN" dirty="0"/>
          </a:p>
          <a:p>
            <a:pPr lvl="2" eaLnBrk="1" hangingPunct="1">
              <a:lnSpc>
                <a:spcPct val="90000"/>
              </a:lnSpc>
            </a:pP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endParaRPr lang="en-US" altLang="zh-CN" dirty="0"/>
          </a:p>
        </p:txBody>
      </p:sp>
    </p:spTree>
  </p:cSld>
  <p:clrMapOvr>
    <a:masterClrMapping/>
  </p:clrMapOvr>
  <p:transition>
    <p:pull dir="l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98512"/>
          </a:xfrm>
        </p:spPr>
        <p:txBody>
          <a:bodyPr/>
          <a:lstStyle/>
          <a:p>
            <a:pPr eaLnBrk="1" hangingPunct="1"/>
            <a:r>
              <a:rPr lang="en-US" altLang="zh-CN" dirty="0"/>
              <a:t>《</a:t>
            </a:r>
            <a:r>
              <a:rPr lang="zh-CN" altLang="en-US" dirty="0"/>
              <a:t>软件过程管理</a:t>
            </a:r>
            <a:r>
              <a:rPr lang="en-US" altLang="zh-CN" dirty="0"/>
              <a:t>》</a:t>
            </a:r>
            <a:r>
              <a:rPr lang="zh-CN" altLang="en-US" dirty="0"/>
              <a:t>课程简介</a:t>
            </a:r>
            <a:endParaRPr lang="zh-CN" altLang="en-US" dirty="0"/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16013"/>
            <a:ext cx="8229600" cy="53149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参考书目</a:t>
            </a:r>
            <a:endParaRPr lang="zh-CN" altLang="en-US" sz="28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朱少民等，软件过程管理，清华大学出版社，</a:t>
            </a:r>
            <a:r>
              <a:rPr lang="en-US" altLang="zh-CN" dirty="0"/>
              <a:t>2007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骆斌主编，软件过程与管理，机械工业出版社，</a:t>
            </a:r>
            <a:r>
              <a:rPr lang="en-US" altLang="zh-CN" dirty="0"/>
              <a:t>2012</a:t>
            </a:r>
            <a:r>
              <a:rPr lang="zh-CN" altLang="en-US" dirty="0"/>
              <a:t>（</a:t>
            </a:r>
            <a:r>
              <a:rPr lang="en-US" altLang="zh-CN" dirty="0"/>
              <a:t>2019</a:t>
            </a:r>
            <a:r>
              <a:rPr lang="zh-CN" altLang="en-US" dirty="0"/>
              <a:t>重印）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Jez Humble, David Farley</a:t>
            </a:r>
            <a:r>
              <a:rPr lang="zh-CN" altLang="en-US" dirty="0"/>
              <a:t>著，乔梁译，持续</a:t>
            </a:r>
            <a:r>
              <a:rPr lang="zh-CN" altLang="en-US" sz="2400" dirty="0"/>
              <a:t>交付：发布可靠软件的系统方法，人民邮电出版社，</a:t>
            </a:r>
            <a:r>
              <a:rPr lang="en-US" altLang="zh-CN" sz="2400" dirty="0"/>
              <a:t>2011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荣国平等编著，</a:t>
            </a:r>
            <a:r>
              <a:rPr lang="en-US" altLang="zh-CN" dirty="0"/>
              <a:t>DevOps</a:t>
            </a:r>
            <a:r>
              <a:rPr lang="zh-CN" altLang="en-US" dirty="0"/>
              <a:t>原理、方法与实践，机械工业出版社，</a:t>
            </a:r>
            <a:r>
              <a:rPr lang="en-US" altLang="zh-CN" dirty="0"/>
              <a:t>2017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/>
              <a:t>乔梁，持续交付</a:t>
            </a:r>
            <a:r>
              <a:rPr lang="en-US" altLang="zh-CN" sz="2400" dirty="0"/>
              <a:t>2.0</a:t>
            </a:r>
            <a:r>
              <a:rPr lang="zh-CN" altLang="en-US" sz="2400" dirty="0"/>
              <a:t>：业务引领的</a:t>
            </a:r>
            <a:r>
              <a:rPr lang="en-US" altLang="zh-CN" sz="2400" dirty="0"/>
              <a:t>DevOps</a:t>
            </a:r>
            <a:r>
              <a:rPr lang="zh-CN" altLang="en-US" sz="2400" dirty="0"/>
              <a:t>精要，人民邮电出版社，</a:t>
            </a:r>
            <a:r>
              <a:rPr lang="en-US" altLang="zh-CN" sz="2400" dirty="0"/>
              <a:t>2019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endParaRPr lang="en-US" altLang="zh-CN" sz="2400" dirty="0"/>
          </a:p>
        </p:txBody>
      </p:sp>
    </p:spTree>
  </p:cSld>
  <p:clrMapOvr>
    <a:masterClrMapping/>
  </p:clrMapOvr>
  <p:transition>
    <p:pull dir="l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9E6F18F-1CAC-47E2-B1B9-169C714E4DB4}" type="slidenum">
              <a:rPr lang="zh-CN" altLang="en-US" sz="1400" smtClean="0"/>
            </a:fld>
            <a:endParaRPr lang="en-US" altLang="zh-CN" sz="1400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软件</a:t>
            </a:r>
            <a:r>
              <a:rPr lang="zh-CN" altLang="en-US"/>
              <a:t>过程管理内容概述</a:t>
            </a:r>
            <a:endParaRPr lang="zh-CN" altLang="en-US" dirty="0"/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理论课</a:t>
            </a:r>
            <a:endParaRPr lang="en-US" altLang="zh-CN" dirty="0"/>
          </a:p>
          <a:p>
            <a:pPr marL="457200" lvl="1" indent="0" eaLnBrk="1" hangingPunct="1">
              <a:buNone/>
            </a:pPr>
            <a:r>
              <a:rPr lang="en-US" altLang="zh-CN" dirty="0"/>
              <a:t>1</a:t>
            </a:r>
            <a:r>
              <a:rPr lang="zh-CN" altLang="en-US" dirty="0"/>
              <a:t>、软件生存周期和过程管理基本概念；敏捷和</a:t>
            </a:r>
            <a:r>
              <a:rPr lang="en-US" altLang="zh-CN" dirty="0"/>
              <a:t>Scrum</a:t>
            </a:r>
            <a:endParaRPr lang="en-US" altLang="zh-CN" dirty="0"/>
          </a:p>
          <a:p>
            <a:pPr marL="457200" lvl="1" indent="0" eaLnBrk="1" hangingPunct="1">
              <a:buNone/>
            </a:pPr>
            <a:r>
              <a:rPr lang="en-US" altLang="zh-CN" dirty="0"/>
              <a:t>2</a:t>
            </a:r>
            <a:r>
              <a:rPr lang="zh-CN" altLang="en-US" dirty="0"/>
              <a:t>、需求管理基本概念；</a:t>
            </a:r>
            <a:r>
              <a:rPr lang="en-US" altLang="zh-CN" dirty="0"/>
              <a:t>Use Case</a:t>
            </a:r>
            <a:r>
              <a:rPr lang="zh-CN" altLang="en-US" dirty="0"/>
              <a:t>和</a:t>
            </a:r>
            <a:r>
              <a:rPr lang="en-US" altLang="zh-CN" dirty="0"/>
              <a:t>User Story</a:t>
            </a:r>
            <a:r>
              <a:rPr lang="zh-CN" altLang="en-US" dirty="0"/>
              <a:t>方法，产品</a:t>
            </a:r>
            <a:r>
              <a:rPr lang="en-US" altLang="zh-CN" dirty="0"/>
              <a:t>Backlog</a:t>
            </a:r>
            <a:r>
              <a:rPr lang="zh-CN" altLang="en-US" dirty="0"/>
              <a:t>以及原型方法</a:t>
            </a:r>
            <a:endParaRPr lang="en-US" altLang="zh-CN" dirty="0"/>
          </a:p>
          <a:p>
            <a:pPr marL="457200" lvl="1" indent="0" eaLnBrk="1" hangingPunct="1">
              <a:buNone/>
            </a:pPr>
            <a:r>
              <a:rPr lang="en-US" altLang="zh-CN" dirty="0"/>
              <a:t>4</a:t>
            </a:r>
            <a:r>
              <a:rPr lang="zh-CN" altLang="en-US" dirty="0"/>
              <a:t>、</a:t>
            </a:r>
            <a:r>
              <a:rPr lang="en-US" altLang="zh-CN" dirty="0"/>
              <a:t>DevOps</a:t>
            </a:r>
            <a:r>
              <a:rPr lang="zh-CN" altLang="en-US" dirty="0"/>
              <a:t>概述及持续交付，流水线</a:t>
            </a:r>
            <a:endParaRPr lang="en-US" altLang="zh-CN" dirty="0"/>
          </a:p>
          <a:p>
            <a:pPr marL="457200" lvl="1" indent="0" eaLnBrk="1" hangingPunct="1">
              <a:buNone/>
            </a:pPr>
            <a:r>
              <a:rPr lang="en-US" altLang="zh-CN" dirty="0"/>
              <a:t>5</a:t>
            </a:r>
            <a:r>
              <a:rPr lang="zh-CN" altLang="en-US" dirty="0"/>
              <a:t>、质量管理与评审；缺陷分析与预防</a:t>
            </a:r>
            <a:endParaRPr lang="en-US" altLang="zh-CN" dirty="0"/>
          </a:p>
          <a:p>
            <a:pPr marL="457200" lvl="1" indent="0" eaLnBrk="1" hangingPunct="1">
              <a:buNone/>
            </a:pPr>
            <a:r>
              <a:rPr lang="en-US" altLang="zh-CN" dirty="0"/>
              <a:t>5</a:t>
            </a:r>
            <a:r>
              <a:rPr lang="zh-CN" altLang="en-US" dirty="0"/>
              <a:t>、代码静态检查；</a:t>
            </a:r>
            <a:r>
              <a:rPr lang="en-US" altLang="zh-CN" dirty="0"/>
              <a:t>Bug</a:t>
            </a:r>
            <a:r>
              <a:rPr lang="zh-CN" altLang="en-US" dirty="0"/>
              <a:t>管理</a:t>
            </a:r>
            <a:endParaRPr lang="en-US" altLang="zh-CN" dirty="0"/>
          </a:p>
          <a:p>
            <a:pPr marL="457200" lvl="1" indent="0" eaLnBrk="1" hangingPunct="1">
              <a:buNone/>
            </a:pPr>
            <a:r>
              <a:rPr lang="en-US" altLang="zh-CN" dirty="0"/>
              <a:t>6</a:t>
            </a:r>
            <a:r>
              <a:rPr lang="zh-CN" altLang="en-US" dirty="0"/>
              <a:t>、测试驱动开发，自动化测试与持续集成</a:t>
            </a:r>
            <a:endParaRPr lang="en-US" altLang="zh-CN" dirty="0"/>
          </a:p>
          <a:p>
            <a:pPr marL="457200" lvl="1" indent="0" eaLnBrk="1" hangingPunct="1">
              <a:buNone/>
            </a:pPr>
            <a:r>
              <a:rPr lang="en-US" altLang="zh-CN" dirty="0"/>
              <a:t>7</a:t>
            </a:r>
            <a:r>
              <a:rPr lang="zh-CN" altLang="en-US" dirty="0"/>
              <a:t>、开发过程跟踪；产品增量、分支、配置管理</a:t>
            </a:r>
            <a:endParaRPr lang="en-US" altLang="zh-CN" dirty="0"/>
          </a:p>
          <a:p>
            <a:pPr marL="457200" lvl="1" indent="0" eaLnBrk="1" hangingPunct="1">
              <a:buNone/>
            </a:pPr>
            <a:r>
              <a:rPr lang="en-US" altLang="zh-CN" dirty="0"/>
              <a:t>8</a:t>
            </a:r>
            <a:r>
              <a:rPr lang="zh-CN" altLang="en-US" dirty="0"/>
              <a:t>、相关工具集</a:t>
            </a:r>
            <a:endParaRPr lang="zh-CN" altLang="en-US" dirty="0"/>
          </a:p>
        </p:txBody>
      </p:sp>
    </p:spTree>
  </p:cSld>
  <p:clrMapOvr>
    <a:masterClrMapping/>
  </p:clrMapOvr>
  <p:transition>
    <p:pull dir="l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ECC975A-EF8F-4FAE-99BF-94662EA2DFEB}" type="slidenum">
              <a:rPr lang="zh-CN" altLang="en-US" sz="1400" smtClean="0"/>
            </a:fld>
            <a:endParaRPr lang="en-US" altLang="zh-CN" sz="1400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《</a:t>
            </a:r>
            <a:r>
              <a:rPr lang="zh-CN" altLang="en-US"/>
              <a:t>软件过程管理</a:t>
            </a:r>
            <a:r>
              <a:rPr lang="en-US" altLang="zh-CN"/>
              <a:t>》</a:t>
            </a:r>
            <a:r>
              <a:rPr lang="zh-CN" altLang="en-US"/>
              <a:t>课程简介</a:t>
            </a:r>
            <a:endParaRPr lang="zh-CN" altLang="en-US" dirty="0"/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25525"/>
            <a:ext cx="8229600" cy="5219700"/>
          </a:xfrm>
        </p:spPr>
        <p:txBody>
          <a:bodyPr/>
          <a:lstStyle/>
          <a:p>
            <a:pPr eaLnBrk="1" hangingPunct="1"/>
            <a:r>
              <a:rPr lang="zh-CN" altLang="en-US" dirty="0"/>
              <a:t>研究生课程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课堂讲授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课堂小组讨论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Review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项目实践</a:t>
            </a:r>
            <a:endParaRPr lang="en-US" altLang="zh-CN" dirty="0"/>
          </a:p>
          <a:p>
            <a:pPr lvl="2" eaLnBrk="1" hangingPunct="1"/>
            <a:r>
              <a:rPr lang="zh-CN" altLang="en-US" dirty="0"/>
              <a:t>基于给定的项目开展功能</a:t>
            </a:r>
            <a:r>
              <a:rPr lang="zh-CN" altLang="en-US" dirty="0"/>
              <a:t>实现、扩展与维护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课程论文</a:t>
            </a:r>
            <a:endParaRPr lang="zh-CN" altLang="en-US" dirty="0"/>
          </a:p>
          <a:p>
            <a:pPr lvl="2" eaLnBrk="1" hangingPunct="1"/>
            <a:r>
              <a:rPr lang="zh-CN" altLang="en-US" dirty="0"/>
              <a:t>结合理论学习和项目实践，对当代软件开发中的过程管理要点阐述自己的理解与体会</a:t>
            </a:r>
            <a:endParaRPr lang="zh-CN" altLang="en-US" dirty="0"/>
          </a:p>
          <a:p>
            <a:pPr lvl="2" eaLnBrk="1" hangingPunct="1"/>
            <a:r>
              <a:rPr lang="zh-CN" altLang="en-US" dirty="0"/>
              <a:t>题目自拟，内容详实，字数不限</a:t>
            </a:r>
            <a:endParaRPr lang="zh-CN" altLang="en-US" dirty="0"/>
          </a:p>
        </p:txBody>
      </p:sp>
    </p:spTree>
  </p:cSld>
  <p:clrMapOvr>
    <a:masterClrMapping/>
  </p:clrMapOvr>
  <p:transition>
    <p:pull dir="l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ECC975A-EF8F-4FAE-99BF-94662EA2DFEB}" type="slidenum">
              <a:rPr lang="zh-CN" altLang="en-US" sz="1400" smtClean="0"/>
            </a:fld>
            <a:endParaRPr lang="en-US" altLang="zh-CN" sz="1400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《</a:t>
            </a:r>
            <a:r>
              <a:rPr lang="zh-CN" altLang="en-US"/>
              <a:t>软件过程管理</a:t>
            </a:r>
            <a:r>
              <a:rPr lang="en-US" altLang="zh-CN"/>
              <a:t>》</a:t>
            </a:r>
            <a:r>
              <a:rPr lang="zh-CN" altLang="en-US"/>
              <a:t>课程简介</a:t>
            </a:r>
            <a:endParaRPr lang="zh-CN" altLang="en-US" dirty="0"/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25525"/>
            <a:ext cx="8229600" cy="5219700"/>
          </a:xfrm>
        </p:spPr>
        <p:txBody>
          <a:bodyPr/>
          <a:lstStyle/>
          <a:p>
            <a:pPr eaLnBrk="1" hangingPunct="1"/>
            <a:r>
              <a:rPr lang="zh-CN" altLang="en-US" dirty="0"/>
              <a:t>有关课程性质和课程实践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研究生工程管理类课程之一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专业学位研究生必修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强调软件工程理论与工程实践紧密结合</a:t>
            </a:r>
            <a:endParaRPr lang="en-US" altLang="zh-CN" dirty="0"/>
          </a:p>
          <a:p>
            <a:pPr lvl="2" eaLnBrk="1" hangingPunct="1"/>
            <a:r>
              <a:rPr lang="zh-CN" altLang="en-US" dirty="0"/>
              <a:t>理论学时和实践学时各占一半</a:t>
            </a:r>
            <a:endParaRPr lang="en-US" altLang="zh-CN" dirty="0"/>
          </a:p>
          <a:p>
            <a:pPr lvl="2" eaLnBrk="1" hangingPunct="1"/>
            <a:r>
              <a:rPr lang="zh-CN" altLang="en-US" dirty="0"/>
              <a:t>组团动手体验现代化的软件开发和软件过程管理技能</a:t>
            </a:r>
            <a:endParaRPr lang="en-US" altLang="zh-CN" dirty="0"/>
          </a:p>
          <a:p>
            <a:pPr lvl="2" eaLnBrk="1" hangingPunct="1"/>
            <a:r>
              <a:rPr lang="zh-CN" altLang="en-US" dirty="0"/>
              <a:t>理论学时：课堂讲授，辅以小范围讨论</a:t>
            </a:r>
            <a:endParaRPr lang="en-US" altLang="zh-CN" dirty="0"/>
          </a:p>
          <a:p>
            <a:pPr lvl="2" eaLnBrk="1" hangingPunct="1"/>
            <a:r>
              <a:rPr lang="zh-CN" altLang="en-US" dirty="0"/>
              <a:t>实践学时：①项目实践（</a:t>
            </a:r>
            <a:r>
              <a:rPr lang="en-US" altLang="zh-CN" dirty="0"/>
              <a:t>1/3</a:t>
            </a:r>
            <a:r>
              <a:rPr lang="zh-CN" altLang="en-US" dirty="0"/>
              <a:t>小组在教室现场讨论，</a:t>
            </a:r>
            <a:r>
              <a:rPr lang="en-US" altLang="zh-CN" dirty="0"/>
              <a:t>2/3</a:t>
            </a:r>
            <a:r>
              <a:rPr lang="zh-CN" altLang="en-US" dirty="0"/>
              <a:t>小组自行线下讨论、线上答疑）；②进展汇报、展示及讨论</a:t>
            </a:r>
            <a:endParaRPr lang="en-US" altLang="zh-CN" dirty="0"/>
          </a:p>
          <a:p>
            <a:pPr lvl="2" eaLnBrk="1" hangingPunct="1"/>
            <a:r>
              <a:rPr lang="zh-CN" altLang="en-US" dirty="0"/>
              <a:t>小组规模</a:t>
            </a:r>
            <a:r>
              <a:rPr lang="en-US" altLang="zh-CN" dirty="0"/>
              <a:t>6</a:t>
            </a:r>
            <a:r>
              <a:rPr lang="zh-CN" altLang="en-US" dirty="0"/>
              <a:t>人</a:t>
            </a:r>
            <a:endParaRPr lang="en-US" altLang="zh-CN" dirty="0"/>
          </a:p>
        </p:txBody>
      </p:sp>
    </p:spTree>
  </p:cSld>
  <p:clrMapOvr>
    <a:masterClrMapping/>
  </p:clrMapOvr>
  <p:transition>
    <p:pull dir="l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ECC975A-EF8F-4FAE-99BF-94662EA2DFEB}" type="slidenum">
              <a:rPr lang="zh-CN" altLang="en-US" sz="1400" smtClean="0"/>
            </a:fld>
            <a:endParaRPr lang="en-US" altLang="zh-CN" sz="1400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《</a:t>
            </a:r>
            <a:r>
              <a:rPr lang="zh-CN" altLang="en-US"/>
              <a:t>软件过程管理</a:t>
            </a:r>
            <a:r>
              <a:rPr lang="en-US" altLang="zh-CN"/>
              <a:t>》</a:t>
            </a:r>
            <a:r>
              <a:rPr lang="zh-CN" altLang="en-US"/>
              <a:t>课程简介</a:t>
            </a:r>
            <a:endParaRPr lang="zh-CN" altLang="en-US" dirty="0"/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25525"/>
            <a:ext cx="8229600" cy="5219700"/>
          </a:xfrm>
        </p:spPr>
        <p:txBody>
          <a:bodyPr/>
          <a:lstStyle/>
          <a:p>
            <a:pPr eaLnBrk="1" hangingPunct="1"/>
            <a:r>
              <a:rPr lang="zh-CN" altLang="en-US" dirty="0"/>
              <a:t>课程实践要点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不限制使用大模型</a:t>
            </a:r>
            <a:r>
              <a:rPr lang="en-US" altLang="zh-CN" dirty="0"/>
              <a:t>(Vibe Coding)</a:t>
            </a:r>
            <a:r>
              <a:rPr lang="zh-CN" altLang="en-US" dirty="0"/>
              <a:t>，但与以往相比，会</a:t>
            </a:r>
            <a:r>
              <a:rPr lang="zh-CN" altLang="en-US" dirty="0"/>
              <a:t>加大实践项目的</a:t>
            </a:r>
            <a:r>
              <a:rPr lang="zh-CN" altLang="en-US" dirty="0"/>
              <a:t>工作量。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需要分工合作，避免由小组</a:t>
            </a: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2</a:t>
            </a:r>
            <a:r>
              <a:rPr lang="zh-CN" altLang="en-US" dirty="0"/>
              <a:t>人包办所有</a:t>
            </a:r>
            <a:r>
              <a:rPr lang="zh-CN" altLang="en-US" dirty="0"/>
              <a:t>工作。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由华为提供云服务器，需要完成</a:t>
            </a:r>
            <a:r>
              <a:rPr lang="en-US" altLang="zh-CN" dirty="0"/>
              <a:t>devops</a:t>
            </a:r>
            <a:r>
              <a:rPr lang="zh-CN" altLang="en-US" dirty="0"/>
              <a:t>的完整</a:t>
            </a:r>
            <a:r>
              <a:rPr lang="zh-CN" altLang="en-US" dirty="0"/>
              <a:t>流程。</a:t>
            </a:r>
            <a:endParaRPr lang="zh-CN" altLang="en-US" dirty="0"/>
          </a:p>
          <a:p>
            <a:pPr lvl="0" eaLnBrk="1" hangingPunct="1"/>
            <a:r>
              <a:rPr lang="zh-CN" altLang="en-US" dirty="0"/>
              <a:t>重点考察的</a:t>
            </a:r>
            <a:r>
              <a:rPr lang="zh-CN" altLang="en-US" dirty="0"/>
              <a:t>内容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需求的获取，</a:t>
            </a:r>
            <a:r>
              <a:rPr lang="zh-CN" altLang="en-US" dirty="0"/>
              <a:t>整理；任务的分解和</a:t>
            </a:r>
            <a:r>
              <a:rPr lang="zh-CN" altLang="en-US" dirty="0"/>
              <a:t>追踪。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自动化测试。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验证</a:t>
            </a:r>
            <a:r>
              <a:rPr lang="en-US" altLang="zh-CN" dirty="0"/>
              <a:t>(</a:t>
            </a:r>
            <a:r>
              <a:rPr lang="zh-CN" altLang="en-US" dirty="0"/>
              <a:t>人工</a:t>
            </a:r>
            <a:r>
              <a:rPr lang="en-US" altLang="zh-CN" dirty="0"/>
              <a:t>+</a:t>
            </a:r>
            <a:r>
              <a:rPr lang="zh-CN" altLang="en-US" dirty="0"/>
              <a:t>自动化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自动化的部署和维护升级。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大模型对软件过程的影响。</a:t>
            </a:r>
            <a:endParaRPr lang="en-US" altLang="zh-CN" dirty="0"/>
          </a:p>
          <a:p>
            <a:pPr lvl="1" eaLnBrk="1" hangingPunct="1"/>
            <a:endParaRPr lang="en-US" altLang="zh-CN" dirty="0"/>
          </a:p>
        </p:txBody>
      </p:sp>
    </p:spTree>
  </p:cSld>
  <p:clrMapOvr>
    <a:masterClrMapping/>
  </p:clrMapOvr>
  <p:transition>
    <p:pull dir="l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6A16053-F08F-4A3E-83D5-5A1994C16D22}" type="slidenum">
              <a:rPr lang="zh-CN" altLang="en-US" sz="1400" smtClean="0"/>
            </a:fld>
            <a:endParaRPr lang="en-US" altLang="zh-CN" sz="1400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《</a:t>
            </a:r>
            <a:r>
              <a:rPr lang="zh-CN" altLang="en-US" dirty="0"/>
              <a:t>软件过程管理</a:t>
            </a:r>
            <a:r>
              <a:rPr lang="en-US" altLang="zh-CN" dirty="0"/>
              <a:t>》</a:t>
            </a:r>
            <a:r>
              <a:rPr lang="zh-CN" altLang="en-US" dirty="0"/>
              <a:t>课程简介</a:t>
            </a:r>
            <a:endParaRPr lang="zh-CN" altLang="en-US" dirty="0"/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考核</a:t>
            </a:r>
            <a:endParaRPr lang="zh-CN" altLang="en-US" dirty="0"/>
          </a:p>
          <a:p>
            <a:pPr lvl="1" eaLnBrk="1" hangingPunct="1"/>
            <a:r>
              <a:rPr lang="en-US" altLang="zh-CN" dirty="0"/>
              <a:t>Lab</a:t>
            </a:r>
            <a:r>
              <a:rPr lang="zh-CN" altLang="en-US" dirty="0"/>
              <a:t>以及课堂讨论（</a:t>
            </a:r>
            <a:r>
              <a:rPr lang="zh-CN" altLang="en-US" dirty="0"/>
              <a:t>两次）（</a:t>
            </a:r>
            <a:r>
              <a:rPr lang="en-US" altLang="zh-CN" dirty="0"/>
              <a:t>~70%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期末论文（</a:t>
            </a:r>
            <a:r>
              <a:rPr lang="en-US" altLang="zh-CN" dirty="0"/>
              <a:t>~30%</a:t>
            </a:r>
            <a:r>
              <a:rPr lang="zh-CN" altLang="en-US" dirty="0"/>
              <a:t>）</a:t>
            </a:r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r>
              <a:rPr lang="zh-CN" altLang="en-US" dirty="0"/>
              <a:t>课程网站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eLearning</a:t>
            </a:r>
            <a:r>
              <a:rPr lang="zh-CN" altLang="en-US" dirty="0"/>
              <a:t>网站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https://elearning.fudan.edu.cn/courses/102816</a:t>
            </a:r>
            <a:endParaRPr lang="en-US" altLang="zh-CN" dirty="0"/>
          </a:p>
        </p:txBody>
      </p:sp>
    </p:spTree>
  </p:cSld>
  <p:clrMapOvr>
    <a:masterClrMapping/>
  </p:clrMapOvr>
  <p:transition>
    <p:pull dir="l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9E6F18F-1CAC-47E2-B1B9-169C714E4DB4}" type="slidenum">
              <a:rPr lang="zh-CN" altLang="en-US" sz="1400" smtClean="0"/>
            </a:fld>
            <a:endParaRPr lang="en-US" altLang="zh-CN" sz="1400" dirty="0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软件</a:t>
            </a:r>
            <a:r>
              <a:rPr lang="zh-CN" altLang="en-US"/>
              <a:t>过程管理内容概述</a:t>
            </a:r>
            <a:endParaRPr lang="zh-CN" altLang="en-US" dirty="0"/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实践课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建议以华为软开云</a:t>
            </a:r>
            <a:r>
              <a:rPr lang="en-US" altLang="zh-CN" dirty="0"/>
              <a:t>DevCloud</a:t>
            </a:r>
            <a:r>
              <a:rPr lang="zh-CN" altLang="en-US" dirty="0"/>
              <a:t>为平台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托管代码、部署运行环境</a:t>
            </a:r>
            <a:endParaRPr lang="en-US" altLang="zh-CN" dirty="0"/>
          </a:p>
        </p:txBody>
      </p:sp>
    </p:spTree>
  </p:cSld>
  <p:clrMapOvr>
    <a:masterClrMapping/>
  </p:clrMapOvr>
  <p:transition>
    <p:pull dir="ld"/>
  </p:transition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1246</Words>
  <Application>WPS 文字</Application>
  <PresentationFormat>全屏显示(4:3)</PresentationFormat>
  <Paragraphs>118</Paragraphs>
  <Slides>10</Slides>
  <Notes>9</Notes>
  <HiddenSlides>1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宋体</vt:lpstr>
      <vt:lpstr>Wingdings</vt:lpstr>
      <vt:lpstr>汉仪书宋二KW</vt:lpstr>
      <vt:lpstr>微软雅黑</vt:lpstr>
      <vt:lpstr>汉仪旗黑</vt:lpstr>
      <vt:lpstr>Helvetica</vt:lpstr>
      <vt:lpstr>Times New Roman</vt:lpstr>
      <vt:lpstr>宋体</vt:lpstr>
      <vt:lpstr>Arial Unicode MS</vt:lpstr>
      <vt:lpstr>微软雅黑</vt:lpstr>
      <vt:lpstr>默认设计模板</vt:lpstr>
      <vt:lpstr>软件过程管理</vt:lpstr>
      <vt:lpstr>课程简介</vt:lpstr>
      <vt:lpstr>《软件过程管理》课程简介</vt:lpstr>
      <vt:lpstr>《软件过程管理》课程简介</vt:lpstr>
      <vt:lpstr>软件过程管理内容概述</vt:lpstr>
      <vt:lpstr>《软件过程管理》课程简介</vt:lpstr>
      <vt:lpstr>《软件过程管理》课程简介</vt:lpstr>
      <vt:lpstr>《软件过程管理》课程简介</vt:lpstr>
      <vt:lpstr>《软件过程管理》课程简介</vt:lpstr>
      <vt:lpstr>软件过程管理内容概述</vt:lpstr>
    </vt:vector>
  </TitlesOfParts>
  <Company>Fudan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L1</dc:title>
  <dc:creator>Wu Yijian</dc:creator>
  <dc:subject>Software Practice</dc:subject>
  <cp:lastModifiedBy>张天戈</cp:lastModifiedBy>
  <cp:revision>856</cp:revision>
  <cp:lastPrinted>2026-03-03T06:38:45Z</cp:lastPrinted>
  <dcterms:created xsi:type="dcterms:W3CDTF">2026-03-03T06:38:45Z</dcterms:created>
  <dcterms:modified xsi:type="dcterms:W3CDTF">2026-03-03T06:38:45Z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8558EFFE95C543A730B8F46311715FE0</vt:lpwstr>
  </property>
  <property fmtid="{D5CDD505-2E9C-101B-9397-08002B2CF9AE}" pid="3" name="KSOProductBuildVer">
    <vt:lpwstr>2052-12.1.24031.24031</vt:lpwstr>
  </property>
</Properties>
</file>