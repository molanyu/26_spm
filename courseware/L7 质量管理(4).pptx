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p:sldMasterIdLst>
    <p:sldMasterId id="2147483648" r:id="rId1"/>
  </p:sldMasterIdLst>
  <p:notesMasterIdLst>
    <p:notesMasterId r:id="rId4"/>
  </p:notesMasterIdLst>
  <p:handoutMasterIdLst>
    <p:handoutMasterId r:id="rId85"/>
  </p:handoutMasterIdLst>
  <p:sldIdLst>
    <p:sldId id="375" r:id="rId3"/>
    <p:sldId id="391" r:id="rId5"/>
    <p:sldId id="442" r:id="rId6"/>
    <p:sldId id="392" r:id="rId7"/>
    <p:sldId id="393" r:id="rId8"/>
    <p:sldId id="416" r:id="rId9"/>
    <p:sldId id="417" r:id="rId10"/>
    <p:sldId id="418" r:id="rId11"/>
    <p:sldId id="443" r:id="rId12"/>
    <p:sldId id="394" r:id="rId13"/>
    <p:sldId id="396" r:id="rId14"/>
    <p:sldId id="395" r:id="rId15"/>
    <p:sldId id="444" r:id="rId16"/>
    <p:sldId id="410" r:id="rId17"/>
    <p:sldId id="445" r:id="rId18"/>
    <p:sldId id="412" r:id="rId19"/>
    <p:sldId id="411" r:id="rId20"/>
    <p:sldId id="414" r:id="rId21"/>
    <p:sldId id="413" r:id="rId22"/>
    <p:sldId id="446" r:id="rId23"/>
    <p:sldId id="398" r:id="rId24"/>
    <p:sldId id="399" r:id="rId25"/>
    <p:sldId id="400" r:id="rId26"/>
    <p:sldId id="405" r:id="rId27"/>
    <p:sldId id="401" r:id="rId28"/>
    <p:sldId id="403" r:id="rId29"/>
    <p:sldId id="406" r:id="rId30"/>
    <p:sldId id="404" r:id="rId31"/>
    <p:sldId id="407" r:id="rId32"/>
    <p:sldId id="408" r:id="rId33"/>
    <p:sldId id="409" r:id="rId34"/>
    <p:sldId id="447" r:id="rId35"/>
    <p:sldId id="415" r:id="rId36"/>
    <p:sldId id="419" r:id="rId37"/>
    <p:sldId id="420" r:id="rId38"/>
    <p:sldId id="421" r:id="rId39"/>
    <p:sldId id="422" r:id="rId40"/>
    <p:sldId id="423" r:id="rId41"/>
    <p:sldId id="521" r:id="rId42"/>
    <p:sldId id="424" r:id="rId43"/>
    <p:sldId id="425" r:id="rId44"/>
    <p:sldId id="426" r:id="rId45"/>
    <p:sldId id="427" r:id="rId46"/>
    <p:sldId id="428" r:id="rId47"/>
    <p:sldId id="432" r:id="rId48"/>
    <p:sldId id="429" r:id="rId49"/>
    <p:sldId id="430" r:id="rId50"/>
    <p:sldId id="431" r:id="rId51"/>
    <p:sldId id="434" r:id="rId52"/>
    <p:sldId id="433" r:id="rId53"/>
    <p:sldId id="435" r:id="rId54"/>
    <p:sldId id="436" r:id="rId55"/>
    <p:sldId id="437" r:id="rId56"/>
    <p:sldId id="438" r:id="rId57"/>
    <p:sldId id="440" r:id="rId58"/>
    <p:sldId id="439" r:id="rId59"/>
    <p:sldId id="441" r:id="rId60"/>
    <p:sldId id="470" r:id="rId61"/>
    <p:sldId id="471" r:id="rId62"/>
    <p:sldId id="448" r:id="rId63"/>
    <p:sldId id="449" r:id="rId64"/>
    <p:sldId id="450" r:id="rId65"/>
    <p:sldId id="451" r:id="rId66"/>
    <p:sldId id="452" r:id="rId67"/>
    <p:sldId id="453" r:id="rId68"/>
    <p:sldId id="468" r:id="rId69"/>
    <p:sldId id="469" r:id="rId70"/>
    <p:sldId id="473" r:id="rId71"/>
    <p:sldId id="454" r:id="rId72"/>
    <p:sldId id="456" r:id="rId73"/>
    <p:sldId id="457" r:id="rId74"/>
    <p:sldId id="458" r:id="rId75"/>
    <p:sldId id="459" r:id="rId76"/>
    <p:sldId id="461" r:id="rId77"/>
    <p:sldId id="460" r:id="rId78"/>
    <p:sldId id="462" r:id="rId79"/>
    <p:sldId id="463" r:id="rId80"/>
    <p:sldId id="464" r:id="rId81"/>
    <p:sldId id="465" r:id="rId82"/>
    <p:sldId id="466" r:id="rId83"/>
    <p:sldId id="467" r:id="rId84"/>
  </p:sldIdLst>
  <p:sldSz cx="9144000" cy="6858000" type="screen4x3"/>
  <p:notesSz cx="9144000" cy="6858000"/>
  <p:custDataLst>
    <p:tags r:id="rId89"/>
  </p:custDataLst>
  <p:kinsoku lang="zh-CN" invalStChars="!),.:;?]}、。—ˇ¨〃々～‖…’”〕〉》」』〗】∶！＂＇），．：；？］｀｜｝·" invalEndChars="([{‘“〔〈《「『〖【（［｛．·"/>
  <p:defaultTextStyle>
    <a:defPPr>
      <a:defRPr lang="en-US"/>
    </a:defPPr>
    <a:lvl1pPr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679" userDrawn="1">
          <p15:clr>
            <a:srgbClr val="A4A3A4"/>
          </p15:clr>
        </p15:guide>
        <p15:guide id="2" pos="5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FFCC"/>
    <a:srgbClr val="FFFF99"/>
    <a:srgbClr val="FFFF66"/>
    <a:srgbClr val="333399"/>
    <a:srgbClr val="FFCCFF"/>
    <a:srgbClr val="CCFFFF"/>
    <a:srgbClr val="CCECFF"/>
    <a:srgbClr val="E7FF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7" autoAdjust="0"/>
    <p:restoredTop sz="94082" autoAdjust="0"/>
  </p:normalViewPr>
  <p:slideViewPr>
    <p:cSldViewPr snapToGrid="0" showGuides="1">
      <p:cViewPr varScale="1">
        <p:scale>
          <a:sx n="120" d="100"/>
          <a:sy n="120" d="100"/>
        </p:scale>
        <p:origin x="936" y="184"/>
      </p:cViewPr>
      <p:guideLst>
        <p:guide orient="horz" pos="679"/>
        <p:guide pos="5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5" d="100"/>
          <a:sy n="55" d="100"/>
        </p:scale>
        <p:origin x="-1878" y="-84"/>
      </p:cViewPr>
      <p:guideLst>
        <p:guide orient="horz" pos="2160"/>
        <p:guide pos="2880"/>
      </p:guideLst>
    </p:cSldViewPr>
  </p:notesViewPr>
  <p:gridSpacing cx="180023" cy="180023"/>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9" Type="http://schemas.openxmlformats.org/officeDocument/2006/relationships/tags" Target="tags/tag1.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handoutMaster" Target="handoutMasters/handoutMaster1.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lstStyle>
            <a:lvl1pPr eaLnBrk="0" hangingPunct="0">
              <a:defRPr sz="1600">
                <a:latin typeface="Helvetica" pitchFamily="34" charset="0"/>
                <a:ea typeface="宋体" pitchFamily="2" charset="-122"/>
              </a:defRPr>
            </a:lvl1pPr>
          </a:lstStyle>
          <a:p>
            <a:pPr>
              <a:defRPr/>
            </a:pPr>
            <a:endParaRPr lang="zh-CN" altLang="en-US"/>
          </a:p>
        </p:txBody>
      </p:sp>
      <p:sp>
        <p:nvSpPr>
          <p:cNvPr id="58371" name="Rectangle 3"/>
          <p:cNvSpPr>
            <a:spLocks noGrp="1" noChangeArrowheads="1"/>
          </p:cNvSpPr>
          <p:nvPr>
            <p:ph type="dt" sz="quarter"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lstStyle>
            <a:lvl1pPr algn="r" eaLnBrk="0" hangingPunct="0">
              <a:defRPr sz="1600">
                <a:latin typeface="Helvetica" pitchFamily="34" charset="0"/>
                <a:ea typeface="宋体" pitchFamily="2" charset="-122"/>
              </a:defRPr>
            </a:lvl1pPr>
          </a:lstStyle>
          <a:p>
            <a:pPr>
              <a:defRPr/>
            </a:pPr>
            <a:endParaRPr lang="en-US" altLang="zh-CN"/>
          </a:p>
        </p:txBody>
      </p:sp>
      <p:sp>
        <p:nvSpPr>
          <p:cNvPr id="58372" name="Rectangle 4"/>
          <p:cNvSpPr>
            <a:spLocks noGrp="1" noChangeArrowheads="1"/>
          </p:cNvSpPr>
          <p:nvPr>
            <p:ph type="ftr" sz="quarter" idx="2"/>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eaLnBrk="0" hangingPunct="0">
              <a:defRPr sz="1600">
                <a:latin typeface="Helvetica" pitchFamily="34" charset="0"/>
                <a:ea typeface="宋体" pitchFamily="2" charset="-122"/>
              </a:defRPr>
            </a:lvl1pPr>
          </a:lstStyle>
          <a:p>
            <a:pPr>
              <a:defRPr/>
            </a:pPr>
            <a:endParaRPr lang="en-US" altLang="zh-CN"/>
          </a:p>
        </p:txBody>
      </p:sp>
      <p:sp>
        <p:nvSpPr>
          <p:cNvPr id="58373" name="Rectangle 5"/>
          <p:cNvSpPr>
            <a:spLocks noGrp="1" noChangeArrowheads="1"/>
          </p:cNvSpPr>
          <p:nvPr>
            <p:ph type="sldNum" sz="quarter" idx="3"/>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r" eaLnBrk="0" hangingPunct="0">
              <a:defRPr sz="1600">
                <a:latin typeface="Helvetica" pitchFamily="34" charset="0"/>
                <a:ea typeface="宋体" pitchFamily="2" charset="-122"/>
              </a:defRPr>
            </a:lvl1pPr>
          </a:lstStyle>
          <a:p>
            <a:pPr>
              <a:defRPr/>
            </a:pPr>
            <a:fld id="{19A1E342-4ABC-4F76-9F97-486358513B54}"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lstStyle>
            <a:lvl1pPr eaLnBrk="0" hangingPunct="0">
              <a:defRPr sz="1200">
                <a:latin typeface="Helvetica" pitchFamily="34" charset="0"/>
                <a:ea typeface="宋体" pitchFamily="2" charset="-122"/>
              </a:defRPr>
            </a:lvl1pPr>
          </a:lstStyle>
          <a:p>
            <a:pPr>
              <a:defRPr/>
            </a:pPr>
            <a:endParaRPr lang="zh-CN" altLang="en-US"/>
          </a:p>
        </p:txBody>
      </p:sp>
      <p:sp>
        <p:nvSpPr>
          <p:cNvPr id="52227" name="Rectangle 3"/>
          <p:cNvSpPr>
            <a:spLocks noGrp="1" noChangeArrowheads="1"/>
          </p:cNvSpPr>
          <p:nvPr>
            <p:ph type="dt"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lstStyle>
            <a:lvl1pPr algn="r" eaLnBrk="0" hangingPunct="0">
              <a:defRPr sz="1200">
                <a:latin typeface="Helvetica" pitchFamily="34" charset="0"/>
                <a:ea typeface="宋体" pitchFamily="2" charset="-122"/>
              </a:defRPr>
            </a:lvl1pPr>
          </a:lstStyle>
          <a:p>
            <a:pPr>
              <a:defRPr/>
            </a:pPr>
            <a:endParaRPr lang="en-US" altLang="zh-CN"/>
          </a:p>
        </p:txBody>
      </p:sp>
      <p:sp>
        <p:nvSpPr>
          <p:cNvPr id="8397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9" name="Rectangle 5"/>
          <p:cNvSpPr>
            <a:spLocks noGrp="1" noChangeArrowheads="1"/>
          </p:cNvSpPr>
          <p:nvPr>
            <p:ph type="body" sz="quarter" idx="3"/>
          </p:nvPr>
        </p:nvSpPr>
        <p:spPr bwMode="auto">
          <a:xfrm>
            <a:off x="1219200" y="3257550"/>
            <a:ext cx="67056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52230" name="Rectangle 6"/>
          <p:cNvSpPr>
            <a:spLocks noGrp="1" noChangeArrowheads="1"/>
          </p:cNvSpPr>
          <p:nvPr>
            <p:ph type="ftr" sz="quarter" idx="4"/>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eaLnBrk="0" hangingPunct="0">
              <a:defRPr sz="1200">
                <a:latin typeface="Helvetica" pitchFamily="34" charset="0"/>
                <a:ea typeface="宋体" pitchFamily="2" charset="-122"/>
              </a:defRPr>
            </a:lvl1pPr>
          </a:lstStyle>
          <a:p>
            <a:pPr>
              <a:defRPr/>
            </a:pPr>
            <a:endParaRPr lang="en-US" altLang="zh-CN"/>
          </a:p>
        </p:txBody>
      </p:sp>
      <p:sp>
        <p:nvSpPr>
          <p:cNvPr id="52231" name="Rectangle 7"/>
          <p:cNvSpPr>
            <a:spLocks noGrp="1" noChangeArrowheads="1"/>
          </p:cNvSpPr>
          <p:nvPr>
            <p:ph type="sldNum" sz="quarter" idx="5"/>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lstStyle>
            <a:lvl1pPr algn="r" eaLnBrk="0" hangingPunct="0">
              <a:defRPr sz="1200">
                <a:latin typeface="Helvetica" pitchFamily="34" charset="0"/>
                <a:ea typeface="宋体" pitchFamily="2" charset="-122"/>
              </a:defRPr>
            </a:lvl1pPr>
          </a:lstStyle>
          <a:p>
            <a:pPr>
              <a:defRPr/>
            </a:pPr>
            <a:fld id="{12302D9F-96F8-4751-B3BB-F52E1233E1B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503050405090304" pitchFamily="18" charset="0"/>
                <a:ea typeface="宋体" pitchFamily="2" charset="-122"/>
              </a:defRPr>
            </a:lvl1pPr>
            <a:lvl2pPr marL="742950" indent="-285750" eaLnBrk="0" hangingPunct="0">
              <a:spcBef>
                <a:spcPct val="30000"/>
              </a:spcBef>
              <a:defRPr sz="1200">
                <a:solidFill>
                  <a:schemeClr val="tx1"/>
                </a:solidFill>
                <a:latin typeface="Times New Roman" panose="02020503050405090304" pitchFamily="18" charset="0"/>
                <a:ea typeface="宋体" pitchFamily="2" charset="-122"/>
              </a:defRPr>
            </a:lvl2pPr>
            <a:lvl3pPr marL="1143000" indent="-228600" eaLnBrk="0" hangingPunct="0">
              <a:spcBef>
                <a:spcPct val="30000"/>
              </a:spcBef>
              <a:defRPr sz="1200">
                <a:solidFill>
                  <a:schemeClr val="tx1"/>
                </a:solidFill>
                <a:latin typeface="Times New Roman" panose="02020503050405090304" pitchFamily="18" charset="0"/>
                <a:ea typeface="宋体" pitchFamily="2" charset="-122"/>
              </a:defRPr>
            </a:lvl3pPr>
            <a:lvl4pPr marL="1600200" indent="-228600" eaLnBrk="0" hangingPunct="0">
              <a:spcBef>
                <a:spcPct val="30000"/>
              </a:spcBef>
              <a:defRPr sz="1200">
                <a:solidFill>
                  <a:schemeClr val="tx1"/>
                </a:solidFill>
                <a:latin typeface="Times New Roman" panose="02020503050405090304" pitchFamily="18" charset="0"/>
                <a:ea typeface="宋体" pitchFamily="2" charset="-122"/>
              </a:defRPr>
            </a:lvl4pPr>
            <a:lvl5pPr marL="2057400" indent="-228600" eaLnBrk="0" hangingPunct="0">
              <a:spcBef>
                <a:spcPct val="30000"/>
              </a:spcBef>
              <a:defRPr sz="1200">
                <a:solidFill>
                  <a:schemeClr val="tx1"/>
                </a:solidFill>
                <a:latin typeface="Times New Roman" panose="02020503050405090304" pitchFamily="18" charset="0"/>
                <a:ea typeface="宋体" pitchFamily="2" charset="-122"/>
              </a:defRPr>
            </a:lvl5pPr>
            <a:lvl6pPr marL="2514600" indent="-228600" eaLnBrk="0" fontAlgn="base" hangingPunct="0">
              <a:spcBef>
                <a:spcPct val="30000"/>
              </a:spcBef>
              <a:spcAft>
                <a:spcPct val="0"/>
              </a:spcAft>
              <a:defRPr sz="1200">
                <a:solidFill>
                  <a:schemeClr val="tx1"/>
                </a:solidFill>
                <a:latin typeface="Times New Roman" panose="02020503050405090304" pitchFamily="18" charset="0"/>
                <a:ea typeface="宋体" pitchFamily="2" charset="-122"/>
              </a:defRPr>
            </a:lvl6pPr>
            <a:lvl7pPr marL="2971800" indent="-228600" eaLnBrk="0" fontAlgn="base" hangingPunct="0">
              <a:spcBef>
                <a:spcPct val="30000"/>
              </a:spcBef>
              <a:spcAft>
                <a:spcPct val="0"/>
              </a:spcAft>
              <a:defRPr sz="1200">
                <a:solidFill>
                  <a:schemeClr val="tx1"/>
                </a:solidFill>
                <a:latin typeface="Times New Roman" panose="02020503050405090304" pitchFamily="18" charset="0"/>
                <a:ea typeface="宋体" pitchFamily="2" charset="-122"/>
              </a:defRPr>
            </a:lvl7pPr>
            <a:lvl8pPr marL="3429000" indent="-228600" eaLnBrk="0" fontAlgn="base" hangingPunct="0">
              <a:spcBef>
                <a:spcPct val="30000"/>
              </a:spcBef>
              <a:spcAft>
                <a:spcPct val="0"/>
              </a:spcAft>
              <a:defRPr sz="1200">
                <a:solidFill>
                  <a:schemeClr val="tx1"/>
                </a:solidFill>
                <a:latin typeface="Times New Roman" panose="02020503050405090304" pitchFamily="18" charset="0"/>
                <a:ea typeface="宋体" pitchFamily="2" charset="-122"/>
              </a:defRPr>
            </a:lvl8pPr>
            <a:lvl9pPr marL="3886200" indent="-228600" eaLnBrk="0" fontAlgn="base" hangingPunct="0">
              <a:spcBef>
                <a:spcPct val="30000"/>
              </a:spcBef>
              <a:spcAft>
                <a:spcPct val="0"/>
              </a:spcAft>
              <a:defRPr sz="1200">
                <a:solidFill>
                  <a:schemeClr val="tx1"/>
                </a:solidFill>
                <a:latin typeface="Times New Roman" panose="02020503050405090304" pitchFamily="18" charset="0"/>
                <a:ea typeface="宋体" pitchFamily="2" charset="-122"/>
              </a:defRPr>
            </a:lvl9pPr>
          </a:lstStyle>
          <a:p>
            <a:pPr>
              <a:spcBef>
                <a:spcPct val="0"/>
              </a:spcBef>
            </a:pPr>
            <a:fld id="{1D35ADB2-7BB9-41DE-86BE-A0AB227F413F}" type="slidenum">
              <a:rPr lang="zh-CN" altLang="en-US" smtClean="0">
                <a:latin typeface="Helvetica" pitchFamily="34" charset="0"/>
              </a:rPr>
            </a:fld>
            <a:endParaRPr lang="en-US" altLang="zh-CN">
              <a:latin typeface="Helvetica" pitchFamily="34" charset="0"/>
            </a:endParaRPr>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p:spPr>
        <p:txBody>
          <a:bodyPr/>
          <a:lstStyle/>
          <a:p>
            <a:pPr eaLnBrk="1" hangingPunct="1"/>
            <a:endParaRPr lang="zh-CN" altLang="en-US">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2302D9F-96F8-4751-B3BB-F52E1233E1B3}"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371600" y="3886200"/>
            <a:ext cx="6400800" cy="1752600"/>
          </a:xfrm>
        </p:spPr>
        <p:txBody>
          <a:bodyPr/>
          <a:lstStyle>
            <a:lvl1pPr marL="0" indent="0" algn="ctr">
              <a:buNone/>
              <a:defRPr>
                <a:latin typeface="微软雅黑" panose="020B0503020204020204" pitchFamily="34" charset="-122"/>
                <a:ea typeface="微软雅黑" panose="020B0503020204020204"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transition>
    <p:pull dir="l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957532"/>
            <a:ext cx="8229600" cy="5607170"/>
          </a:xfrm>
        </p:spPr>
        <p:txBody>
          <a:bodyPr/>
          <a:lstStyle>
            <a:lvl1pPr>
              <a:spcBef>
                <a:spcPts val="1000"/>
              </a:spcBef>
              <a:defRPr/>
            </a:lvl1pPr>
            <a:lvl2pPr>
              <a:spcBef>
                <a:spcPts val="1000"/>
              </a:spcBef>
              <a:defRPr/>
            </a:lvl2pPr>
            <a:lvl3pPr>
              <a:spcBef>
                <a:spcPts val="1000"/>
              </a:spcBef>
              <a:defRPr sz="2200"/>
            </a:lvl3pPr>
            <a:lvl4pPr>
              <a:spcBef>
                <a:spcPts val="1000"/>
              </a:spcBef>
              <a:defRPr/>
            </a:lvl4pPr>
            <a:lvl5pPr>
              <a:spcBef>
                <a:spcPts val="1000"/>
              </a:spcBef>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p:pull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1CAA2804-491C-49A7-BC16-5E06A1635A30}" type="slidenum">
              <a:rPr lang="zh-CN" altLang="en-US"/>
            </a:fld>
            <a:endParaRPr lang="en-US" altLang="zh-CN"/>
          </a:p>
        </p:txBody>
      </p:sp>
    </p:spTree>
  </p:cSld>
  <p:clrMapOvr>
    <a:masterClrMapping/>
  </p:clrMapOvr>
  <p:transition>
    <p:pull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7616E69B-2304-4451-9C95-D9D61AA38D53}" type="slidenum">
              <a:rPr lang="zh-CN" altLang="en-US"/>
            </a:fld>
            <a:endParaRPr lang="en-US" altLang="zh-CN"/>
          </a:p>
        </p:txBody>
      </p:sp>
    </p:spTree>
  </p:cSld>
  <p:clrMapOvr>
    <a:masterClrMapping/>
  </p:clrMapOvr>
  <p:transition>
    <p:pull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35308192-CF16-4067-92D0-497C2CCB8907}" type="slidenum">
              <a:rPr lang="zh-CN" altLang="en-US"/>
            </a:fld>
            <a:endParaRPr lang="en-US" altLang="zh-CN"/>
          </a:p>
        </p:txBody>
      </p:sp>
    </p:spTree>
  </p:cSld>
  <p:clrMapOvr>
    <a:masterClrMapping/>
  </p:clrMapOvr>
  <p:transition>
    <p:pull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A3E66E6B-435D-4C86-B1C3-68B3D4F4EAC6}" type="slidenum">
              <a:rPr lang="zh-CN" altLang="en-US"/>
            </a:fld>
            <a:endParaRPr lang="en-US" altLang="zh-CN"/>
          </a:p>
        </p:txBody>
      </p:sp>
    </p:spTree>
  </p:cSld>
  <p:clrMapOvr>
    <a:masterClrMapping/>
  </p:clrMapOvr>
  <p:transition>
    <p:pull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D9D29473-591C-491B-A030-5B09F1A6E65A}" type="slidenum">
              <a:rPr lang="zh-CN" altLang="en-US"/>
            </a:fld>
            <a:endParaRPr lang="en-US" altLang="zh-CN"/>
          </a:p>
        </p:txBody>
      </p:sp>
    </p:spTree>
  </p:cSld>
  <p:clrMapOvr>
    <a:masterClrMapping/>
  </p:clrMapOvr>
  <p:transition>
    <p:pull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4120AF59-2092-4ACC-A2C4-4BBD137CC7FB}" type="slidenum">
              <a:rPr lang="zh-CN" altLang="en-US"/>
            </a:fld>
            <a:endParaRPr lang="en-US" altLang="zh-CN"/>
          </a:p>
        </p:txBody>
      </p:sp>
    </p:spTree>
  </p:cSld>
  <p:clrMapOvr>
    <a:masterClrMapping/>
  </p:clrMapOvr>
  <p:transition>
    <p:pull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61938312-6835-4389-99AF-A534785E1ED9}" type="slidenum">
              <a:rPr lang="zh-CN" altLang="en-US"/>
            </a:fld>
            <a:endParaRPr lang="en-US" altLang="zh-CN"/>
          </a:p>
        </p:txBody>
      </p:sp>
    </p:spTree>
  </p:cSld>
  <p:clrMapOvr>
    <a:masterClrMapping/>
  </p:clrMapOvr>
  <p:transition>
    <p:pull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7E0BE3B9-24E2-4970-BABA-D7DED90DC5C9}" type="slidenum">
              <a:rPr lang="zh-CN" altLang="en-US"/>
            </a:fld>
            <a:endParaRPr lang="en-US" altLang="zh-CN"/>
          </a:p>
        </p:txBody>
      </p:sp>
    </p:spTree>
  </p:cSld>
  <p:clrMapOvr>
    <a:masterClrMapping/>
  </p:clrMapOvr>
  <p:transition>
    <p:pull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319CB82B-AC0D-404B-8FE4-9D796AA3A19E}" type="slidenum">
              <a:rPr lang="zh-CN" altLang="en-US"/>
            </a:fld>
            <a:endParaRPr lang="en-US" altLang="zh-CN"/>
          </a:p>
        </p:txBody>
      </p:sp>
    </p:spTree>
  </p:cSld>
  <p:clrMapOvr>
    <a:masterClrMapping/>
  </p:clrMapOvr>
  <p:transition>
    <p:pull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F644068F-8735-4181-AFB8-BC280F3E9B54}" type="slidenum">
              <a:rPr lang="zh-CN" altLang="en-US"/>
            </a:fld>
            <a:endParaRPr lang="en-US" altLang="zh-CN"/>
          </a:p>
        </p:txBody>
      </p:sp>
    </p:spTree>
  </p:cSld>
  <p:clrMapOvr>
    <a:masterClrMapping/>
  </p:clrMapOvr>
  <p:transition>
    <p:pull dir="l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1690"/>
            <a:ext cx="8229600" cy="700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027" name="Rectangle 3"/>
          <p:cNvSpPr>
            <a:spLocks noGrp="1" noChangeArrowheads="1"/>
          </p:cNvSpPr>
          <p:nvPr>
            <p:ph type="body" idx="1"/>
          </p:nvPr>
        </p:nvSpPr>
        <p:spPr bwMode="auto">
          <a:xfrm>
            <a:off x="457200" y="948907"/>
            <a:ext cx="8229600" cy="5664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1" name="Text Box 7"/>
          <p:cNvSpPr txBox="1">
            <a:spLocks noChangeArrowheads="1"/>
          </p:cNvSpPr>
          <p:nvPr userDrawn="1"/>
        </p:nvSpPr>
        <p:spPr bwMode="auto">
          <a:xfrm>
            <a:off x="4183368" y="6613525"/>
            <a:ext cx="95410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spcBef>
                <a:spcPct val="50000"/>
              </a:spcBef>
              <a:defRPr/>
            </a:pPr>
            <a:r>
              <a:rPr lang="zh-CN" altLang="en-US" sz="1000" b="1" dirty="0">
                <a:latin typeface="微软雅黑" panose="020B0503020204020204" pitchFamily="34" charset="-122"/>
                <a:ea typeface="微软雅黑" panose="020B0503020204020204" pitchFamily="34" charset="-122"/>
              </a:rPr>
              <a:t>软件过程管理</a:t>
            </a:r>
            <a:endParaRPr lang="zh-CN" altLang="en-US" sz="1000" b="1" dirty="0">
              <a:latin typeface="微软雅黑" panose="020B0503020204020204" pitchFamily="34" charset="-122"/>
              <a:ea typeface="微软雅黑" panose="020B0503020204020204" pitchFamily="34" charset="-122"/>
            </a:endParaRPr>
          </a:p>
        </p:txBody>
      </p:sp>
      <p:sp>
        <p:nvSpPr>
          <p:cNvPr id="1032" name="Text Box 8"/>
          <p:cNvSpPr txBox="1">
            <a:spLocks noChangeArrowheads="1"/>
          </p:cNvSpPr>
          <p:nvPr userDrawn="1"/>
        </p:nvSpPr>
        <p:spPr bwMode="auto">
          <a:xfrm>
            <a:off x="7847673" y="6613525"/>
            <a:ext cx="9797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spcBef>
                <a:spcPct val="50000"/>
              </a:spcBef>
              <a:defRPr/>
            </a:pPr>
            <a:r>
              <a:rPr lang="en-US" altLang="zh-CN" sz="1000" b="1" i="1" dirty="0">
                <a:latin typeface="Helvetica" pitchFamily="34" charset="0"/>
              </a:rPr>
              <a:t>2021</a:t>
            </a:r>
            <a:r>
              <a:rPr lang="zh-CN" altLang="en-US" sz="1000" b="1" i="1" dirty="0">
                <a:latin typeface="Helvetica" pitchFamily="34" charset="0"/>
              </a:rPr>
              <a:t>春季学期</a:t>
            </a:r>
            <a:endParaRPr lang="zh-CN" altLang="en-US" sz="1000" b="1" i="1" dirty="0">
              <a:latin typeface="Helvetica" pitchFamily="34" charset="0"/>
            </a:endParaRPr>
          </a:p>
        </p:txBody>
      </p:sp>
      <p:sp>
        <p:nvSpPr>
          <p:cNvPr id="1033" name="Text Box 9"/>
          <p:cNvSpPr txBox="1">
            <a:spLocks noChangeArrowheads="1"/>
          </p:cNvSpPr>
          <p:nvPr userDrawn="1"/>
        </p:nvSpPr>
        <p:spPr bwMode="auto">
          <a:xfrm>
            <a:off x="0" y="6613525"/>
            <a:ext cx="133882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lang="zh-CN" altLang="en-US" sz="1000" b="1" dirty="0">
                <a:latin typeface="微软雅黑" panose="020B0503020204020204" pitchFamily="34" charset="-122"/>
                <a:ea typeface="微软雅黑" panose="020B0503020204020204" pitchFamily="34" charset="-122"/>
              </a:rPr>
              <a:t>复旦大学研究生课程</a:t>
            </a:r>
            <a:endParaRPr lang="zh-CN" altLang="en-US" sz="1000" b="1"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pull dir="ld"/>
  </p:transition>
  <p:hf hdr="0" ftr="0" dt="0"/>
  <p:txStyles>
    <p:titleStyle>
      <a:lvl1pPr algn="ctr" rtl="0" eaLnBrk="0" fontAlgn="base" hangingPunct="0">
        <a:spcBef>
          <a:spcPct val="0"/>
        </a:spcBef>
        <a:spcAft>
          <a:spcPct val="0"/>
        </a:spcAft>
        <a:defRPr sz="4000">
          <a:solidFill>
            <a:schemeClr val="tx2"/>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40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0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0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0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0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0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0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0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ts val="1000"/>
        </a:spcBef>
        <a:spcAft>
          <a:spcPct val="0"/>
        </a:spcAft>
        <a:buChar char="•"/>
        <a:defRPr sz="28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ts val="1000"/>
        </a:spcBef>
        <a:spcAft>
          <a:spcPct val="0"/>
        </a:spcAft>
        <a:buChar char="–"/>
        <a:defRPr sz="24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ts val="1000"/>
        </a:spcBef>
        <a:spcAft>
          <a:spcPct val="0"/>
        </a:spcAft>
        <a:buChar char="•"/>
        <a:defRPr sz="2200">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ts val="1000"/>
        </a:spcBef>
        <a:spcAft>
          <a:spcPct val="0"/>
        </a:spcAft>
        <a:buChar char="–"/>
        <a:defRPr sz="20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ts val="1000"/>
        </a:spcBef>
        <a:spcAft>
          <a:spcPct val="0"/>
        </a:spcAft>
        <a:buChar char="»"/>
        <a:defRPr sz="2000">
          <a:solidFill>
            <a:schemeClr val="tx1"/>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5.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p:cNvSpPr>
            <a:spLocks noGrp="1" noChangeArrowheads="1"/>
          </p:cNvSpPr>
          <p:nvPr>
            <p:ph type="ctrTitle"/>
          </p:nvPr>
        </p:nvSpPr>
        <p:spPr/>
        <p:txBody>
          <a:bodyPr/>
          <a:lstStyle/>
          <a:p>
            <a:pPr eaLnBrk="1" hangingPunct="1"/>
            <a:r>
              <a:rPr lang="en-US" altLang="zh-CN" dirty="0"/>
              <a:t>L7 </a:t>
            </a:r>
            <a:r>
              <a:rPr lang="zh-CN" altLang="en-US" dirty="0"/>
              <a:t>质量管理</a:t>
            </a:r>
            <a:r>
              <a:rPr lang="en-US" altLang="zh-CN" dirty="0"/>
              <a:t>(4)</a:t>
            </a:r>
            <a:br>
              <a:rPr lang="en-US" altLang="zh-CN" dirty="0"/>
            </a:br>
            <a:r>
              <a:rPr lang="en-US" altLang="zh-CN" dirty="0"/>
              <a:t>——</a:t>
            </a:r>
            <a:r>
              <a:rPr lang="zh-CN" altLang="en-US" dirty="0"/>
              <a:t>版本管理及分支策略</a:t>
            </a:r>
            <a:endParaRPr lang="zh-CN" altLang="en-US" dirty="0"/>
          </a:p>
        </p:txBody>
      </p:sp>
      <p:sp>
        <p:nvSpPr>
          <p:cNvPr id="2" name="文本框 1"/>
          <p:cNvSpPr txBox="1"/>
          <p:nvPr/>
        </p:nvSpPr>
        <p:spPr>
          <a:xfrm>
            <a:off x="21515" y="3184264"/>
            <a:ext cx="184731" cy="369332"/>
          </a:xfrm>
          <a:prstGeom prst="rect">
            <a:avLst/>
          </a:prstGeom>
          <a:noFill/>
        </p:spPr>
        <p:txBody>
          <a:bodyPr wrap="none" rtlCol="0">
            <a:spAutoFit/>
          </a:bodyPr>
          <a:lstStyle/>
          <a:p>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大纲</a:t>
            </a:r>
            <a:endParaRPr kumimoji="1" lang="zh-CN" altLang="en-US" dirty="0"/>
          </a:p>
        </p:txBody>
      </p:sp>
      <p:sp>
        <p:nvSpPr>
          <p:cNvPr id="3" name="内容占位符 2"/>
          <p:cNvSpPr>
            <a:spLocks noGrp="1"/>
          </p:cNvSpPr>
          <p:nvPr>
            <p:ph idx="1"/>
          </p:nvPr>
        </p:nvSpPr>
        <p:spPr/>
        <p:txBody>
          <a:bodyPr/>
          <a:lstStyle/>
          <a:p>
            <a:r>
              <a:rPr lang="zh-CN" altLang="en-US" dirty="0"/>
              <a:t>版本控制概述</a:t>
            </a:r>
            <a:endParaRPr lang="en-US" altLang="zh-CN" dirty="0"/>
          </a:p>
          <a:p>
            <a:r>
              <a:rPr kumimoji="1" lang="zh-CN" altLang="en-US" dirty="0"/>
              <a:t>悲观锁与乐观锁</a:t>
            </a:r>
            <a:endParaRPr lang="en-US" altLang="zh-CN" dirty="0"/>
          </a:p>
          <a:p>
            <a:r>
              <a:rPr lang="zh-CN" altLang="en-US" dirty="0"/>
              <a:t>集中与分布式版本管理</a:t>
            </a:r>
            <a:endParaRPr kumimoji="1" lang="en-US" altLang="zh-CN" dirty="0"/>
          </a:p>
          <a:p>
            <a:r>
              <a:rPr kumimoji="1" lang="zh-CN" altLang="en-US" dirty="0"/>
              <a:t>分支与合并</a:t>
            </a:r>
            <a:endParaRPr lang="en-US" altLang="zh-CN" dirty="0"/>
          </a:p>
          <a:p>
            <a:r>
              <a:rPr lang="zh-CN" altLang="en-US" dirty="0"/>
              <a:t>分支模式</a:t>
            </a:r>
            <a:endParaRPr lang="en-US" altLang="zh-CN" dirty="0"/>
          </a:p>
          <a:p>
            <a:r>
              <a:rPr lang="zh-CN" altLang="en-US" dirty="0"/>
              <a:t>在</a:t>
            </a:r>
            <a:r>
              <a:rPr lang="en-US" altLang="zh-CN" dirty="0"/>
              <a:t>Git</a:t>
            </a:r>
            <a:r>
              <a:rPr lang="zh-CN" altLang="en-US" dirty="0"/>
              <a:t>中管理分支与合并</a:t>
            </a:r>
            <a:endParaRPr lang="zh-CN" altLang="en-US" dirty="0"/>
          </a:p>
        </p:txBody>
      </p:sp>
    </p:spTree>
  </p:cSld>
  <p:clrMapOvr>
    <a:masterClrMapping/>
  </p:clrMapOvr>
  <p:transition>
    <p:pull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大纲</a:t>
            </a:r>
            <a:endParaRPr kumimoji="1" lang="zh-CN" altLang="en-US" dirty="0"/>
          </a:p>
        </p:txBody>
      </p:sp>
      <p:sp>
        <p:nvSpPr>
          <p:cNvPr id="3" name="内容占位符 2"/>
          <p:cNvSpPr>
            <a:spLocks noGrp="1"/>
          </p:cNvSpPr>
          <p:nvPr>
            <p:ph idx="1"/>
          </p:nvPr>
        </p:nvSpPr>
        <p:spPr/>
        <p:txBody>
          <a:bodyPr/>
          <a:lstStyle/>
          <a:p>
            <a:r>
              <a:rPr lang="zh-CN" altLang="en-US" b="1" dirty="0"/>
              <a:t>版本控制系统概述</a:t>
            </a:r>
            <a:endParaRPr lang="en-US" altLang="zh-CN" b="1" dirty="0"/>
          </a:p>
          <a:p>
            <a:pPr lvl="1"/>
            <a:r>
              <a:rPr lang="zh-CN" altLang="en-US" dirty="0"/>
              <a:t>什么是版本控制系统</a:t>
            </a:r>
            <a:endParaRPr lang="en-US" altLang="zh-CN" dirty="0"/>
          </a:p>
          <a:p>
            <a:pPr lvl="1"/>
            <a:r>
              <a:rPr lang="zh-CN" altLang="en-US" dirty="0"/>
              <a:t>版本控制系统的历史</a:t>
            </a:r>
            <a:endParaRPr lang="en-US" altLang="zh-CN" dirty="0"/>
          </a:p>
          <a:p>
            <a:pPr lvl="1"/>
            <a:r>
              <a:rPr lang="zh-CN" altLang="en-US" dirty="0"/>
              <a:t>版本控制系统的基本概念</a:t>
            </a:r>
            <a:endParaRPr lang="en-US" altLang="zh-CN" dirty="0"/>
          </a:p>
          <a:p>
            <a:r>
              <a:rPr kumimoji="1" lang="zh-CN" altLang="en-US" dirty="0"/>
              <a:t>悲观锁与乐观锁</a:t>
            </a:r>
            <a:endParaRPr lang="en-US" altLang="zh-CN" dirty="0"/>
          </a:p>
          <a:p>
            <a:r>
              <a:rPr lang="zh-CN" altLang="en-US" dirty="0"/>
              <a:t>集中与分布式版本管理</a:t>
            </a:r>
            <a:endParaRPr kumimoji="1" lang="en-US" altLang="zh-CN" dirty="0"/>
          </a:p>
          <a:p>
            <a:r>
              <a:rPr kumimoji="1" lang="zh-CN" altLang="en-US" dirty="0"/>
              <a:t>分支与合并</a:t>
            </a:r>
            <a:endParaRPr lang="en-US" altLang="zh-CN" dirty="0"/>
          </a:p>
          <a:p>
            <a:r>
              <a:rPr lang="zh-CN" altLang="en-US" dirty="0"/>
              <a:t>分支模式</a:t>
            </a:r>
            <a:endParaRPr lang="en-US" altLang="zh-CN" dirty="0"/>
          </a:p>
          <a:p>
            <a:r>
              <a:rPr lang="zh-CN" altLang="en-US" dirty="0"/>
              <a:t>在</a:t>
            </a:r>
            <a:r>
              <a:rPr lang="en-US" altLang="zh-CN" dirty="0"/>
              <a:t>Git</a:t>
            </a:r>
            <a:r>
              <a:rPr lang="zh-CN" altLang="en-US" dirty="0"/>
              <a:t>中管理分支与合并</a:t>
            </a:r>
            <a:endParaRPr lang="zh-CN" altLang="en-US" dirty="0"/>
          </a:p>
          <a:p>
            <a:endParaRPr lang="zh-CN" altLang="en-US" dirty="0"/>
          </a:p>
        </p:txBody>
      </p:sp>
    </p:spTree>
  </p:cSld>
  <p:clrMapOvr>
    <a:masterClrMapping/>
  </p:clrMapOvr>
  <p:transition>
    <p:pull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版本控制概述</a:t>
            </a:r>
            <a:endParaRPr kumimoji="1" lang="zh-CN" altLang="en-US" dirty="0"/>
          </a:p>
        </p:txBody>
      </p:sp>
      <p:sp>
        <p:nvSpPr>
          <p:cNvPr id="3" name="内容占位符 2"/>
          <p:cNvSpPr>
            <a:spLocks noGrp="1"/>
          </p:cNvSpPr>
          <p:nvPr>
            <p:ph idx="1"/>
          </p:nvPr>
        </p:nvSpPr>
        <p:spPr/>
        <p:txBody>
          <a:bodyPr/>
          <a:lstStyle/>
          <a:p>
            <a:r>
              <a:rPr kumimoji="1" lang="zh-CN" altLang="en-US" dirty="0"/>
              <a:t>版本控制系统（也叫源文件控制或修订控制系统）用于维护应用程序每次修改的完整历史。</a:t>
            </a:r>
            <a:endParaRPr kumimoji="1" lang="en-US" altLang="zh-CN" dirty="0"/>
          </a:p>
          <a:p>
            <a:r>
              <a:rPr kumimoji="1" lang="zh-CN" altLang="en-US" dirty="0"/>
              <a:t>版本控制系统管理的对象包括：</a:t>
            </a:r>
            <a:endParaRPr kumimoji="1" lang="en-US" altLang="zh-CN" dirty="0"/>
          </a:p>
          <a:p>
            <a:pPr lvl="1"/>
            <a:r>
              <a:rPr kumimoji="1" lang="zh-CN" altLang="en-US" dirty="0"/>
              <a:t>源代码</a:t>
            </a:r>
            <a:endParaRPr kumimoji="1" lang="en-US" altLang="zh-CN" dirty="0"/>
          </a:p>
          <a:p>
            <a:pPr lvl="1"/>
            <a:r>
              <a:rPr kumimoji="1" lang="zh-CN" altLang="en-US" dirty="0"/>
              <a:t>文档</a:t>
            </a:r>
            <a:endParaRPr kumimoji="1" lang="en-US" altLang="zh-CN" dirty="0"/>
          </a:p>
          <a:p>
            <a:pPr lvl="1"/>
            <a:r>
              <a:rPr kumimoji="1" lang="zh-CN" altLang="en-US" dirty="0"/>
              <a:t>数据库定义</a:t>
            </a:r>
            <a:endParaRPr kumimoji="1" lang="en-US" altLang="zh-CN" dirty="0"/>
          </a:p>
          <a:p>
            <a:pPr lvl="1"/>
            <a:r>
              <a:rPr kumimoji="1" lang="zh-CN" altLang="en-US" dirty="0"/>
              <a:t>构建脚本</a:t>
            </a:r>
            <a:endParaRPr kumimoji="1" lang="en-US" altLang="zh-CN" dirty="0"/>
          </a:p>
          <a:p>
            <a:pPr lvl="1"/>
            <a:r>
              <a:rPr kumimoji="1" lang="en-US" altLang="zh-CN" dirty="0"/>
              <a:t>……</a:t>
            </a:r>
            <a:endParaRPr kumimoji="1" lang="en-US" altLang="zh-CN" dirty="0"/>
          </a:p>
          <a:p>
            <a:r>
              <a:rPr kumimoji="1" lang="zh-CN" altLang="en-US" dirty="0"/>
              <a:t>版本控制也是让越来越大的团队能够在一起工作的重要机制</a:t>
            </a:r>
            <a:endParaRPr kumimoji="1" lang="en-US" altLang="zh-CN" dirty="0"/>
          </a:p>
        </p:txBody>
      </p:sp>
    </p:spTree>
  </p:cSld>
  <p:clrMapOvr>
    <a:masterClrMapping/>
  </p:clrMapOvr>
  <p:transition>
    <p:pull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版本控制的历史</a:t>
            </a:r>
            <a:endParaRPr kumimoji="1" lang="zh-CN" altLang="en-US" dirty="0"/>
          </a:p>
        </p:txBody>
      </p:sp>
      <p:sp>
        <p:nvSpPr>
          <p:cNvPr id="3" name="内容占位符 2"/>
          <p:cNvSpPr>
            <a:spLocks noGrp="1"/>
          </p:cNvSpPr>
          <p:nvPr>
            <p:ph idx="1"/>
          </p:nvPr>
        </p:nvSpPr>
        <p:spPr/>
        <p:txBody>
          <a:bodyPr/>
          <a:lstStyle/>
          <a:p>
            <a:r>
              <a:rPr kumimoji="1" lang="en-US" altLang="zh-CN" dirty="0"/>
              <a:t>1972</a:t>
            </a:r>
            <a:r>
              <a:rPr kumimoji="1" lang="zh-CN" altLang="en-US" dirty="0"/>
              <a:t>年起源于贝尔实验室：</a:t>
            </a:r>
            <a:r>
              <a:rPr kumimoji="1" lang="en-US" altLang="zh-CN" dirty="0"/>
              <a:t>SCCS</a:t>
            </a:r>
            <a:endParaRPr kumimoji="1" lang="en-US" altLang="zh-CN" dirty="0"/>
          </a:p>
          <a:p>
            <a:r>
              <a:rPr kumimoji="1" lang="zh-CN" altLang="en-US" dirty="0"/>
              <a:t>之后产生了许多在此基础上演化而来的工具</a:t>
            </a:r>
            <a:endParaRPr kumimoji="1" lang="en-US" altLang="zh-CN" dirty="0"/>
          </a:p>
          <a:p>
            <a:pPr lvl="1"/>
            <a:r>
              <a:rPr kumimoji="1" lang="zh-CN" altLang="en-US" dirty="0"/>
              <a:t>开源</a:t>
            </a:r>
            <a:endParaRPr kumimoji="1" lang="en-US" altLang="zh-CN" dirty="0"/>
          </a:p>
          <a:p>
            <a:pPr lvl="2"/>
            <a:r>
              <a:rPr kumimoji="1" lang="en-US" altLang="zh-CN" dirty="0"/>
              <a:t>RCS</a:t>
            </a:r>
            <a:r>
              <a:rPr kumimoji="1" lang="zh-CN" altLang="en-US" dirty="0"/>
              <a:t>，</a:t>
            </a:r>
            <a:r>
              <a:rPr kumimoji="1" lang="en-US" altLang="zh-CN" dirty="0"/>
              <a:t>CVS</a:t>
            </a:r>
            <a:r>
              <a:rPr kumimoji="1" lang="zh-CN" altLang="en-US" dirty="0"/>
              <a:t>，</a:t>
            </a:r>
            <a:r>
              <a:rPr kumimoji="1" lang="en-US" altLang="zh-CN" dirty="0"/>
              <a:t>Subversion</a:t>
            </a:r>
            <a:r>
              <a:rPr kumimoji="1" lang="zh-CN" altLang="en-US" dirty="0"/>
              <a:t>，</a:t>
            </a:r>
            <a:r>
              <a:rPr kumimoji="1" lang="en-US" altLang="zh-CN" dirty="0"/>
              <a:t>git</a:t>
            </a:r>
            <a:endParaRPr kumimoji="1" lang="en-US" altLang="zh-CN" dirty="0"/>
          </a:p>
          <a:p>
            <a:pPr lvl="1"/>
            <a:r>
              <a:rPr kumimoji="1" lang="zh-CN" altLang="en-US" dirty="0"/>
              <a:t>商业</a:t>
            </a:r>
            <a:endParaRPr kumimoji="1" lang="en-US" altLang="zh-CN" dirty="0"/>
          </a:p>
          <a:p>
            <a:pPr lvl="2"/>
            <a:r>
              <a:rPr kumimoji="1" lang="en-US" altLang="zh-CN" dirty="0"/>
              <a:t>Perforce</a:t>
            </a:r>
            <a:r>
              <a:rPr kumimoji="1" lang="zh-CN" altLang="en-US" dirty="0"/>
              <a:t>，</a:t>
            </a:r>
            <a:r>
              <a:rPr kumimoji="1" lang="en-US" altLang="zh-CN" dirty="0"/>
              <a:t>StarTeam</a:t>
            </a:r>
            <a:r>
              <a:rPr kumimoji="1" lang="zh-CN" altLang="en-US" dirty="0"/>
              <a:t>，</a:t>
            </a:r>
            <a:r>
              <a:rPr kumimoji="1" lang="en-US" altLang="zh-CN" dirty="0"/>
              <a:t>ClearCase</a:t>
            </a:r>
            <a:r>
              <a:rPr kumimoji="1" lang="zh-CN" altLang="en-US" dirty="0"/>
              <a:t>，</a:t>
            </a:r>
            <a:r>
              <a:rPr kumimoji="1" lang="en-US" altLang="zh-CN" dirty="0"/>
              <a:t>Team</a:t>
            </a:r>
            <a:r>
              <a:rPr kumimoji="1" lang="zh-CN" altLang="en-US" dirty="0"/>
              <a:t> </a:t>
            </a:r>
            <a:r>
              <a:rPr kumimoji="1" lang="en-US" altLang="zh-CN" dirty="0"/>
              <a:t>Foundation</a:t>
            </a:r>
            <a:r>
              <a:rPr kumimoji="1" lang="zh-CN" altLang="en-US" dirty="0"/>
              <a:t> </a:t>
            </a:r>
            <a:r>
              <a:rPr kumimoji="1" lang="en-US" altLang="zh-CN" dirty="0"/>
              <a:t>System</a:t>
            </a:r>
            <a:endParaRPr kumimoji="1" lang="en-US" altLang="zh-CN" dirty="0"/>
          </a:p>
          <a:p>
            <a:r>
              <a:rPr kumimoji="1" lang="zh-CN" altLang="en-US" dirty="0"/>
              <a:t>新的趋势：</a:t>
            </a:r>
            <a:r>
              <a:rPr kumimoji="1" lang="en-US" altLang="zh-CN" dirty="0"/>
              <a:t>DVSC</a:t>
            </a:r>
            <a:r>
              <a:rPr kumimoji="1" lang="zh-CN" altLang="en-US" dirty="0"/>
              <a:t>（</a:t>
            </a:r>
            <a:r>
              <a:rPr kumimoji="1" lang="en-US" altLang="zh-CN" dirty="0"/>
              <a:t>Distributed</a:t>
            </a:r>
            <a:r>
              <a:rPr kumimoji="1" lang="zh-CN" altLang="en-US" dirty="0"/>
              <a:t> </a:t>
            </a:r>
            <a:r>
              <a:rPr kumimoji="1" lang="en-US" altLang="zh-CN" dirty="0"/>
              <a:t>Version</a:t>
            </a:r>
            <a:r>
              <a:rPr kumimoji="1" lang="zh-CN" altLang="en-US" dirty="0"/>
              <a:t> </a:t>
            </a:r>
            <a:r>
              <a:rPr kumimoji="1" lang="en-US" altLang="zh-CN" dirty="0"/>
              <a:t>Control</a:t>
            </a:r>
            <a:r>
              <a:rPr kumimoji="1" lang="zh-CN" altLang="en-US" dirty="0"/>
              <a:t> </a:t>
            </a:r>
            <a:r>
              <a:rPr kumimoji="1" lang="en-US" altLang="zh-CN" dirty="0"/>
              <a:t>System)</a:t>
            </a:r>
            <a:endParaRPr kumimoji="1" lang="zh-CN" altLang="en-US" dirty="0"/>
          </a:p>
        </p:txBody>
      </p:sp>
    </p:spTree>
  </p:cSld>
  <p:clrMapOvr>
    <a:masterClrMapping/>
  </p:clrMapOvr>
  <p:transition>
    <p:pull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版本管理中的基本概念</a:t>
            </a:r>
            <a:endParaRPr kumimoji="1" lang="zh-CN" altLang="en-US" dirty="0"/>
          </a:p>
        </p:txBody>
      </p:sp>
      <p:sp>
        <p:nvSpPr>
          <p:cNvPr id="3" name="内容占位符 2"/>
          <p:cNvSpPr>
            <a:spLocks noGrp="1"/>
          </p:cNvSpPr>
          <p:nvPr>
            <p:ph idx="1"/>
          </p:nvPr>
        </p:nvSpPr>
        <p:spPr/>
        <p:txBody>
          <a:bodyPr/>
          <a:lstStyle/>
          <a:p>
            <a:r>
              <a:rPr kumimoji="1" lang="zh-CN" altLang="en-US" dirty="0"/>
              <a:t>代码仓库</a:t>
            </a:r>
            <a:r>
              <a:rPr kumimoji="1" lang="en-US" altLang="zh-CN" dirty="0"/>
              <a:t>(codebase)</a:t>
            </a:r>
            <a:endParaRPr kumimoji="1" lang="en-US" altLang="zh-CN" dirty="0"/>
          </a:p>
          <a:p>
            <a:pPr lvl="1"/>
            <a:r>
              <a:rPr kumimoji="1" lang="zh-CN" altLang="en-US" dirty="0"/>
              <a:t>是指一个包含一组文件所有历史修改信息的逻辑单位，通常用于保存有关一个软件产品或某一组件的所有文件信息记录。</a:t>
            </a:r>
            <a:endParaRPr kumimoji="1" lang="en-US" altLang="zh-CN" dirty="0"/>
          </a:p>
          <a:p>
            <a:r>
              <a:rPr kumimoji="1" lang="zh-CN" altLang="en-US" dirty="0"/>
              <a:t>分支</a:t>
            </a:r>
            <a:r>
              <a:rPr kumimoji="1" lang="en-US" altLang="zh-CN" dirty="0"/>
              <a:t>(branch)</a:t>
            </a:r>
            <a:endParaRPr kumimoji="1" lang="en-US" altLang="zh-CN" dirty="0"/>
          </a:p>
          <a:p>
            <a:pPr lvl="1"/>
            <a:r>
              <a:rPr kumimoji="1" lang="zh-CN" altLang="en-US" dirty="0"/>
              <a:t>是指对选定的代码基线创建一个副本。人们可以对这个副本中的文件进行操作，而这些操作与原有代码基线的文件操作是互不影响的。</a:t>
            </a:r>
            <a:endParaRPr kumimoji="1" lang="en-US" altLang="zh-CN" dirty="0"/>
          </a:p>
          <a:p>
            <a:r>
              <a:rPr kumimoji="1" lang="zh-CN" altLang="en-US" dirty="0"/>
              <a:t>主干</a:t>
            </a:r>
            <a:r>
              <a:rPr kumimoji="1" lang="en-US" altLang="zh-CN" dirty="0"/>
              <a:t>(trunk/master)</a:t>
            </a:r>
            <a:endParaRPr kumimoji="1" lang="en-US" altLang="zh-CN" dirty="0"/>
          </a:p>
          <a:p>
            <a:pPr lvl="1"/>
            <a:r>
              <a:rPr kumimoji="1" lang="zh-CN" altLang="en-US" dirty="0"/>
              <a:t>是一个具有特殊意义的分支（</a:t>
            </a:r>
            <a:r>
              <a:rPr kumimoji="1" lang="en-US" altLang="zh-CN" dirty="0"/>
              <a:t>branch),</a:t>
            </a:r>
            <a:r>
              <a:rPr kumimoji="1" lang="zh-CN" altLang="en-US" dirty="0"/>
              <a:t>通常在创建代码仓库时即由版本控制系统默认创建，每个代码仓库有且仅有一个这样的分支。其特殊意义在于其与软件的开发活动和发布方式紧密关联</a:t>
            </a:r>
            <a:endParaRPr kumimoji="1" lang="zh-CN" altLang="en-US" dirty="0"/>
          </a:p>
          <a:p>
            <a:endParaRPr kumimoji="1" lang="en-US" altLang="zh-CN" dirty="0"/>
          </a:p>
          <a:p>
            <a:endParaRPr kumimoji="1" lang="zh-CN" altLang="en-US" dirty="0"/>
          </a:p>
        </p:txBody>
      </p:sp>
    </p:spTree>
  </p:cSld>
  <p:clrMapOvr>
    <a:masterClrMapping/>
  </p:clrMapOvr>
  <p:transition>
    <p:pull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版本管理的基本概念</a:t>
            </a:r>
            <a:endParaRPr kumimoji="1" lang="zh-CN" altLang="en-US" dirty="0"/>
          </a:p>
        </p:txBody>
      </p:sp>
      <p:sp>
        <p:nvSpPr>
          <p:cNvPr id="3" name="内容占位符 2"/>
          <p:cNvSpPr>
            <a:spLocks noGrp="1"/>
          </p:cNvSpPr>
          <p:nvPr>
            <p:ph idx="1"/>
          </p:nvPr>
        </p:nvSpPr>
        <p:spPr/>
        <p:txBody>
          <a:bodyPr/>
          <a:lstStyle/>
          <a:p>
            <a:r>
              <a:rPr kumimoji="1" lang="zh-CN" altLang="en-US" dirty="0"/>
              <a:t>版本号</a:t>
            </a:r>
            <a:r>
              <a:rPr kumimoji="1" lang="en-US" altLang="zh-CN" dirty="0"/>
              <a:t>(revision)</a:t>
            </a:r>
            <a:endParaRPr kumimoji="1" lang="en-US" altLang="zh-CN" dirty="0"/>
          </a:p>
          <a:p>
            <a:pPr lvl="1"/>
            <a:r>
              <a:rPr lang="zh-CN" altLang="en-US" dirty="0"/>
              <a:t>对应在某个分支（</a:t>
            </a:r>
            <a:r>
              <a:rPr lang="en-GB" altLang="zh-CN" dirty="0"/>
              <a:t>branch)</a:t>
            </a:r>
            <a:r>
              <a:rPr lang="zh-CN" altLang="en-US" dirty="0"/>
              <a:t>上的一次提交操作，是系统产生的一个编号。</a:t>
            </a:r>
            <a:endParaRPr kumimoji="1" lang="en-US" altLang="zh-CN" dirty="0"/>
          </a:p>
          <a:p>
            <a:r>
              <a:rPr kumimoji="1" lang="zh-CN" altLang="en-US" dirty="0"/>
              <a:t>标签</a:t>
            </a:r>
            <a:r>
              <a:rPr kumimoji="1" lang="en-US" altLang="zh-CN" dirty="0"/>
              <a:t>(tag)</a:t>
            </a:r>
            <a:endParaRPr kumimoji="1" lang="en-US" altLang="zh-CN" dirty="0"/>
          </a:p>
          <a:p>
            <a:pPr lvl="1"/>
            <a:r>
              <a:rPr lang="zh-CN" altLang="en-US" dirty="0"/>
              <a:t>是某个分支上某个具体版本号的一个别名，以方便记忆与查找</a:t>
            </a:r>
            <a:endParaRPr kumimoji="1" lang="en-US" altLang="zh-CN" dirty="0"/>
          </a:p>
          <a:p>
            <a:r>
              <a:rPr kumimoji="1" lang="zh-CN" altLang="en-US" dirty="0"/>
              <a:t>头</a:t>
            </a:r>
            <a:r>
              <a:rPr kumimoji="1" lang="en-US" altLang="zh-CN" dirty="0"/>
              <a:t>(head)</a:t>
            </a:r>
            <a:endParaRPr kumimoji="1" lang="en-US" altLang="zh-CN" dirty="0"/>
          </a:p>
          <a:p>
            <a:pPr lvl="1"/>
            <a:r>
              <a:rPr lang="zh-CN" altLang="en-US" dirty="0"/>
              <a:t>是指某个分支上的最新一次提交对应的版本号。在</a:t>
            </a:r>
            <a:r>
              <a:rPr lang="en-US" altLang="zh-CN" dirty="0"/>
              <a:t>git</a:t>
            </a:r>
            <a:r>
              <a:rPr lang="zh-CN" altLang="en-US" dirty="0"/>
              <a:t>中指的是当前工作分支</a:t>
            </a:r>
            <a:endParaRPr kumimoji="1" lang="en-US" altLang="zh-CN" dirty="0"/>
          </a:p>
        </p:txBody>
      </p:sp>
    </p:spTree>
  </p:cSld>
  <p:clrMapOvr>
    <a:masterClrMapping/>
  </p:clrMapOvr>
  <p:transition>
    <p:pull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版本管理的基本概念</a:t>
            </a:r>
            <a:endParaRPr kumimoji="1" lang="zh-CN" altLang="en-US" dirty="0"/>
          </a:p>
        </p:txBody>
      </p:sp>
      <p:sp>
        <p:nvSpPr>
          <p:cNvPr id="3" name="内容占位符 2"/>
          <p:cNvSpPr>
            <a:spLocks noGrp="1"/>
          </p:cNvSpPr>
          <p:nvPr>
            <p:ph idx="1"/>
          </p:nvPr>
        </p:nvSpPr>
        <p:spPr/>
        <p:txBody>
          <a:bodyPr/>
          <a:lstStyle/>
          <a:p>
            <a:r>
              <a:rPr kumimoji="1" lang="zh-CN" altLang="en-US" dirty="0"/>
              <a:t>合并</a:t>
            </a:r>
            <a:r>
              <a:rPr kumimoji="1" lang="en-US" altLang="zh-CN" dirty="0"/>
              <a:t>(merge)</a:t>
            </a:r>
            <a:endParaRPr kumimoji="1" lang="en-US" altLang="zh-CN" dirty="0"/>
          </a:p>
          <a:p>
            <a:pPr lvl="1"/>
            <a:r>
              <a:rPr lang="zh-CN" altLang="en-US" dirty="0"/>
              <a:t>是指将一个分支上的所有内容与某个目标分支上的所有内容进行合并，并在该目标分支上创建一个新版本号。</a:t>
            </a:r>
            <a:endParaRPr lang="zh-CN" altLang="en-US" dirty="0"/>
          </a:p>
          <a:p>
            <a:pPr lvl="1"/>
            <a:endParaRPr kumimoji="1" lang="en-US" altLang="zh-CN" dirty="0"/>
          </a:p>
          <a:p>
            <a:r>
              <a:rPr kumimoji="1" lang="zh-CN" altLang="en-US" dirty="0"/>
              <a:t>冲突</a:t>
            </a:r>
            <a:r>
              <a:rPr kumimoji="1" lang="en-US" altLang="zh-CN" dirty="0"/>
              <a:t>(conflict)</a:t>
            </a:r>
            <a:endParaRPr kumimoji="1" lang="zh-CN" altLang="en-US" dirty="0"/>
          </a:p>
          <a:p>
            <a:pPr lvl="1"/>
            <a:r>
              <a:rPr lang="zh-CN" altLang="en-US" dirty="0"/>
              <a:t>是指在合入操作时，两个分支上的同一个文件在相同位置上出现不一致的内容。通常需要人工介入，确认如何修改后，方可合入目标分支。</a:t>
            </a:r>
            <a:endParaRPr lang="zh-CN" altLang="en-US" dirty="0"/>
          </a:p>
          <a:p>
            <a:endParaRPr kumimoji="1" lang="zh-CN" altLang="en-US" dirty="0"/>
          </a:p>
        </p:txBody>
      </p:sp>
    </p:spTree>
  </p:cSld>
  <p:clrMapOvr>
    <a:masterClrMapping/>
  </p:clrMapOvr>
  <p:transition>
    <p:pull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大纲</a:t>
            </a:r>
            <a:endParaRPr kumimoji="1" lang="zh-CN" altLang="en-US" dirty="0"/>
          </a:p>
        </p:txBody>
      </p:sp>
      <p:sp>
        <p:nvSpPr>
          <p:cNvPr id="3" name="内容占位符 2"/>
          <p:cNvSpPr>
            <a:spLocks noGrp="1"/>
          </p:cNvSpPr>
          <p:nvPr>
            <p:ph idx="1"/>
          </p:nvPr>
        </p:nvSpPr>
        <p:spPr/>
        <p:txBody>
          <a:bodyPr/>
          <a:lstStyle/>
          <a:p>
            <a:r>
              <a:rPr lang="zh-CN" altLang="en-US" dirty="0"/>
              <a:t>版本控制系统概述</a:t>
            </a:r>
            <a:endParaRPr lang="en-US" altLang="zh-CN" dirty="0"/>
          </a:p>
          <a:p>
            <a:r>
              <a:rPr kumimoji="1" lang="zh-CN" altLang="en-US" b="1" dirty="0"/>
              <a:t>悲观锁与乐观锁</a:t>
            </a:r>
            <a:endParaRPr lang="en-US" altLang="zh-CN" b="1" dirty="0"/>
          </a:p>
          <a:p>
            <a:r>
              <a:rPr lang="zh-CN" altLang="en-US" dirty="0"/>
              <a:t>集中与分布式版本管理</a:t>
            </a:r>
            <a:endParaRPr kumimoji="1" lang="en-US" altLang="zh-CN" dirty="0"/>
          </a:p>
          <a:p>
            <a:r>
              <a:rPr kumimoji="1" lang="zh-CN" altLang="en-US" dirty="0"/>
              <a:t>分支与合并</a:t>
            </a:r>
            <a:endParaRPr lang="en-US" altLang="zh-CN" dirty="0"/>
          </a:p>
          <a:p>
            <a:r>
              <a:rPr lang="zh-CN" altLang="en-US" dirty="0"/>
              <a:t>分支开发模式</a:t>
            </a:r>
            <a:endParaRPr lang="en-US" altLang="zh-CN" dirty="0"/>
          </a:p>
          <a:p>
            <a:r>
              <a:rPr lang="zh-CN" altLang="en-US" dirty="0"/>
              <a:t>在</a:t>
            </a:r>
            <a:r>
              <a:rPr lang="en-US" altLang="zh-CN" dirty="0"/>
              <a:t>Git</a:t>
            </a:r>
            <a:r>
              <a:rPr lang="zh-CN" altLang="en-US" dirty="0"/>
              <a:t>中管理分支与合并</a:t>
            </a:r>
            <a:endParaRPr lang="zh-CN" altLang="en-US" dirty="0"/>
          </a:p>
          <a:p>
            <a:endParaRPr lang="zh-CN" altLang="en-US" dirty="0"/>
          </a:p>
        </p:txBody>
      </p:sp>
    </p:spTree>
  </p:cSld>
  <p:clrMapOvr>
    <a:masterClrMapping/>
  </p:clrMapOvr>
  <p:transition>
    <p:pull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悲观锁与乐观锁</a:t>
            </a:r>
            <a:endParaRPr kumimoji="1" lang="zh-CN" altLang="en-US" dirty="0"/>
          </a:p>
        </p:txBody>
      </p:sp>
      <p:sp>
        <p:nvSpPr>
          <p:cNvPr id="3" name="内容占位符 2"/>
          <p:cNvSpPr>
            <a:spLocks noGrp="1"/>
          </p:cNvSpPr>
          <p:nvPr>
            <p:ph idx="1"/>
          </p:nvPr>
        </p:nvSpPr>
        <p:spPr/>
        <p:txBody>
          <a:bodyPr/>
          <a:lstStyle/>
          <a:p>
            <a:r>
              <a:rPr kumimoji="1" lang="zh-CN" altLang="en-US" dirty="0"/>
              <a:t>版本控制系统管理资源并发控制的两种方式</a:t>
            </a:r>
            <a:endParaRPr kumimoji="1" lang="en-US" altLang="zh-CN" dirty="0"/>
          </a:p>
          <a:p>
            <a:pPr lvl="1"/>
            <a:r>
              <a:rPr kumimoji="1" lang="zh-CN" altLang="en-US" dirty="0"/>
              <a:t>悲观锁</a:t>
            </a:r>
            <a:endParaRPr kumimoji="1" lang="en-US" altLang="zh-CN" dirty="0"/>
          </a:p>
          <a:p>
            <a:pPr lvl="1"/>
            <a:r>
              <a:rPr kumimoji="1" lang="zh-CN" altLang="en-US" dirty="0"/>
              <a:t>乐观锁</a:t>
            </a:r>
            <a:endParaRPr kumimoji="1" lang="en-US" altLang="zh-CN" dirty="0"/>
          </a:p>
          <a:p>
            <a:endParaRPr kumimoji="1" lang="en-US" altLang="zh-CN" dirty="0"/>
          </a:p>
          <a:p>
            <a:r>
              <a:rPr kumimoji="1" lang="zh-CN" altLang="en-US" dirty="0"/>
              <a:t>并发控制的方式从以悲观锁为主转向了</a:t>
            </a:r>
            <a:r>
              <a:rPr kumimoji="1" lang="zh-CN" altLang="en-US" dirty="0"/>
              <a:t>以乐观锁为主</a:t>
            </a:r>
            <a:endParaRPr kumimoji="1" lang="zh-CN" altLang="en-US" dirty="0"/>
          </a:p>
        </p:txBody>
      </p:sp>
    </p:spTree>
  </p:cSld>
  <p:clrMapOvr>
    <a:masterClrMapping/>
  </p:clrMapOvr>
  <p:transition>
    <p:pull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悲观锁和乐观锁</a:t>
            </a:r>
            <a:endParaRPr kumimoji="1" lang="zh-CN" altLang="en-US" dirty="0"/>
          </a:p>
        </p:txBody>
      </p:sp>
      <p:sp>
        <p:nvSpPr>
          <p:cNvPr id="3" name="内容占位符 2"/>
          <p:cNvSpPr>
            <a:spLocks noGrp="1"/>
          </p:cNvSpPr>
          <p:nvPr>
            <p:ph idx="1"/>
          </p:nvPr>
        </p:nvSpPr>
        <p:spPr/>
        <p:txBody>
          <a:bodyPr/>
          <a:lstStyle/>
          <a:p>
            <a:r>
              <a:rPr kumimoji="1" lang="zh-CN" altLang="en-US" dirty="0"/>
              <a:t>悲观锁要求使用资源之前必须锁定。</a:t>
            </a:r>
            <a:endParaRPr kumimoji="1" lang="en-US" altLang="zh-CN" dirty="0"/>
          </a:p>
          <a:p>
            <a:pPr lvl="1"/>
            <a:r>
              <a:rPr kumimoji="1" lang="zh-CN" altLang="en-US" dirty="0"/>
              <a:t>需要确保任意时刻只有一个人工作在一个对象上</a:t>
            </a:r>
            <a:endParaRPr kumimoji="1" lang="en-US" altLang="zh-CN" dirty="0"/>
          </a:p>
          <a:p>
            <a:r>
              <a:rPr kumimoji="1" lang="zh-CN" altLang="en-US" dirty="0"/>
              <a:t>看上去悲观锁是阻止合并冲突的好办法，但事实上，它降低了开发的效率，尤其在大型的团队中。</a:t>
            </a:r>
            <a:endParaRPr kumimoji="1" lang="en-US" altLang="zh-CN" dirty="0"/>
          </a:p>
          <a:p>
            <a:r>
              <a:rPr kumimoji="1" lang="zh-CN" altLang="en-US" dirty="0"/>
              <a:t>乐观锁不锁定资源，而是假设在大多数的时间里，大家不会同时工作在同一个文件上。</a:t>
            </a:r>
            <a:endParaRPr kumimoji="1" lang="en-US" altLang="zh-CN" dirty="0"/>
          </a:p>
          <a:p>
            <a:pPr lvl="1"/>
            <a:r>
              <a:rPr kumimoji="1" lang="zh-CN" altLang="en-US" dirty="0"/>
              <a:t>乐观锁允许大家同时工作在同一个对象上。</a:t>
            </a:r>
            <a:endParaRPr kumimoji="1" lang="en-US" altLang="zh-CN" dirty="0"/>
          </a:p>
          <a:p>
            <a:pPr lvl="1"/>
            <a:r>
              <a:rPr kumimoji="1" lang="zh-CN" altLang="en-US" dirty="0"/>
              <a:t>在提交修改时，会使用一些算法来合并这些修改。</a:t>
            </a:r>
            <a:endParaRPr kumimoji="1" lang="en-US" altLang="zh-CN" dirty="0"/>
          </a:p>
          <a:p>
            <a:pPr lvl="1"/>
            <a:r>
              <a:rPr kumimoji="1" lang="zh-CN" altLang="en-US" dirty="0"/>
              <a:t>合并的最小单位是行。</a:t>
            </a:r>
            <a:endParaRPr kumimoji="1" lang="en-US" altLang="zh-CN" dirty="0"/>
          </a:p>
          <a:p>
            <a:pPr lvl="1"/>
            <a:r>
              <a:rPr kumimoji="1" lang="zh-CN" altLang="en-US" dirty="0"/>
              <a:t>无法合并的情况下需要手动解决冲突。</a:t>
            </a:r>
            <a:endParaRPr kumimoji="1" lang="zh-CN" altLang="en-US" dirty="0"/>
          </a:p>
        </p:txBody>
      </p:sp>
    </p:spTree>
  </p:cSld>
  <p:clrMapOvr>
    <a:masterClrMapping/>
  </p:clrMapOvr>
  <p:transition>
    <p:pull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悲观锁与乐观锁</a:t>
            </a:r>
            <a:endParaRPr kumimoji="1" lang="zh-CN" altLang="en-US" dirty="0"/>
          </a:p>
        </p:txBody>
      </p:sp>
      <p:sp>
        <p:nvSpPr>
          <p:cNvPr id="3" name="内容占位符 2"/>
          <p:cNvSpPr>
            <a:spLocks noGrp="1"/>
          </p:cNvSpPr>
          <p:nvPr>
            <p:ph idx="1"/>
          </p:nvPr>
        </p:nvSpPr>
        <p:spPr/>
        <p:txBody>
          <a:bodyPr/>
          <a:lstStyle/>
          <a:p>
            <a:r>
              <a:rPr kumimoji="1" lang="zh-CN" altLang="en-US" dirty="0"/>
              <a:t>乐观锁看上去会导致很多问题，但实际上如果采用下面的实践，这种方式可以工作得非常好。</a:t>
            </a:r>
            <a:endParaRPr kumimoji="1" lang="en-US" altLang="zh-CN" dirty="0"/>
          </a:p>
          <a:p>
            <a:pPr lvl="1"/>
            <a:r>
              <a:rPr kumimoji="1" lang="zh-CN" altLang="en-US" dirty="0"/>
              <a:t>频繁地提交代码</a:t>
            </a:r>
            <a:endParaRPr kumimoji="1" lang="en-US" altLang="zh-CN" dirty="0"/>
          </a:p>
          <a:p>
            <a:pPr lvl="1"/>
            <a:r>
              <a:rPr kumimoji="1" lang="zh-CN" altLang="en-US" dirty="0"/>
              <a:t>降低模块间的耦合度</a:t>
            </a:r>
            <a:endParaRPr kumimoji="1" lang="en-US" altLang="zh-CN" dirty="0"/>
          </a:p>
          <a:p>
            <a:r>
              <a:rPr kumimoji="1" lang="zh-CN" altLang="en-US" dirty="0"/>
              <a:t>而这些实践事实上对持续集成和提高软件质量非常重要</a:t>
            </a:r>
            <a:endParaRPr kumimoji="1" lang="en-US" altLang="zh-CN" dirty="0"/>
          </a:p>
          <a:p>
            <a:r>
              <a:rPr kumimoji="1" lang="zh-CN" altLang="en-US" dirty="0"/>
              <a:t>对于有些不需要合并的文件，比如二进制文件，可以采用悲观锁。</a:t>
            </a:r>
            <a:endParaRPr kumimoji="1" lang="en-US" altLang="zh-CN" dirty="0"/>
          </a:p>
          <a:p>
            <a:pPr lvl="1"/>
            <a:r>
              <a:rPr kumimoji="1" lang="zh-CN" altLang="en-US" dirty="0"/>
              <a:t>文本文件比较适合在版本库中管理</a:t>
            </a:r>
            <a:endParaRPr kumimoji="1" lang="zh-CN" altLang="en-US" dirty="0"/>
          </a:p>
        </p:txBody>
      </p:sp>
    </p:spTree>
  </p:cSld>
  <p:clrMapOvr>
    <a:masterClrMapping/>
  </p:clrMapOvr>
  <p:transition>
    <p:pull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大纲</a:t>
            </a:r>
            <a:endParaRPr kumimoji="1" lang="zh-CN" altLang="en-US" dirty="0"/>
          </a:p>
        </p:txBody>
      </p:sp>
      <p:sp>
        <p:nvSpPr>
          <p:cNvPr id="3" name="内容占位符 2"/>
          <p:cNvSpPr>
            <a:spLocks noGrp="1"/>
          </p:cNvSpPr>
          <p:nvPr>
            <p:ph idx="1"/>
          </p:nvPr>
        </p:nvSpPr>
        <p:spPr/>
        <p:txBody>
          <a:bodyPr/>
          <a:lstStyle/>
          <a:p>
            <a:r>
              <a:rPr lang="zh-CN" altLang="en-US" dirty="0"/>
              <a:t>版本控制系统概述</a:t>
            </a:r>
            <a:endParaRPr lang="en-US" altLang="zh-CN" dirty="0"/>
          </a:p>
          <a:p>
            <a:r>
              <a:rPr kumimoji="1" lang="zh-CN" altLang="en-US" dirty="0"/>
              <a:t>悲观锁与乐观锁</a:t>
            </a:r>
            <a:endParaRPr lang="en-US" altLang="zh-CN" dirty="0"/>
          </a:p>
          <a:p>
            <a:r>
              <a:rPr lang="zh-CN" altLang="en-US" b="1" dirty="0"/>
              <a:t>集中与分布式版本控制</a:t>
            </a:r>
            <a:endParaRPr kumimoji="1" lang="en-US" altLang="zh-CN" b="1" dirty="0"/>
          </a:p>
          <a:p>
            <a:r>
              <a:rPr kumimoji="1" lang="zh-CN" altLang="en-US" dirty="0"/>
              <a:t>分支与合并</a:t>
            </a:r>
            <a:endParaRPr lang="en-US" altLang="zh-CN" dirty="0"/>
          </a:p>
          <a:p>
            <a:r>
              <a:rPr lang="zh-CN" altLang="en-US" dirty="0"/>
              <a:t>分支开发模式</a:t>
            </a:r>
            <a:endParaRPr lang="en-US" altLang="zh-CN" dirty="0"/>
          </a:p>
          <a:p>
            <a:r>
              <a:rPr lang="zh-CN" altLang="en-US" dirty="0"/>
              <a:t>在</a:t>
            </a:r>
            <a:r>
              <a:rPr lang="en-US" altLang="zh-CN" dirty="0"/>
              <a:t>Git</a:t>
            </a:r>
            <a:r>
              <a:rPr lang="zh-CN" altLang="en-US" dirty="0"/>
              <a:t>中管理分支与合并</a:t>
            </a:r>
            <a:endParaRPr lang="zh-CN" altLang="en-US" dirty="0"/>
          </a:p>
          <a:p>
            <a:endParaRPr lang="zh-CN" altLang="en-US" dirty="0"/>
          </a:p>
        </p:txBody>
      </p:sp>
    </p:spTree>
  </p:cSld>
  <p:clrMapOvr>
    <a:masterClrMapping/>
  </p:clrMapOvr>
  <p:transition>
    <p:pull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集中式与分布式版本控制</a:t>
            </a:r>
            <a:endParaRPr kumimoji="1" lang="zh-CN" altLang="en-US" dirty="0"/>
          </a:p>
        </p:txBody>
      </p:sp>
      <p:sp>
        <p:nvSpPr>
          <p:cNvPr id="3" name="内容占位符 2"/>
          <p:cNvSpPr>
            <a:spLocks noGrp="1"/>
          </p:cNvSpPr>
          <p:nvPr>
            <p:ph idx="1"/>
          </p:nvPr>
        </p:nvSpPr>
        <p:spPr/>
        <p:txBody>
          <a:bodyPr/>
          <a:lstStyle/>
          <a:p>
            <a:r>
              <a:rPr kumimoji="1" lang="zh-CN" altLang="en-US" dirty="0"/>
              <a:t>比较</a:t>
            </a:r>
            <a:endParaRPr kumimoji="1" lang="en-US" altLang="zh-CN" dirty="0"/>
          </a:p>
          <a:p>
            <a:pPr marL="914400" lvl="1" indent="-457200">
              <a:buFont typeface="+mj-lt"/>
              <a:buAutoNum type="arabicPeriod"/>
            </a:pPr>
            <a:r>
              <a:rPr kumimoji="1" lang="zh-CN" altLang="en-US" dirty="0"/>
              <a:t>本地版本控制</a:t>
            </a:r>
            <a:endParaRPr kumimoji="1" lang="en-US" altLang="zh-CN" dirty="0"/>
          </a:p>
          <a:p>
            <a:pPr marL="914400" lvl="1" indent="-457200">
              <a:buFont typeface="+mj-lt"/>
              <a:buAutoNum type="arabicPeriod"/>
            </a:pPr>
            <a:r>
              <a:rPr kumimoji="1" lang="zh-CN" altLang="en-US" dirty="0"/>
              <a:t>集中式版本控制</a:t>
            </a:r>
            <a:endParaRPr kumimoji="1" lang="en-US" altLang="zh-CN" dirty="0"/>
          </a:p>
          <a:p>
            <a:pPr marL="914400" lvl="1" indent="-457200">
              <a:buFont typeface="+mj-lt"/>
              <a:buAutoNum type="arabicPeriod"/>
            </a:pPr>
            <a:r>
              <a:rPr kumimoji="1" lang="zh-CN" altLang="en-US" dirty="0"/>
              <a:t>分布式版本控制</a:t>
            </a:r>
            <a:endParaRPr kumimoji="1" lang="en-US" altLang="zh-CN" dirty="0"/>
          </a:p>
          <a:p>
            <a:pPr marL="0" indent="0">
              <a:buNone/>
            </a:pPr>
            <a:endParaRPr kumimoji="1" lang="zh-CN" altLang="en-US" dirty="0"/>
          </a:p>
        </p:txBody>
      </p:sp>
      <p:pic>
        <p:nvPicPr>
          <p:cNvPr id="2050" name="Picture 2" descr="Local version control diagra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20558" y="4545812"/>
            <a:ext cx="2364719" cy="20188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entralized version control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8724" y="4582474"/>
            <a:ext cx="2905023" cy="20188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istributed version control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4018" y="808023"/>
            <a:ext cx="3026659" cy="362494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457200" y="4545812"/>
            <a:ext cx="1438487" cy="369332"/>
          </a:xfrm>
          <a:prstGeom prst="rect">
            <a:avLst/>
          </a:prstGeom>
          <a:noFill/>
        </p:spPr>
        <p:txBody>
          <a:bodyPr wrap="square" rtlCol="0">
            <a:spAutoFit/>
          </a:bodyPr>
          <a:lstStyle/>
          <a:p>
            <a:r>
              <a:rPr kumimoji="1" lang="en-US" altLang="zh-CN" dirty="0">
                <a:solidFill>
                  <a:srgbClr val="FF0000"/>
                </a:solidFill>
              </a:rPr>
              <a:t>1</a:t>
            </a:r>
            <a:r>
              <a:rPr kumimoji="1" lang="zh-CN" altLang="en-US" dirty="0">
                <a:solidFill>
                  <a:srgbClr val="FF0000"/>
                </a:solidFill>
              </a:rPr>
              <a:t>：本地</a:t>
            </a:r>
            <a:endParaRPr kumimoji="1" lang="zh-CN" altLang="en-US" dirty="0">
              <a:solidFill>
                <a:srgbClr val="FF0000"/>
              </a:solidFill>
            </a:endParaRPr>
          </a:p>
        </p:txBody>
      </p:sp>
      <p:sp>
        <p:nvSpPr>
          <p:cNvPr id="8" name="文本框 7"/>
          <p:cNvSpPr txBox="1"/>
          <p:nvPr/>
        </p:nvSpPr>
        <p:spPr>
          <a:xfrm>
            <a:off x="4410635" y="4597517"/>
            <a:ext cx="1288258" cy="369332"/>
          </a:xfrm>
          <a:prstGeom prst="rect">
            <a:avLst/>
          </a:prstGeom>
          <a:noFill/>
        </p:spPr>
        <p:txBody>
          <a:bodyPr wrap="square" rtlCol="0">
            <a:spAutoFit/>
          </a:bodyPr>
          <a:lstStyle/>
          <a:p>
            <a:r>
              <a:rPr kumimoji="1" lang="en-US" altLang="zh-CN" dirty="0">
                <a:solidFill>
                  <a:srgbClr val="FF0000"/>
                </a:solidFill>
              </a:rPr>
              <a:t>2</a:t>
            </a:r>
            <a:r>
              <a:rPr kumimoji="1" lang="zh-CN" altLang="en-US" dirty="0">
                <a:solidFill>
                  <a:srgbClr val="FF0000"/>
                </a:solidFill>
              </a:rPr>
              <a:t>：集中式</a:t>
            </a:r>
            <a:endParaRPr kumimoji="1" lang="zh-CN" altLang="en-US" dirty="0">
              <a:solidFill>
                <a:srgbClr val="FF0000"/>
              </a:solidFill>
            </a:endParaRPr>
          </a:p>
        </p:txBody>
      </p:sp>
      <p:sp>
        <p:nvSpPr>
          <p:cNvPr id="9" name="文本框 8"/>
          <p:cNvSpPr txBox="1"/>
          <p:nvPr/>
        </p:nvSpPr>
        <p:spPr>
          <a:xfrm>
            <a:off x="4578304" y="976765"/>
            <a:ext cx="1463907" cy="369332"/>
          </a:xfrm>
          <a:prstGeom prst="rect">
            <a:avLst/>
          </a:prstGeom>
          <a:noFill/>
        </p:spPr>
        <p:txBody>
          <a:bodyPr wrap="square" rtlCol="0">
            <a:spAutoFit/>
          </a:bodyPr>
          <a:lstStyle/>
          <a:p>
            <a:r>
              <a:rPr kumimoji="1" lang="en-US" altLang="zh-CN" dirty="0">
                <a:solidFill>
                  <a:srgbClr val="FF0000"/>
                </a:solidFill>
              </a:rPr>
              <a:t>3</a:t>
            </a:r>
            <a:r>
              <a:rPr kumimoji="1" lang="zh-CN" altLang="en-US" dirty="0">
                <a:solidFill>
                  <a:srgbClr val="FF0000"/>
                </a:solidFill>
              </a:rPr>
              <a:t>：分布式</a:t>
            </a:r>
            <a:endParaRPr kumimoji="1" lang="zh-CN" altLang="en-US" dirty="0">
              <a:solidFill>
                <a:srgbClr val="FF0000"/>
              </a:solidFill>
            </a:endParaRPr>
          </a:p>
        </p:txBody>
      </p:sp>
    </p:spTree>
  </p:cSld>
  <p:clrMapOvr>
    <a:masterClrMapping/>
  </p:clrMapOvr>
  <p:transition>
    <p:pull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集中式版本控制</a:t>
            </a:r>
            <a:endParaRPr kumimoji="1" lang="zh-CN" altLang="en-US" dirty="0"/>
          </a:p>
        </p:txBody>
      </p:sp>
      <p:sp>
        <p:nvSpPr>
          <p:cNvPr id="3" name="内容占位符 2"/>
          <p:cNvSpPr>
            <a:spLocks noGrp="1"/>
          </p:cNvSpPr>
          <p:nvPr>
            <p:ph idx="1"/>
          </p:nvPr>
        </p:nvSpPr>
        <p:spPr/>
        <p:txBody>
          <a:bodyPr/>
          <a:lstStyle/>
          <a:p>
            <a:r>
              <a:rPr lang="zh-CN" altLang="en-US" dirty="0"/>
              <a:t>集中式</a:t>
            </a:r>
            <a:endParaRPr lang="en-US" altLang="zh-CN" dirty="0"/>
          </a:p>
          <a:p>
            <a:pPr lvl="1"/>
            <a:r>
              <a:rPr lang="zh-CN" altLang="en-US" dirty="0"/>
              <a:t>集中式版本控制解决了多人如何进行协同修改代码的问题。</a:t>
            </a:r>
            <a:endParaRPr lang="en-US" altLang="zh-CN" dirty="0"/>
          </a:p>
          <a:p>
            <a:pPr lvl="1"/>
            <a:r>
              <a:rPr lang="zh-CN" altLang="en-US" dirty="0"/>
              <a:t>有一个单一的集中管理的版本控制管理服务器，保存所有文件的历史修订版本记录。</a:t>
            </a:r>
            <a:endParaRPr lang="en-US" altLang="zh-CN" dirty="0"/>
          </a:p>
          <a:p>
            <a:pPr lvl="1"/>
            <a:r>
              <a:rPr lang="zh-CN" altLang="en-US" dirty="0"/>
              <a:t>团队成员之间的代码交换必须通过客户端连接到这台服务器，获取自己需要的文件。</a:t>
            </a:r>
            <a:endParaRPr lang="en-US" altLang="zh-CN" dirty="0"/>
          </a:p>
          <a:p>
            <a:pPr lvl="1"/>
            <a:r>
              <a:rPr lang="zh-CN" altLang="en-US" dirty="0"/>
              <a:t> 每个人如果想获得其他人最新提交的修订记录，就必须从集中式版本控制系统中获得。</a:t>
            </a:r>
            <a:endParaRPr lang="en-US" altLang="zh-CN" dirty="0"/>
          </a:p>
          <a:p>
            <a:pPr lvl="1"/>
            <a:r>
              <a:rPr lang="zh-CN" altLang="en-US" dirty="0"/>
              <a:t>典型的集中式版本控制工具是</a:t>
            </a:r>
            <a:r>
              <a:rPr lang="en-US" altLang="zh-CN" dirty="0"/>
              <a:t>Subversion</a:t>
            </a:r>
            <a:r>
              <a:rPr lang="zh-CN" altLang="en-US" dirty="0"/>
              <a:t>。</a:t>
            </a:r>
            <a:endParaRPr lang="zh-CN" altLang="en-US" dirty="0"/>
          </a:p>
          <a:p>
            <a:pPr marL="0" indent="0">
              <a:buNone/>
            </a:pPr>
            <a:endParaRPr lang="zh-CN" altLang="en-US" dirty="0"/>
          </a:p>
          <a:p>
            <a:endParaRPr kumimoji="1" lang="zh-CN" altLang="en-US" dirty="0"/>
          </a:p>
        </p:txBody>
      </p:sp>
    </p:spTree>
  </p:cSld>
  <p:clrMapOvr>
    <a:masterClrMapping/>
  </p:clrMapOvr>
  <p:transition>
    <p:pull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DVCS</a:t>
            </a:r>
            <a:r>
              <a:rPr kumimoji="1" lang="zh-CN" altLang="en-US" dirty="0"/>
              <a:t>：分布式版本控制</a:t>
            </a:r>
            <a:endParaRPr kumimoji="1" lang="zh-CN" altLang="en-US" dirty="0"/>
          </a:p>
        </p:txBody>
      </p:sp>
      <p:sp>
        <p:nvSpPr>
          <p:cNvPr id="3" name="内容占位符 2"/>
          <p:cNvSpPr>
            <a:spLocks noGrp="1"/>
          </p:cNvSpPr>
          <p:nvPr>
            <p:ph idx="1"/>
          </p:nvPr>
        </p:nvSpPr>
        <p:spPr/>
        <p:txBody>
          <a:bodyPr/>
          <a:lstStyle/>
          <a:p>
            <a:r>
              <a:rPr lang="zh-CN" altLang="en-GB" dirty="0"/>
              <a:t>分布式</a:t>
            </a:r>
            <a:r>
              <a:rPr lang="zh-CN" altLang="en-US" dirty="0"/>
              <a:t>版本控制（</a:t>
            </a:r>
            <a:r>
              <a:rPr lang="en-GB" altLang="zh-CN" dirty="0"/>
              <a:t>Distributed version control systems </a:t>
            </a:r>
            <a:r>
              <a:rPr lang="en-US" altLang="zh-CN" dirty="0"/>
              <a:t>/</a:t>
            </a:r>
            <a:r>
              <a:rPr lang="en-GB" altLang="zh-CN" dirty="0"/>
              <a:t>DVCS)</a:t>
            </a:r>
            <a:r>
              <a:rPr lang="zh-CN" altLang="en-US" dirty="0"/>
              <a:t>以一种</a:t>
            </a:r>
            <a:r>
              <a:rPr lang="en-US" altLang="zh-CN" dirty="0"/>
              <a:t>P2P</a:t>
            </a:r>
            <a:r>
              <a:rPr lang="zh-CN" altLang="en-US" dirty="0"/>
              <a:t>的方式完成了版本控制</a:t>
            </a:r>
            <a:endParaRPr lang="en-GB" altLang="zh-CN" dirty="0"/>
          </a:p>
          <a:p>
            <a:r>
              <a:rPr lang="en-GB" altLang="zh-CN" dirty="0"/>
              <a:t>DVCS</a:t>
            </a:r>
            <a:r>
              <a:rPr lang="zh-CN" altLang="en-GB" dirty="0"/>
              <a:t>通过</a:t>
            </a:r>
            <a:r>
              <a:rPr lang="zh-CN" altLang="en-US" dirty="0"/>
              <a:t>传输补丁</a:t>
            </a:r>
            <a:r>
              <a:rPr lang="en-US" altLang="zh-CN" dirty="0"/>
              <a:t>(patch)</a:t>
            </a:r>
            <a:r>
              <a:rPr lang="zh-CN" altLang="en-US" dirty="0"/>
              <a:t>完成了分布的版本管理服务之间的同步。</a:t>
            </a:r>
            <a:endParaRPr lang="en-GB" altLang="zh-CN" dirty="0"/>
          </a:p>
          <a:p>
            <a:r>
              <a:rPr lang="zh-CN" altLang="en-GB" dirty="0"/>
              <a:t>在</a:t>
            </a:r>
            <a:r>
              <a:rPr lang="zh-CN" altLang="en-US" dirty="0"/>
              <a:t>一个</a:t>
            </a:r>
            <a:r>
              <a:rPr lang="en-US" altLang="zh-CN" dirty="0"/>
              <a:t>DVCS</a:t>
            </a:r>
            <a:r>
              <a:rPr lang="zh-CN" altLang="en-US" dirty="0"/>
              <a:t>中，并没有一个单一的中心代码仓库，每个用户都有一份代码及代码变更历史的完整记录。</a:t>
            </a:r>
            <a:endParaRPr lang="en-US" altLang="zh-CN" dirty="0"/>
          </a:p>
          <a:p>
            <a:r>
              <a:rPr lang="en-US" altLang="zh-CN" dirty="0"/>
              <a:t>DVCS</a:t>
            </a:r>
            <a:r>
              <a:rPr lang="zh-CN" altLang="en-US" dirty="0"/>
              <a:t>的典型代表是</a:t>
            </a:r>
            <a:r>
              <a:rPr lang="en-US" altLang="zh-CN" dirty="0"/>
              <a:t>git</a:t>
            </a:r>
            <a:r>
              <a:rPr lang="zh-CN" altLang="en-US" dirty="0"/>
              <a:t>。</a:t>
            </a:r>
            <a:br>
              <a:rPr lang="en-GB" altLang="zh-CN" dirty="0"/>
            </a:br>
            <a:endParaRPr kumimoji="1" lang="zh-CN" altLang="en-US" dirty="0"/>
          </a:p>
        </p:txBody>
      </p:sp>
    </p:spTree>
  </p:cSld>
  <p:clrMapOvr>
    <a:masterClrMapping/>
  </p:clrMapOvr>
  <p:transition>
    <p:pull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DVCS</a:t>
            </a:r>
            <a:r>
              <a:rPr kumimoji="1" lang="zh-CN" altLang="en-US" dirty="0"/>
              <a:t>：分布式版本控制</a:t>
            </a:r>
            <a:endParaRPr kumimoji="1" lang="zh-CN" altLang="en-US" dirty="0"/>
          </a:p>
        </p:txBody>
      </p:sp>
      <p:sp>
        <p:nvSpPr>
          <p:cNvPr id="3" name="内容占位符 2"/>
          <p:cNvSpPr>
            <a:spLocks noGrp="1"/>
          </p:cNvSpPr>
          <p:nvPr>
            <p:ph idx="1"/>
          </p:nvPr>
        </p:nvSpPr>
        <p:spPr/>
        <p:txBody>
          <a:bodyPr/>
          <a:lstStyle/>
          <a:p>
            <a:r>
              <a:rPr kumimoji="1" lang="zh-CN" altLang="en-US" dirty="0"/>
              <a:t>安装方便。</a:t>
            </a:r>
            <a:endParaRPr kumimoji="1" lang="en-US" altLang="zh-CN" dirty="0"/>
          </a:p>
          <a:p>
            <a:r>
              <a:rPr kumimoji="1" lang="zh-CN" altLang="en-US" dirty="0"/>
              <a:t>通过</a:t>
            </a:r>
            <a:r>
              <a:rPr kumimoji="1" lang="en-US" altLang="zh-CN" dirty="0"/>
              <a:t>patch</a:t>
            </a:r>
            <a:r>
              <a:rPr kumimoji="1" lang="zh-CN" altLang="en-US" dirty="0"/>
              <a:t>同步分布的代码</a:t>
            </a:r>
            <a:endParaRPr kumimoji="1" lang="en-US" altLang="zh-CN" dirty="0"/>
          </a:p>
          <a:p>
            <a:r>
              <a:rPr kumimoji="1" lang="zh-CN" altLang="en-US" dirty="0"/>
              <a:t>断网情况下不影响开发</a:t>
            </a:r>
            <a:endParaRPr kumimoji="1" lang="en-US" altLang="zh-CN" dirty="0"/>
          </a:p>
          <a:p>
            <a:r>
              <a:rPr kumimoji="1" lang="zh-CN" altLang="en-US" dirty="0"/>
              <a:t>有多个代码库，</a:t>
            </a:r>
            <a:r>
              <a:rPr kumimoji="1" lang="en-US" altLang="zh-CN" dirty="0"/>
              <a:t>DVCS</a:t>
            </a:r>
            <a:r>
              <a:rPr kumimoji="1" lang="zh-CN" altLang="en-US" dirty="0"/>
              <a:t>具有更好的容错性</a:t>
            </a:r>
            <a:endParaRPr kumimoji="1" lang="en-US" altLang="zh-CN" dirty="0"/>
          </a:p>
          <a:p>
            <a:r>
              <a:rPr kumimoji="1" lang="zh-CN" altLang="en-US" dirty="0"/>
              <a:t>可以频繁提交至本地代码库作为检查点</a:t>
            </a:r>
            <a:endParaRPr kumimoji="1" lang="en-US" altLang="zh-CN" dirty="0"/>
          </a:p>
          <a:p>
            <a:r>
              <a:rPr kumimoji="1" lang="zh-CN" altLang="en-US" dirty="0"/>
              <a:t>在本地进行了频繁零碎的提交，然后需要同步至其他代码库的时候，可以将零碎的提交重新组织，使得提交记录比较清晰。</a:t>
            </a:r>
            <a:endParaRPr kumimoji="1" lang="en-US" altLang="zh-CN" dirty="0"/>
          </a:p>
          <a:p>
            <a:pPr marL="0" indent="0">
              <a:buNone/>
            </a:pPr>
            <a:endParaRPr kumimoji="1" lang="en-US" altLang="zh-CN" dirty="0"/>
          </a:p>
          <a:p>
            <a:endParaRPr kumimoji="1" lang="en-US" altLang="zh-CN" dirty="0"/>
          </a:p>
        </p:txBody>
      </p:sp>
    </p:spTree>
  </p:cSld>
  <p:clrMapOvr>
    <a:masterClrMapping/>
  </p:clrMapOvr>
  <p:transition>
    <p:pull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DVCS</a:t>
            </a:r>
            <a:r>
              <a:rPr kumimoji="1" lang="zh-CN" altLang="en-US" dirty="0"/>
              <a:t>：分布式版本管理</a:t>
            </a:r>
            <a:endParaRPr kumimoji="1" lang="zh-CN" altLang="en-US" dirty="0"/>
          </a:p>
        </p:txBody>
      </p:sp>
      <p:sp>
        <p:nvSpPr>
          <p:cNvPr id="3" name="内容占位符 2"/>
          <p:cNvSpPr>
            <a:spLocks noGrp="1"/>
          </p:cNvSpPr>
          <p:nvPr>
            <p:ph idx="1"/>
          </p:nvPr>
        </p:nvSpPr>
        <p:spPr/>
        <p:txBody>
          <a:bodyPr/>
          <a:lstStyle/>
          <a:p>
            <a:r>
              <a:rPr kumimoji="1" lang="zh-CN" altLang="en-US" dirty="0"/>
              <a:t>也可以用来做某种程度的集中式的版本控制</a:t>
            </a:r>
            <a:endParaRPr kumimoji="1" lang="zh-CN" altLang="en-US" dirty="0"/>
          </a:p>
        </p:txBody>
      </p:sp>
      <p:pic>
        <p:nvPicPr>
          <p:cNvPr id="6" name="图片 5"/>
          <p:cNvPicPr>
            <a:picLocks noChangeAspect="1"/>
          </p:cNvPicPr>
          <p:nvPr/>
        </p:nvPicPr>
        <p:blipFill>
          <a:blip r:embed="rId1"/>
          <a:stretch>
            <a:fillRect/>
          </a:stretch>
        </p:blipFill>
        <p:spPr>
          <a:xfrm>
            <a:off x="1037347" y="1689370"/>
            <a:ext cx="6680200" cy="4724400"/>
          </a:xfrm>
          <a:prstGeom prst="rect">
            <a:avLst/>
          </a:prstGeom>
        </p:spPr>
      </p:pic>
    </p:spTree>
  </p:cSld>
  <p:clrMapOvr>
    <a:masterClrMapping/>
  </p:clrMapOvr>
  <p:transition>
    <p:pull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DVCS</a:t>
            </a:r>
            <a:r>
              <a:rPr kumimoji="1" lang="zh-CN" altLang="en-US" dirty="0"/>
              <a:t>：分布式版本管理</a:t>
            </a:r>
            <a:endParaRPr kumimoji="1" lang="zh-CN" altLang="en-US" dirty="0"/>
          </a:p>
        </p:txBody>
      </p:sp>
      <p:sp>
        <p:nvSpPr>
          <p:cNvPr id="3" name="内容占位符 2"/>
          <p:cNvSpPr>
            <a:spLocks noGrp="1"/>
          </p:cNvSpPr>
          <p:nvPr>
            <p:ph idx="1"/>
          </p:nvPr>
        </p:nvSpPr>
        <p:spPr/>
        <p:txBody>
          <a:bodyPr/>
          <a:lstStyle/>
          <a:p>
            <a:r>
              <a:rPr kumimoji="1" lang="zh-CN" altLang="en-US" dirty="0"/>
              <a:t>在上面的例子中</a:t>
            </a:r>
            <a:endParaRPr kumimoji="1" lang="en-US" altLang="zh-CN" dirty="0"/>
          </a:p>
          <a:p>
            <a:pPr marL="914400" lvl="1" indent="-457200">
              <a:buFont typeface="+mj-lt"/>
              <a:buAutoNum type="arabicPeriod"/>
            </a:pPr>
            <a:r>
              <a:rPr lang="en-GB" altLang="zh-CN" dirty="0"/>
              <a:t>Bob</a:t>
            </a:r>
            <a:r>
              <a:rPr lang="zh-CN" altLang="en-US" dirty="0"/>
              <a:t>通过班加罗尔办公网络克隆（</a:t>
            </a:r>
            <a:r>
              <a:rPr lang="en-GB" altLang="zh-CN" dirty="0"/>
              <a:t>clone)</a:t>
            </a:r>
            <a:r>
              <a:rPr lang="zh-CN" altLang="en-US" dirty="0"/>
              <a:t>一份</a:t>
            </a:r>
            <a:r>
              <a:rPr lang="en-GB" altLang="zh-CN" dirty="0"/>
              <a:t>Sara</a:t>
            </a:r>
            <a:r>
              <a:rPr lang="zh-CN" altLang="en-US" dirty="0"/>
              <a:t>的代码仓库（</a:t>
            </a:r>
            <a:r>
              <a:rPr lang="en-GB" altLang="zh-CN" dirty="0"/>
              <a:t>Sara</a:t>
            </a:r>
            <a:r>
              <a:rPr lang="zh-CN" altLang="en-US" dirty="0"/>
              <a:t>也在班加罗尔办公室）。</a:t>
            </a:r>
            <a:endParaRPr lang="zh-CN" altLang="en-US" dirty="0"/>
          </a:p>
          <a:p>
            <a:pPr marL="914400" lvl="1" indent="-457200">
              <a:buFont typeface="+mj-lt"/>
              <a:buAutoNum type="arabicPeriod"/>
            </a:pPr>
            <a:r>
              <a:rPr lang="en-GB" altLang="zh-CN" dirty="0"/>
              <a:t>Bob</a:t>
            </a:r>
            <a:r>
              <a:rPr lang="zh-CN" altLang="en-US" dirty="0"/>
              <a:t>从芝加哥的中央仓库中拉取（</a:t>
            </a:r>
            <a:r>
              <a:rPr lang="en-GB" altLang="zh-CN" dirty="0"/>
              <a:t>pull)</a:t>
            </a:r>
            <a:r>
              <a:rPr lang="zh-CN" altLang="en-US" dirty="0"/>
              <a:t>与本地仓库有差异的代码。</a:t>
            </a:r>
            <a:endParaRPr lang="zh-CN" altLang="en-US" dirty="0"/>
          </a:p>
          <a:p>
            <a:pPr marL="914400" lvl="1" indent="-457200">
              <a:buFont typeface="+mj-lt"/>
              <a:buAutoNum type="arabicPeriod"/>
            </a:pPr>
            <a:r>
              <a:rPr lang="en-GB" altLang="zh-CN" dirty="0"/>
              <a:t>Bob</a:t>
            </a:r>
            <a:r>
              <a:rPr lang="zh-CN" altLang="en-US" dirty="0"/>
              <a:t>修改代码文件，并提交（</a:t>
            </a:r>
            <a:r>
              <a:rPr lang="en-GB" altLang="zh-CN" dirty="0"/>
              <a:t>commit)</a:t>
            </a:r>
            <a:r>
              <a:rPr lang="zh-CN" altLang="en-US" dirty="0"/>
              <a:t>到本地仓库，产生一个新的文件版本。</a:t>
            </a:r>
            <a:endParaRPr lang="zh-CN" altLang="en-US" dirty="0"/>
          </a:p>
          <a:p>
            <a:pPr marL="914400" lvl="1" indent="-457200">
              <a:buFont typeface="+mj-lt"/>
              <a:buAutoNum type="arabicPeriod"/>
            </a:pPr>
            <a:r>
              <a:rPr lang="en-GB" altLang="zh-CN" dirty="0"/>
              <a:t>Bob</a:t>
            </a:r>
            <a:r>
              <a:rPr lang="zh-CN" altLang="en-US" dirty="0"/>
              <a:t>将这个新的版本推送（</a:t>
            </a:r>
            <a:r>
              <a:rPr lang="en-GB" altLang="zh-CN" dirty="0"/>
              <a:t>push)</a:t>
            </a:r>
            <a:r>
              <a:rPr lang="zh-CN" altLang="en-US" dirty="0"/>
              <a:t>至中央仓库。</a:t>
            </a:r>
            <a:endParaRPr lang="zh-CN" altLang="en-US" dirty="0"/>
          </a:p>
          <a:p>
            <a:pPr marL="914400" lvl="1" indent="-457200">
              <a:buFont typeface="+mj-lt"/>
              <a:buAutoNum type="arabicPeriod"/>
            </a:pPr>
            <a:r>
              <a:rPr lang="en-GB" altLang="zh-CN" dirty="0"/>
              <a:t>Sara</a:t>
            </a:r>
            <a:r>
              <a:rPr lang="zh-CN" altLang="en-US" dirty="0"/>
              <a:t>即可从中央仓库拉取（</a:t>
            </a:r>
            <a:r>
              <a:rPr lang="en-GB" altLang="zh-CN" dirty="0"/>
              <a:t>pull)</a:t>
            </a:r>
            <a:r>
              <a:rPr lang="zh-CN" altLang="en-US" dirty="0"/>
              <a:t>所有的差异代码。</a:t>
            </a:r>
            <a:endParaRPr lang="zh-CN" altLang="en-US" dirty="0"/>
          </a:p>
          <a:p>
            <a:endParaRPr kumimoji="1" lang="zh-CN" altLang="en-US" dirty="0"/>
          </a:p>
        </p:txBody>
      </p:sp>
    </p:spTree>
  </p:cSld>
  <p:clrMapOvr>
    <a:masterClrMapping/>
  </p:clrMapOvr>
  <p:transition>
    <p:pull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大纲</a:t>
            </a:r>
            <a:endParaRPr kumimoji="1" lang="zh-CN" altLang="en-US" dirty="0"/>
          </a:p>
        </p:txBody>
      </p:sp>
      <p:sp>
        <p:nvSpPr>
          <p:cNvPr id="3" name="内容占位符 2"/>
          <p:cNvSpPr>
            <a:spLocks noGrp="1"/>
          </p:cNvSpPr>
          <p:nvPr>
            <p:ph idx="1"/>
          </p:nvPr>
        </p:nvSpPr>
        <p:spPr/>
        <p:txBody>
          <a:bodyPr/>
          <a:lstStyle/>
          <a:p>
            <a:r>
              <a:rPr lang="zh-CN" altLang="en-US" dirty="0"/>
              <a:t>版本控制系统概述</a:t>
            </a:r>
            <a:endParaRPr lang="en-US" altLang="zh-CN" dirty="0"/>
          </a:p>
          <a:p>
            <a:r>
              <a:rPr kumimoji="1" lang="zh-CN" altLang="en-US" dirty="0"/>
              <a:t>悲观锁与乐观锁</a:t>
            </a:r>
            <a:endParaRPr lang="en-US" altLang="zh-CN" dirty="0"/>
          </a:p>
          <a:p>
            <a:r>
              <a:rPr lang="zh-CN" altLang="en-US" dirty="0"/>
              <a:t>集中与分布式版本控制</a:t>
            </a:r>
            <a:endParaRPr kumimoji="1" lang="en-US" altLang="zh-CN" dirty="0"/>
          </a:p>
          <a:p>
            <a:r>
              <a:rPr kumimoji="1" lang="zh-CN" altLang="en-US" b="1" dirty="0"/>
              <a:t>分支与合并</a:t>
            </a:r>
            <a:endParaRPr lang="en-US" altLang="zh-CN" b="1" dirty="0"/>
          </a:p>
          <a:p>
            <a:r>
              <a:rPr lang="zh-CN" altLang="en-US" dirty="0"/>
              <a:t>分支开发模式</a:t>
            </a:r>
            <a:endParaRPr lang="en-US" altLang="zh-CN" dirty="0"/>
          </a:p>
          <a:p>
            <a:r>
              <a:rPr lang="zh-CN" altLang="en-US" dirty="0"/>
              <a:t>在</a:t>
            </a:r>
            <a:r>
              <a:rPr lang="en-US" altLang="zh-CN" dirty="0"/>
              <a:t>Git</a:t>
            </a:r>
            <a:r>
              <a:rPr lang="zh-CN" altLang="en-US" dirty="0"/>
              <a:t>中管理分支与合并</a:t>
            </a:r>
            <a:endParaRPr lang="zh-CN" altLang="en-US" dirty="0"/>
          </a:p>
          <a:p>
            <a:endParaRPr lang="zh-CN" altLang="en-US" dirty="0"/>
          </a:p>
        </p:txBody>
      </p:sp>
    </p:spTree>
  </p:cSld>
  <p:clrMapOvr>
    <a:masterClrMapping/>
  </p:clrMapOvr>
  <p:transition>
    <p:pull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分支与合并</a:t>
            </a:r>
            <a:endParaRPr kumimoji="1" lang="zh-CN" altLang="en-US" dirty="0"/>
          </a:p>
        </p:txBody>
      </p:sp>
      <p:sp>
        <p:nvSpPr>
          <p:cNvPr id="3" name="内容占位符 2"/>
          <p:cNvSpPr>
            <a:spLocks noGrp="1"/>
          </p:cNvSpPr>
          <p:nvPr>
            <p:ph idx="1"/>
          </p:nvPr>
        </p:nvSpPr>
        <p:spPr>
          <a:xfrm>
            <a:off x="319314" y="891084"/>
            <a:ext cx="8229600" cy="5607170"/>
          </a:xfrm>
        </p:spPr>
        <p:txBody>
          <a:bodyPr/>
          <a:lstStyle/>
          <a:p>
            <a:r>
              <a:rPr kumimoji="1" lang="zh-CN" altLang="en-US" dirty="0"/>
              <a:t>在一个代码基</a:t>
            </a:r>
            <a:r>
              <a:rPr kumimoji="1" lang="en-US" altLang="zh-CN" dirty="0"/>
              <a:t>(code</a:t>
            </a:r>
            <a:r>
              <a:rPr kumimoji="1" lang="zh-CN" altLang="en-US" dirty="0"/>
              <a:t> </a:t>
            </a:r>
            <a:r>
              <a:rPr kumimoji="1" lang="en-US" altLang="zh-CN" dirty="0"/>
              <a:t>base)</a:t>
            </a:r>
            <a:r>
              <a:rPr kumimoji="1" lang="zh-CN" altLang="en-US" dirty="0"/>
              <a:t>上创建分支的能力是版本控制系统最重要的特性。</a:t>
            </a:r>
            <a:endParaRPr kumimoji="1" lang="en-US" altLang="zh-CN" dirty="0"/>
          </a:p>
          <a:p>
            <a:r>
              <a:rPr kumimoji="1" lang="zh-CN" altLang="en-US" dirty="0"/>
              <a:t>分支的作用是：选定代码基作为源创建一个副本，之后在这个副本上操作。</a:t>
            </a:r>
            <a:endParaRPr kumimoji="1" lang="en-US" altLang="zh-CN" dirty="0"/>
          </a:p>
          <a:p>
            <a:endParaRPr kumimoji="1" lang="zh-CN" altLang="en-US" dirty="0"/>
          </a:p>
        </p:txBody>
      </p:sp>
      <p:pic>
        <p:nvPicPr>
          <p:cNvPr id="1026" name="Picture 2" descr="Git分支"/>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51742" y="2659950"/>
            <a:ext cx="5816600" cy="34899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l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分支与合并</a:t>
            </a:r>
            <a:endParaRPr kumimoji="1" lang="zh-CN" altLang="en-US" dirty="0"/>
          </a:p>
        </p:txBody>
      </p:sp>
      <p:sp>
        <p:nvSpPr>
          <p:cNvPr id="3" name="内容占位符 2"/>
          <p:cNvSpPr>
            <a:spLocks noGrp="1"/>
          </p:cNvSpPr>
          <p:nvPr>
            <p:ph idx="1"/>
          </p:nvPr>
        </p:nvSpPr>
        <p:spPr/>
        <p:txBody>
          <a:bodyPr/>
          <a:lstStyle/>
          <a:p>
            <a:r>
              <a:rPr kumimoji="1" lang="zh-CN" altLang="en-US" dirty="0"/>
              <a:t>使用分支的原因</a:t>
            </a:r>
            <a:endParaRPr kumimoji="1" lang="en-US" altLang="zh-CN" dirty="0"/>
          </a:p>
          <a:p>
            <a:pPr lvl="1"/>
            <a:r>
              <a:rPr kumimoji="1" lang="zh-CN" altLang="en-US" dirty="0"/>
              <a:t>物理上：因系统物理配置而分支</a:t>
            </a:r>
            <a:endParaRPr kumimoji="1" lang="en-US" altLang="zh-CN" dirty="0"/>
          </a:p>
          <a:p>
            <a:pPr lvl="1"/>
            <a:r>
              <a:rPr kumimoji="1" lang="zh-CN" altLang="en-US" dirty="0"/>
              <a:t>功能上：因系统功能配置而分支</a:t>
            </a:r>
            <a:endParaRPr kumimoji="1" lang="en-US" altLang="zh-CN" dirty="0"/>
          </a:p>
          <a:p>
            <a:pPr lvl="1"/>
            <a:r>
              <a:rPr kumimoji="1" lang="zh-CN" altLang="en-US" dirty="0"/>
              <a:t>环境上：因系统运行环境而分支</a:t>
            </a:r>
            <a:endParaRPr kumimoji="1" lang="en-US" altLang="zh-CN" dirty="0"/>
          </a:p>
          <a:p>
            <a:pPr lvl="1"/>
            <a:r>
              <a:rPr kumimoji="1" lang="zh-CN" altLang="en-US" dirty="0"/>
              <a:t>组织上：因团队的工作分工而分支</a:t>
            </a:r>
            <a:endParaRPr kumimoji="1" lang="en-US" altLang="zh-CN" dirty="0"/>
          </a:p>
          <a:p>
            <a:pPr lvl="1"/>
            <a:r>
              <a:rPr kumimoji="1" lang="zh-CN" altLang="en-US" dirty="0"/>
              <a:t>流程上：</a:t>
            </a:r>
            <a:r>
              <a:rPr kumimoji="1" lang="zh-CN" altLang="en-US" dirty="0"/>
              <a:t>因团队的工作行为而分支</a:t>
            </a:r>
            <a:endParaRPr kumimoji="1" lang="en-US" altLang="zh-CN" dirty="0"/>
          </a:p>
          <a:p>
            <a:r>
              <a:rPr kumimoji="1" lang="zh-CN" altLang="en-US" dirty="0"/>
              <a:t>这些分支并不相互排斥</a:t>
            </a:r>
            <a:endParaRPr kumimoji="1" lang="zh-CN" altLang="en-US" dirty="0"/>
          </a:p>
        </p:txBody>
      </p:sp>
    </p:spTree>
  </p:cSld>
  <p:clrMapOvr>
    <a:masterClrMapping/>
  </p:clrMapOvr>
  <p:transition>
    <p:pull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分支与合并</a:t>
            </a:r>
            <a:endParaRPr kumimoji="1" lang="zh-CN" altLang="en-US" dirty="0"/>
          </a:p>
        </p:txBody>
      </p:sp>
      <p:sp>
        <p:nvSpPr>
          <p:cNvPr id="3" name="内容占位符 2"/>
          <p:cNvSpPr>
            <a:spLocks noGrp="1"/>
          </p:cNvSpPr>
          <p:nvPr>
            <p:ph idx="1"/>
          </p:nvPr>
        </p:nvSpPr>
        <p:spPr/>
        <p:txBody>
          <a:bodyPr/>
          <a:lstStyle/>
          <a:p>
            <a:r>
              <a:rPr kumimoji="1" lang="zh-CN" altLang="en-US" dirty="0"/>
              <a:t>分支的优点在于在代码演进的过程中，可以认为各个分支完全独立，可以完全忽略其他分支的存在。</a:t>
            </a:r>
            <a:endParaRPr kumimoji="1" lang="en-US" altLang="zh-CN" dirty="0"/>
          </a:p>
          <a:p>
            <a:r>
              <a:rPr kumimoji="1" lang="zh-CN" altLang="en-US" dirty="0"/>
              <a:t>分支看上去能迅速避免一些问题，但使用不当会引发另外的问题。</a:t>
            </a:r>
            <a:endParaRPr kumimoji="1" lang="en-US" altLang="zh-CN" dirty="0"/>
          </a:p>
          <a:p>
            <a:pPr lvl="1"/>
            <a:r>
              <a:rPr kumimoji="1" lang="zh-CN" altLang="en-US" dirty="0"/>
              <a:t>如何管理分支的内容</a:t>
            </a:r>
            <a:endParaRPr kumimoji="1" lang="en-US" altLang="zh-CN" dirty="0"/>
          </a:p>
          <a:p>
            <a:pPr lvl="1"/>
            <a:r>
              <a:rPr kumimoji="1" lang="zh-CN" altLang="en-US" dirty="0"/>
              <a:t>如何管理分支的合并</a:t>
            </a:r>
            <a:endParaRPr kumimoji="1" lang="en-US" altLang="zh-CN" dirty="0"/>
          </a:p>
        </p:txBody>
      </p:sp>
    </p:spTree>
  </p:cSld>
  <p:clrMapOvr>
    <a:masterClrMapping/>
  </p:clrMapOvr>
  <p:transition>
    <p:pull dir="l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分支与合并</a:t>
            </a:r>
            <a:endParaRPr kumimoji="1" lang="zh-CN" altLang="en-US" dirty="0"/>
          </a:p>
        </p:txBody>
      </p:sp>
      <p:sp>
        <p:nvSpPr>
          <p:cNvPr id="3" name="内容占位符 2"/>
          <p:cNvSpPr>
            <a:spLocks noGrp="1"/>
          </p:cNvSpPr>
          <p:nvPr>
            <p:ph idx="1"/>
          </p:nvPr>
        </p:nvSpPr>
        <p:spPr/>
        <p:txBody>
          <a:bodyPr/>
          <a:lstStyle/>
          <a:p>
            <a:r>
              <a:rPr kumimoji="1" lang="zh-CN" altLang="en-US" dirty="0"/>
              <a:t>分支管理不善的案例</a:t>
            </a:r>
            <a:endParaRPr kumimoji="1" lang="en-US" altLang="zh-CN" dirty="0"/>
          </a:p>
          <a:p>
            <a:pPr lvl="1"/>
            <a:r>
              <a:rPr kumimoji="1" lang="zh-CN" altLang="en-US" dirty="0"/>
              <a:t>分支命名不规范：各团队在创建分支时，没有遵循统一的命名规则。这导致后期合并和追踪分支时出现了混乱。例如，有的团队使用“feature-xxx”来命名特性分支，而有的团队则使用“dev-xxx”。当需要查找或合并某个特定分支时，团队成员需要花费大量时间来确定正确的分支名称。</a:t>
            </a:r>
            <a:endParaRPr kumimoji="1" lang="zh-CN" altLang="en-US" dirty="0"/>
          </a:p>
          <a:p>
            <a:pPr lvl="1"/>
            <a:r>
              <a:rPr kumimoji="1" lang="zh-CN" altLang="en-US" dirty="0"/>
              <a:t>分支过多且未定期清理：随着项目的进行，各团队不断创建新的分支来开发新功能或修复问题。然而，许多分支在完成开发任务后并未被及时合并或删除。这导致项目中积累了大量的过时或不再需要的分支，增加了管理的复杂性。</a:t>
            </a:r>
            <a:endParaRPr kumimoji="1" lang="zh-CN" altLang="en-US" dirty="0"/>
          </a:p>
        </p:txBody>
      </p:sp>
    </p:spTree>
  </p:cSld>
  <p:clrMapOvr>
    <a:masterClrMapping/>
  </p:clrMapOvr>
  <p:transition>
    <p:pull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分支与合并</a:t>
            </a:r>
            <a:endParaRPr kumimoji="1" lang="zh-CN" altLang="en-US" dirty="0"/>
          </a:p>
        </p:txBody>
      </p:sp>
      <p:sp>
        <p:nvSpPr>
          <p:cNvPr id="3" name="内容占位符 2"/>
          <p:cNvSpPr>
            <a:spLocks noGrp="1"/>
          </p:cNvSpPr>
          <p:nvPr>
            <p:ph idx="1"/>
          </p:nvPr>
        </p:nvSpPr>
        <p:spPr/>
        <p:txBody>
          <a:bodyPr/>
          <a:lstStyle/>
          <a:p>
            <a:r>
              <a:rPr kumimoji="1" lang="zh-CN" altLang="en-US" dirty="0"/>
              <a:t>分支的另一个问题是：创建分支通常意味着需要合并，而这是一个容易导致混乱的过程。</a:t>
            </a:r>
            <a:endParaRPr kumimoji="1" lang="en-US" altLang="zh-CN" dirty="0"/>
          </a:p>
          <a:p>
            <a:pPr lvl="1"/>
            <a:r>
              <a:rPr kumimoji="1" lang="zh-CN" altLang="en-US" dirty="0"/>
              <a:t>在现实中，除非是为了预研，验证而创建的分支，否则总是需要将这个分支的变更合并到另一个分支上。</a:t>
            </a:r>
            <a:endParaRPr kumimoji="1" lang="en-US" altLang="zh-CN" dirty="0"/>
          </a:p>
          <a:p>
            <a:pPr lvl="1"/>
            <a:r>
              <a:rPr kumimoji="1" lang="zh-CN" altLang="en-US" dirty="0"/>
              <a:t>分支把问题延迟到了合并的时刻。</a:t>
            </a:r>
            <a:endParaRPr kumimoji="1" lang="en-US" altLang="zh-CN" dirty="0"/>
          </a:p>
          <a:p>
            <a:pPr lvl="1"/>
            <a:endParaRPr kumimoji="1" lang="zh-CN" altLang="en-US" dirty="0"/>
          </a:p>
        </p:txBody>
      </p:sp>
    </p:spTree>
  </p:cSld>
  <p:clrMapOvr>
    <a:masterClrMapping/>
  </p:clrMapOvr>
  <p:transition>
    <p:pull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合并：可能的问题</a:t>
            </a:r>
            <a:endParaRPr kumimoji="1" lang="zh-CN" altLang="en-US" dirty="0"/>
          </a:p>
        </p:txBody>
      </p:sp>
      <p:sp>
        <p:nvSpPr>
          <p:cNvPr id="3" name="内容占位符 2"/>
          <p:cNvSpPr>
            <a:spLocks noGrp="1"/>
          </p:cNvSpPr>
          <p:nvPr>
            <p:ph idx="1"/>
          </p:nvPr>
        </p:nvSpPr>
        <p:spPr/>
        <p:txBody>
          <a:bodyPr/>
          <a:lstStyle/>
          <a:p>
            <a:r>
              <a:rPr kumimoji="1" lang="zh-CN" altLang="en-US" dirty="0"/>
              <a:t>合并可能带来如下的问题：</a:t>
            </a:r>
            <a:endParaRPr kumimoji="1" lang="en-US" altLang="zh-CN" dirty="0"/>
          </a:p>
          <a:p>
            <a:pPr marL="0" indent="0">
              <a:buNone/>
            </a:pPr>
            <a:endParaRPr kumimoji="1" lang="en-US" altLang="zh-CN" dirty="0"/>
          </a:p>
          <a:p>
            <a:pPr lvl="1"/>
            <a:r>
              <a:rPr kumimoji="1" lang="zh-CN" altLang="en-US" dirty="0"/>
              <a:t>修改对象的直接冲突：</a:t>
            </a:r>
            <a:endParaRPr kumimoji="1" lang="en-US" altLang="zh-CN" dirty="0"/>
          </a:p>
          <a:p>
            <a:pPr lvl="2"/>
            <a:r>
              <a:rPr kumimoji="1" lang="zh-CN" altLang="en-US" dirty="0"/>
              <a:t>修改了同一行的内容，需要人工判定冲突，确定采用哪个版本的修改。</a:t>
            </a:r>
            <a:endParaRPr kumimoji="1" lang="en-US" altLang="zh-CN" dirty="0"/>
          </a:p>
          <a:p>
            <a:pPr lvl="1"/>
            <a:r>
              <a:rPr kumimoji="1" lang="zh-CN" altLang="en-US" dirty="0"/>
              <a:t>即便是修改对象没有直接冲突，版本管理工具完成了自动合并，但是依然会出现：</a:t>
            </a:r>
            <a:endParaRPr kumimoji="1" lang="en-US" altLang="zh-CN" dirty="0"/>
          </a:p>
          <a:p>
            <a:pPr lvl="2"/>
            <a:r>
              <a:rPr kumimoji="1" lang="zh-CN" altLang="en-US" dirty="0"/>
              <a:t>编译错</a:t>
            </a:r>
            <a:endParaRPr kumimoji="1" lang="en-US" altLang="zh-CN" dirty="0"/>
          </a:p>
          <a:p>
            <a:pPr lvl="2"/>
            <a:r>
              <a:rPr kumimoji="1" lang="zh-CN" altLang="en-US" dirty="0"/>
              <a:t>运行错误</a:t>
            </a:r>
            <a:endParaRPr kumimoji="1" lang="en-US" altLang="zh-CN" dirty="0"/>
          </a:p>
          <a:p>
            <a:pPr lvl="3"/>
            <a:r>
              <a:rPr kumimoji="1" lang="zh-CN" altLang="en-US" dirty="0"/>
              <a:t>没有自动测试会很容易让这种错误进入最终的产品</a:t>
            </a:r>
            <a:endParaRPr kumimoji="1" lang="en-US" altLang="zh-CN" dirty="0"/>
          </a:p>
          <a:p>
            <a:pPr lvl="1"/>
            <a:endParaRPr kumimoji="1" lang="en-US" altLang="zh-CN" dirty="0"/>
          </a:p>
          <a:p>
            <a:endParaRPr kumimoji="1" lang="zh-CN" altLang="en-US" dirty="0"/>
          </a:p>
        </p:txBody>
      </p:sp>
    </p:spTree>
  </p:cSld>
  <p:clrMapOvr>
    <a:masterClrMapping/>
  </p:clrMapOvr>
  <p:transition>
    <p:pull dir="l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分支与合并</a:t>
            </a:r>
            <a:endParaRPr kumimoji="1" lang="zh-CN" altLang="en-US" dirty="0"/>
          </a:p>
        </p:txBody>
      </p:sp>
      <p:sp>
        <p:nvSpPr>
          <p:cNvPr id="3" name="内容占位符 2"/>
          <p:cNvSpPr>
            <a:spLocks noGrp="1"/>
          </p:cNvSpPr>
          <p:nvPr>
            <p:ph idx="1"/>
          </p:nvPr>
        </p:nvSpPr>
        <p:spPr/>
        <p:txBody>
          <a:bodyPr/>
          <a:lstStyle/>
          <a:p>
            <a:r>
              <a:rPr kumimoji="1" lang="zh-CN" altLang="en-US" dirty="0"/>
              <a:t>确定一种分支策略之前，需要确保有一个合理的合并流程来支持合并，确保合并是安全的，并且尽可能减少合并的代价。</a:t>
            </a:r>
            <a:endParaRPr kumimoji="1" lang="en-US" altLang="zh-CN" dirty="0"/>
          </a:p>
          <a:p>
            <a:pPr lvl="1"/>
            <a:r>
              <a:rPr kumimoji="1" lang="zh-CN" altLang="en-US" dirty="0"/>
              <a:t>比如一个流程规定了主干上的代码由开发人员控制，而分支由运维人员创建，并经审核后合后才能合并回主干。</a:t>
            </a:r>
            <a:endParaRPr kumimoji="1" lang="en-US" altLang="zh-CN" dirty="0"/>
          </a:p>
          <a:p>
            <a:endParaRPr kumimoji="1" lang="zh-CN" altLang="en-US" dirty="0"/>
          </a:p>
        </p:txBody>
      </p:sp>
    </p:spTree>
  </p:cSld>
  <p:clrMapOvr>
    <a:masterClrMapping/>
  </p:clrMapOvr>
  <p:transition>
    <p:pull dir="l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创建分支的模式</a:t>
            </a:r>
            <a:endParaRPr kumimoji="1" lang="zh-CN" altLang="en-US" dirty="0"/>
          </a:p>
        </p:txBody>
      </p:sp>
      <p:sp>
        <p:nvSpPr>
          <p:cNvPr id="3" name="内容占位符 2"/>
          <p:cNvSpPr>
            <a:spLocks noGrp="1"/>
          </p:cNvSpPr>
          <p:nvPr>
            <p:ph idx="1"/>
          </p:nvPr>
        </p:nvSpPr>
        <p:spPr/>
        <p:txBody>
          <a:bodyPr/>
          <a:lstStyle/>
          <a:p>
            <a:r>
              <a:rPr kumimoji="1" lang="en-US" altLang="zh-CN" dirty="0"/>
              <a:t>Early</a:t>
            </a:r>
            <a:r>
              <a:rPr kumimoji="1" lang="zh-CN" altLang="en-US" dirty="0"/>
              <a:t> </a:t>
            </a:r>
            <a:r>
              <a:rPr kumimoji="1" lang="en-US" altLang="zh-CN" dirty="0"/>
              <a:t>Branching</a:t>
            </a:r>
            <a:endParaRPr kumimoji="1" lang="en-US" altLang="zh-CN" dirty="0"/>
          </a:p>
          <a:p>
            <a:pPr lvl="1"/>
            <a:r>
              <a:rPr kumimoji="1" lang="zh-CN" altLang="en-US" dirty="0"/>
              <a:t>对每一个新的功能，一开始就创建一个独立的分支。</a:t>
            </a:r>
            <a:endParaRPr kumimoji="1" lang="en-US" altLang="zh-CN" dirty="0"/>
          </a:p>
          <a:p>
            <a:pPr lvl="1"/>
            <a:r>
              <a:rPr kumimoji="1" lang="zh-CN" altLang="en-US" dirty="0"/>
              <a:t>在新功能完全完成之后，或者是系统发布之前，合并至主线。</a:t>
            </a:r>
            <a:endParaRPr kumimoji="1" lang="en-US" altLang="zh-CN" dirty="0"/>
          </a:p>
          <a:p>
            <a:pPr lvl="1"/>
            <a:r>
              <a:rPr kumimoji="1" lang="zh-CN" altLang="en-US" dirty="0"/>
              <a:t>问题：需要更多的工作来跟踪所有的分支，合并的痛苦只是被延迟。</a:t>
            </a:r>
            <a:endParaRPr kumimoji="1" lang="en-US" altLang="zh-CN" dirty="0"/>
          </a:p>
          <a:p>
            <a:r>
              <a:rPr kumimoji="1" lang="en-US" altLang="zh-CN" dirty="0"/>
              <a:t>Deferred</a:t>
            </a:r>
            <a:r>
              <a:rPr kumimoji="1" lang="zh-CN" altLang="en-US" dirty="0"/>
              <a:t> </a:t>
            </a:r>
            <a:r>
              <a:rPr kumimoji="1" lang="en-US" altLang="zh-CN" dirty="0"/>
              <a:t>Branching</a:t>
            </a:r>
            <a:endParaRPr kumimoji="1" lang="en-US" altLang="zh-CN" dirty="0"/>
          </a:p>
          <a:p>
            <a:pPr lvl="1"/>
            <a:r>
              <a:rPr kumimoji="1" lang="zh-CN" altLang="en-US" dirty="0"/>
              <a:t>尽可能在主线上开发，只有在发布的时候创建日后维护该发布的分支。</a:t>
            </a:r>
            <a:endParaRPr kumimoji="1" lang="en-US" altLang="zh-CN" dirty="0"/>
          </a:p>
          <a:p>
            <a:pPr lvl="1"/>
            <a:endParaRPr kumimoji="1" lang="en-US" altLang="zh-CN" dirty="0"/>
          </a:p>
        </p:txBody>
      </p:sp>
    </p:spTree>
  </p:cSld>
  <p:clrMapOvr>
    <a:masterClrMapping/>
  </p:clrMapOvr>
  <p:transition>
    <p:pull dir="l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分支与持续集成</a:t>
            </a:r>
            <a:endParaRPr kumimoji="1" lang="zh-CN" altLang="en-US" dirty="0"/>
          </a:p>
        </p:txBody>
      </p:sp>
      <p:sp>
        <p:nvSpPr>
          <p:cNvPr id="3" name="内容占位符 2"/>
          <p:cNvSpPr>
            <a:spLocks noGrp="1"/>
          </p:cNvSpPr>
          <p:nvPr>
            <p:ph idx="1"/>
          </p:nvPr>
        </p:nvSpPr>
        <p:spPr/>
        <p:txBody>
          <a:bodyPr/>
          <a:lstStyle/>
          <a:p>
            <a:r>
              <a:rPr kumimoji="1" lang="zh-CN" altLang="en-US" dirty="0"/>
              <a:t>分支与持续集成之间存在着一种矛盾的关系</a:t>
            </a:r>
            <a:endParaRPr kumimoji="1" lang="en-US" altLang="zh-CN" dirty="0"/>
          </a:p>
          <a:p>
            <a:pPr lvl="1"/>
            <a:r>
              <a:rPr kumimoji="1" lang="zh-CN" altLang="en-US" dirty="0"/>
              <a:t>采用不恰当的分支策略，对导致大量的分支。</a:t>
            </a:r>
            <a:endParaRPr kumimoji="1" lang="en-US" altLang="zh-CN" dirty="0"/>
          </a:p>
          <a:p>
            <a:pPr lvl="1"/>
            <a:r>
              <a:rPr kumimoji="1" lang="zh-CN" altLang="en-US" dirty="0"/>
              <a:t>如果一个团队的不同成员持续较长时间在不同的分支上工作，那就不是在做持续集成。</a:t>
            </a:r>
            <a:endParaRPr kumimoji="1" lang="en-US" altLang="zh-CN" dirty="0"/>
          </a:p>
          <a:p>
            <a:pPr lvl="1"/>
            <a:r>
              <a:rPr kumimoji="1" lang="zh-CN" altLang="en-US" dirty="0"/>
              <a:t>除非每天都将分支进行一次合并。</a:t>
            </a:r>
            <a:endParaRPr kumimoji="1" lang="en-US" altLang="zh-CN" dirty="0"/>
          </a:p>
        </p:txBody>
      </p:sp>
    </p:spTree>
  </p:cSld>
  <p:clrMapOvr>
    <a:masterClrMapping/>
  </p:clrMapOvr>
  <p:transition>
    <p:pull dir="l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分支与持续集成</a:t>
            </a:r>
            <a:endParaRPr kumimoji="1" lang="zh-CN" altLang="en-US" dirty="0"/>
          </a:p>
        </p:txBody>
      </p:sp>
      <p:sp>
        <p:nvSpPr>
          <p:cNvPr id="3" name="内容占位符 2"/>
          <p:cNvSpPr>
            <a:spLocks noGrp="1"/>
          </p:cNvSpPr>
          <p:nvPr>
            <p:ph idx="1"/>
          </p:nvPr>
        </p:nvSpPr>
        <p:spPr/>
        <p:txBody>
          <a:bodyPr/>
          <a:lstStyle/>
          <a:p>
            <a:r>
              <a:rPr kumimoji="1" lang="zh-CN" altLang="en-US" dirty="0"/>
              <a:t>下面是一个分支管理失败的案例：</a:t>
            </a:r>
            <a:endParaRPr kumimoji="1" lang="en-US" altLang="zh-CN" dirty="0"/>
          </a:p>
          <a:p>
            <a:pPr lvl="1"/>
            <a:r>
              <a:rPr kumimoji="1" lang="zh-CN" altLang="en-US" dirty="0"/>
              <a:t>大量的，长时间游离的分支，导致不可部署的情况较多</a:t>
            </a:r>
            <a:endParaRPr kumimoji="1" lang="en-US" altLang="zh-CN" dirty="0"/>
          </a:p>
          <a:p>
            <a:endParaRPr kumimoji="1" lang="zh-CN" altLang="en-US" dirty="0"/>
          </a:p>
        </p:txBody>
      </p:sp>
      <p:pic>
        <p:nvPicPr>
          <p:cNvPr id="4" name="图片 3"/>
          <p:cNvPicPr>
            <a:picLocks noChangeAspect="1"/>
          </p:cNvPicPr>
          <p:nvPr/>
        </p:nvPicPr>
        <p:blipFill>
          <a:blip r:embed="rId1"/>
          <a:stretch>
            <a:fillRect/>
          </a:stretch>
        </p:blipFill>
        <p:spPr>
          <a:xfrm>
            <a:off x="98854" y="2426420"/>
            <a:ext cx="8686800" cy="4020870"/>
          </a:xfrm>
          <a:prstGeom prst="rect">
            <a:avLst/>
          </a:prstGeom>
        </p:spPr>
      </p:pic>
    </p:spTree>
  </p:cSld>
  <p:clrMapOvr>
    <a:masterClrMapping/>
  </p:clrMapOvr>
  <p:transition>
    <p:pull dir="l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分支与持续集成</a:t>
            </a:r>
            <a:endParaRPr kumimoji="1" lang="zh-CN" altLang="en-US" dirty="0"/>
          </a:p>
        </p:txBody>
      </p:sp>
      <p:sp>
        <p:nvSpPr>
          <p:cNvPr id="3" name="内容占位符 2"/>
          <p:cNvSpPr>
            <a:spLocks noGrp="1"/>
          </p:cNvSpPr>
          <p:nvPr>
            <p:ph idx="1"/>
          </p:nvPr>
        </p:nvSpPr>
        <p:spPr/>
        <p:txBody>
          <a:bodyPr/>
          <a:lstStyle/>
          <a:p>
            <a:r>
              <a:rPr kumimoji="1" lang="zh-CN" altLang="en-US" dirty="0"/>
              <a:t>下面就是一个可控的分支策略</a:t>
            </a:r>
            <a:endParaRPr kumimoji="1" lang="en-US" altLang="zh-CN" dirty="0"/>
          </a:p>
          <a:p>
            <a:pPr lvl="1"/>
            <a:r>
              <a:rPr kumimoji="1" lang="zh-CN" altLang="en-US" dirty="0"/>
              <a:t>因为及时进行合并，几乎没有不可部署的情况</a:t>
            </a:r>
            <a:endParaRPr kumimoji="1" lang="en-US" altLang="zh-CN" dirty="0"/>
          </a:p>
          <a:p>
            <a:endParaRPr kumimoji="1" lang="zh-CN" altLang="en-US" dirty="0"/>
          </a:p>
        </p:txBody>
      </p:sp>
      <p:pic>
        <p:nvPicPr>
          <p:cNvPr id="4" name="图片 3"/>
          <p:cNvPicPr>
            <a:picLocks noChangeAspect="1"/>
          </p:cNvPicPr>
          <p:nvPr/>
        </p:nvPicPr>
        <p:blipFill>
          <a:blip r:embed="rId1"/>
          <a:stretch>
            <a:fillRect/>
          </a:stretch>
        </p:blipFill>
        <p:spPr>
          <a:xfrm>
            <a:off x="0" y="3275526"/>
            <a:ext cx="9144000" cy="2407596"/>
          </a:xfrm>
          <a:prstGeom prst="rect">
            <a:avLst/>
          </a:prstGeom>
        </p:spPr>
      </p:pic>
    </p:spTree>
  </p:cSld>
  <p:clrMapOvr>
    <a:masterClrMapping/>
  </p:clrMapOvr>
  <p:transition>
    <p:pull dir="l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大纲</a:t>
            </a:r>
            <a:endParaRPr kumimoji="1" lang="zh-CN" altLang="en-US" dirty="0"/>
          </a:p>
        </p:txBody>
      </p:sp>
      <p:sp>
        <p:nvSpPr>
          <p:cNvPr id="3" name="内容占位符 2"/>
          <p:cNvSpPr>
            <a:spLocks noGrp="1"/>
          </p:cNvSpPr>
          <p:nvPr>
            <p:ph idx="1"/>
          </p:nvPr>
        </p:nvSpPr>
        <p:spPr/>
        <p:txBody>
          <a:bodyPr/>
          <a:lstStyle/>
          <a:p>
            <a:r>
              <a:rPr lang="zh-CN" altLang="en-US" sz="2400" dirty="0"/>
              <a:t>版本控制概述</a:t>
            </a:r>
            <a:endParaRPr lang="en-US" altLang="zh-CN" sz="2400" dirty="0"/>
          </a:p>
          <a:p>
            <a:r>
              <a:rPr kumimoji="1" lang="zh-CN" altLang="en-US" sz="2400" dirty="0"/>
              <a:t>悲观锁与乐观锁</a:t>
            </a:r>
            <a:endParaRPr lang="en-US" altLang="zh-CN" sz="2400" dirty="0"/>
          </a:p>
          <a:p>
            <a:r>
              <a:rPr lang="zh-CN" altLang="en-US" sz="2400" dirty="0"/>
              <a:t>集中与分布式版本管理</a:t>
            </a:r>
            <a:endParaRPr kumimoji="1" lang="en-US" altLang="zh-CN" sz="2400" dirty="0"/>
          </a:p>
          <a:p>
            <a:r>
              <a:rPr kumimoji="1" lang="zh-CN" altLang="en-US" sz="2400" dirty="0"/>
              <a:t>分支与合并</a:t>
            </a:r>
            <a:endParaRPr lang="en-US" altLang="zh-CN" sz="2400" dirty="0"/>
          </a:p>
          <a:p>
            <a:r>
              <a:rPr lang="zh-CN" altLang="en-US" sz="2400" b="1" dirty="0"/>
              <a:t>分支模式</a:t>
            </a:r>
            <a:endParaRPr lang="en-US" altLang="zh-CN" sz="2400" b="1" dirty="0"/>
          </a:p>
          <a:p>
            <a:pPr lvl="1"/>
            <a:r>
              <a:rPr lang="zh-CN" altLang="en-US" sz="2000" dirty="0"/>
              <a:t>主干开发，主干发布</a:t>
            </a:r>
            <a:endParaRPr lang="en-US" altLang="zh-CN" sz="2000" dirty="0"/>
          </a:p>
          <a:p>
            <a:pPr lvl="1"/>
            <a:r>
              <a:rPr lang="zh-CN" altLang="en-US" sz="2000" dirty="0"/>
              <a:t>主干开发，分支发布</a:t>
            </a:r>
            <a:endParaRPr lang="en-US" altLang="zh-CN" sz="2000" dirty="0"/>
          </a:p>
          <a:p>
            <a:pPr lvl="1"/>
            <a:r>
              <a:rPr lang="zh-CN" altLang="en-US" sz="2000" dirty="0"/>
              <a:t>分支开发，主干发布</a:t>
            </a:r>
            <a:endParaRPr lang="en-US" altLang="zh-CN" sz="2000" dirty="0"/>
          </a:p>
          <a:p>
            <a:pPr lvl="1"/>
            <a:r>
              <a:rPr lang="zh-CN" altLang="en-US" sz="2000" dirty="0"/>
              <a:t>三驾马车分支模式</a:t>
            </a:r>
            <a:endParaRPr lang="en-US" altLang="zh-CN" sz="2000" dirty="0"/>
          </a:p>
          <a:p>
            <a:pPr lvl="1"/>
            <a:r>
              <a:rPr lang="en-US" altLang="zh-CN" sz="2000" dirty="0" err="1"/>
              <a:t>Gitflow</a:t>
            </a:r>
            <a:r>
              <a:rPr lang="zh-CN" altLang="en-US" sz="2000" dirty="0"/>
              <a:t>分支模式</a:t>
            </a:r>
            <a:endParaRPr lang="en-US" altLang="zh-CN" sz="2000" dirty="0"/>
          </a:p>
          <a:p>
            <a:pPr lvl="1"/>
            <a:r>
              <a:rPr lang="en-US" altLang="zh-CN" sz="2000" dirty="0" err="1"/>
              <a:t>GithubFlow</a:t>
            </a:r>
            <a:r>
              <a:rPr lang="zh-CN" altLang="en-US" sz="2000" dirty="0"/>
              <a:t>分支模式</a:t>
            </a:r>
            <a:endParaRPr lang="en-US" altLang="zh-CN" sz="2000" dirty="0"/>
          </a:p>
          <a:p>
            <a:r>
              <a:rPr lang="zh-CN" altLang="en-US" sz="2400" dirty="0"/>
              <a:t>在</a:t>
            </a:r>
            <a:r>
              <a:rPr lang="en-US" altLang="zh-CN" sz="2400" dirty="0"/>
              <a:t>Git</a:t>
            </a:r>
            <a:r>
              <a:rPr lang="zh-CN" altLang="en-US" sz="2400" dirty="0"/>
              <a:t>中管理分支与合并</a:t>
            </a:r>
            <a:endParaRPr lang="zh-CN" altLang="en-US" sz="2400" dirty="0"/>
          </a:p>
          <a:p>
            <a:pPr lvl="1"/>
            <a:endParaRPr lang="zh-CN" altLang="en-US" sz="2000" dirty="0"/>
          </a:p>
        </p:txBody>
      </p:sp>
    </p:spTree>
  </p:cSld>
  <p:clrMapOvr>
    <a:masterClrMapping/>
  </p:clrMapOvr>
  <p:transition>
    <p:pull dir="l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常见的分支开发模式</a:t>
            </a:r>
            <a:endParaRPr kumimoji="1" lang="zh-CN" altLang="en-US" dirty="0"/>
          </a:p>
        </p:txBody>
      </p:sp>
      <p:sp>
        <p:nvSpPr>
          <p:cNvPr id="3" name="内容占位符 2"/>
          <p:cNvSpPr>
            <a:spLocks noGrp="1"/>
          </p:cNvSpPr>
          <p:nvPr>
            <p:ph idx="1"/>
          </p:nvPr>
        </p:nvSpPr>
        <p:spPr/>
        <p:txBody>
          <a:bodyPr/>
          <a:lstStyle/>
          <a:p>
            <a:r>
              <a:rPr kumimoji="1" lang="zh-CN" altLang="en-US" dirty="0"/>
              <a:t>主干开发，主干发布</a:t>
            </a:r>
            <a:endParaRPr kumimoji="1" lang="en-US" altLang="zh-CN" dirty="0"/>
          </a:p>
          <a:p>
            <a:pPr lvl="1"/>
            <a:r>
              <a:rPr kumimoji="1" lang="en-US" altLang="zh-CN" dirty="0"/>
              <a:t>Trunk-based</a:t>
            </a:r>
            <a:r>
              <a:rPr kumimoji="1" lang="zh-CN" altLang="en-US" dirty="0"/>
              <a:t> </a:t>
            </a:r>
            <a:r>
              <a:rPr kumimoji="1" lang="en-US" altLang="zh-CN" dirty="0"/>
              <a:t>Development</a:t>
            </a:r>
            <a:r>
              <a:rPr kumimoji="1" lang="zh-CN" altLang="en-US" dirty="0"/>
              <a:t> </a:t>
            </a:r>
            <a:r>
              <a:rPr kumimoji="1" lang="en-US" altLang="zh-CN" dirty="0"/>
              <a:t>&amp;</a:t>
            </a:r>
            <a:r>
              <a:rPr kumimoji="1" lang="zh-CN" altLang="en-US" dirty="0"/>
              <a:t> </a:t>
            </a:r>
            <a:r>
              <a:rPr kumimoji="1" lang="en-US" altLang="zh-CN" dirty="0"/>
              <a:t>Release</a:t>
            </a:r>
            <a:endParaRPr kumimoji="1" lang="en-US" altLang="zh-CN" dirty="0"/>
          </a:p>
          <a:p>
            <a:r>
              <a:rPr kumimoji="1" lang="zh-CN" altLang="en-US" dirty="0"/>
              <a:t>主干开发，分支发布</a:t>
            </a:r>
            <a:endParaRPr kumimoji="1" lang="en-US" altLang="zh-CN" dirty="0"/>
          </a:p>
          <a:p>
            <a:pPr lvl="1"/>
            <a:r>
              <a:rPr kumimoji="1" lang="en-US" altLang="zh-CN" dirty="0"/>
              <a:t>Trunk-based</a:t>
            </a:r>
            <a:r>
              <a:rPr kumimoji="1" lang="zh-CN" altLang="en-US" dirty="0"/>
              <a:t> </a:t>
            </a:r>
            <a:r>
              <a:rPr kumimoji="1" lang="en-US" altLang="zh-CN" dirty="0"/>
              <a:t>Development</a:t>
            </a:r>
            <a:r>
              <a:rPr kumimoji="1" lang="zh-CN" altLang="en-US" dirty="0"/>
              <a:t> </a:t>
            </a:r>
            <a:r>
              <a:rPr kumimoji="1" lang="en-US" altLang="zh-CN" dirty="0"/>
              <a:t>&amp;</a:t>
            </a:r>
            <a:r>
              <a:rPr kumimoji="1" lang="zh-CN" altLang="en-US" dirty="0"/>
              <a:t> </a:t>
            </a:r>
            <a:r>
              <a:rPr kumimoji="1" lang="en-US" altLang="zh-CN" dirty="0"/>
              <a:t>Branch-based</a:t>
            </a:r>
            <a:r>
              <a:rPr kumimoji="1" lang="zh-CN" altLang="en-US" dirty="0"/>
              <a:t> </a:t>
            </a:r>
            <a:r>
              <a:rPr kumimoji="1" lang="en-US" altLang="zh-CN" dirty="0"/>
              <a:t>Release</a:t>
            </a:r>
            <a:endParaRPr kumimoji="1" lang="en-US" altLang="zh-CN" dirty="0"/>
          </a:p>
          <a:p>
            <a:r>
              <a:rPr kumimoji="1" lang="zh-CN" altLang="en-US" dirty="0"/>
              <a:t>分支开发，主干发布</a:t>
            </a:r>
            <a:endParaRPr kumimoji="1" lang="en-US" altLang="zh-CN" dirty="0"/>
          </a:p>
          <a:p>
            <a:pPr lvl="1"/>
            <a:r>
              <a:rPr kumimoji="1" lang="en-US" altLang="zh-CN" dirty="0"/>
              <a:t>Branch-based</a:t>
            </a:r>
            <a:r>
              <a:rPr kumimoji="1" lang="zh-CN" altLang="en-US" dirty="0"/>
              <a:t> </a:t>
            </a:r>
            <a:r>
              <a:rPr kumimoji="1" lang="en-US" altLang="zh-CN" dirty="0"/>
              <a:t>Development</a:t>
            </a:r>
            <a:r>
              <a:rPr kumimoji="1" lang="zh-CN" altLang="en-US" dirty="0"/>
              <a:t> </a:t>
            </a:r>
            <a:r>
              <a:rPr kumimoji="1" lang="en-US" altLang="zh-CN" dirty="0"/>
              <a:t>&amp;</a:t>
            </a:r>
            <a:r>
              <a:rPr kumimoji="1" lang="zh-CN" altLang="en-US" dirty="0"/>
              <a:t> </a:t>
            </a:r>
            <a:r>
              <a:rPr kumimoji="1" lang="en-US" altLang="zh-CN" dirty="0"/>
              <a:t>Trunk-based</a:t>
            </a:r>
            <a:r>
              <a:rPr kumimoji="1" lang="zh-CN" altLang="en-US" dirty="0"/>
              <a:t> </a:t>
            </a:r>
            <a:r>
              <a:rPr kumimoji="1" lang="en-US" altLang="zh-CN" dirty="0"/>
              <a:t>Release</a:t>
            </a:r>
            <a:endParaRPr kumimoji="1" lang="zh-CN" altLang="en-US" dirty="0"/>
          </a:p>
        </p:txBody>
      </p:sp>
    </p:spTree>
  </p:cSld>
  <p:clrMapOvr>
    <a:masterClrMapping/>
  </p:clrMapOvr>
  <p:transition>
    <p:pull dir="l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主干开发，主干发布</a:t>
            </a:r>
            <a:endParaRPr kumimoji="1" lang="zh-CN" altLang="en-US" dirty="0"/>
          </a:p>
        </p:txBody>
      </p:sp>
      <p:sp>
        <p:nvSpPr>
          <p:cNvPr id="3" name="内容占位符 2"/>
          <p:cNvSpPr>
            <a:spLocks noGrp="1"/>
          </p:cNvSpPr>
          <p:nvPr>
            <p:ph idx="1"/>
          </p:nvPr>
        </p:nvSpPr>
        <p:spPr/>
        <p:txBody>
          <a:bodyPr/>
          <a:lstStyle/>
          <a:p>
            <a:pPr marL="0" indent="0">
              <a:buNone/>
            </a:pPr>
            <a:r>
              <a:rPr kumimoji="1" lang="zh-CN" altLang="en-US" dirty="0"/>
              <a:t>“主干开发，主干发布”是指工程师向主干上提交代码（或者每个分支的生存周期很短，如数小时，或少于</a:t>
            </a:r>
            <a:r>
              <a:rPr kumimoji="1" lang="en-US" altLang="zh-CN" dirty="0"/>
              <a:t>1</a:t>
            </a:r>
            <a:r>
              <a:rPr kumimoji="1" lang="zh-CN" altLang="en-US" dirty="0"/>
              <a:t>天），并用主干代码进行软件交付。</a:t>
            </a:r>
            <a:endParaRPr kumimoji="1" lang="en-US" altLang="zh-CN" dirty="0"/>
          </a:p>
          <a:p>
            <a:pPr lvl="1"/>
            <a:r>
              <a:rPr kumimoji="1" lang="zh-CN" altLang="en-US" dirty="0"/>
              <a:t>所有新特性的开发，代码均提交到主干（</a:t>
            </a:r>
            <a:r>
              <a:rPr kumimoji="1" lang="en-GB" altLang="zh-CN" dirty="0"/>
              <a:t>trunk)</a:t>
            </a:r>
            <a:r>
              <a:rPr kumimoji="1" lang="zh-CN" altLang="en-US" dirty="0"/>
              <a:t>上</a:t>
            </a:r>
            <a:endParaRPr kumimoji="1" lang="en-US" altLang="zh-CN" dirty="0"/>
          </a:p>
          <a:p>
            <a:pPr lvl="1"/>
            <a:r>
              <a:rPr kumimoji="1" lang="zh-CN" altLang="en-US" dirty="0"/>
              <a:t>当需要发布新功能时，直接将主干上的代码部署到生产环境上。</a:t>
            </a:r>
            <a:endParaRPr kumimoji="1" lang="zh-CN" altLang="en-US" dirty="0"/>
          </a:p>
        </p:txBody>
      </p:sp>
      <p:pic>
        <p:nvPicPr>
          <p:cNvPr id="4" name="图片 3"/>
          <p:cNvPicPr>
            <a:picLocks noChangeAspect="1"/>
          </p:cNvPicPr>
          <p:nvPr/>
        </p:nvPicPr>
        <p:blipFill>
          <a:blip r:embed="rId1"/>
          <a:stretch>
            <a:fillRect/>
          </a:stretch>
        </p:blipFill>
        <p:spPr>
          <a:xfrm>
            <a:off x="234950" y="3761117"/>
            <a:ext cx="8674100" cy="2057400"/>
          </a:xfrm>
          <a:prstGeom prst="rect">
            <a:avLst/>
          </a:prstGeom>
        </p:spPr>
      </p:pic>
    </p:spTree>
  </p:cSld>
  <p:clrMapOvr>
    <a:masterClrMapping/>
  </p:clrMapOvr>
  <p:transition>
    <p:pull dir="l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主干开发，主干发布</a:t>
            </a:r>
            <a:endParaRPr kumimoji="1" lang="zh-CN" altLang="en-US" dirty="0"/>
          </a:p>
        </p:txBody>
      </p:sp>
      <p:sp>
        <p:nvSpPr>
          <p:cNvPr id="3" name="内容占位符 2"/>
          <p:cNvSpPr>
            <a:spLocks noGrp="1"/>
          </p:cNvSpPr>
          <p:nvPr>
            <p:ph idx="1"/>
          </p:nvPr>
        </p:nvSpPr>
        <p:spPr/>
        <p:txBody>
          <a:bodyPr/>
          <a:lstStyle/>
          <a:p>
            <a:r>
              <a:rPr kumimoji="1" lang="zh-CN" altLang="en-US" dirty="0"/>
              <a:t>有两种场景</a:t>
            </a:r>
            <a:endParaRPr kumimoji="1" lang="en-US" altLang="zh-CN" dirty="0"/>
          </a:p>
          <a:p>
            <a:pPr lvl="1"/>
            <a:r>
              <a:rPr kumimoji="1" lang="zh-CN" altLang="en-US" dirty="0"/>
              <a:t>低频交付</a:t>
            </a:r>
            <a:endParaRPr kumimoji="1" lang="en-US" altLang="zh-CN" dirty="0"/>
          </a:p>
          <a:p>
            <a:pPr lvl="1"/>
            <a:r>
              <a:rPr kumimoji="1" lang="zh-CN" altLang="en-US" dirty="0"/>
              <a:t>高频交付</a:t>
            </a:r>
            <a:endParaRPr kumimoji="1" lang="zh-CN" altLang="en-US" dirty="0"/>
          </a:p>
        </p:txBody>
      </p:sp>
    </p:spTree>
  </p:cSld>
  <p:clrMapOvr>
    <a:masterClrMapping/>
  </p:clrMapOvr>
  <p:transition>
    <p:pull dir="l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主干开发，主干发布</a:t>
            </a:r>
            <a:endParaRPr kumimoji="1" lang="zh-CN" altLang="en-US" dirty="0"/>
          </a:p>
        </p:txBody>
      </p:sp>
      <p:sp>
        <p:nvSpPr>
          <p:cNvPr id="3" name="内容占位符 2"/>
          <p:cNvSpPr>
            <a:spLocks noGrp="1"/>
          </p:cNvSpPr>
          <p:nvPr>
            <p:ph idx="1"/>
          </p:nvPr>
        </p:nvSpPr>
        <p:spPr/>
        <p:txBody>
          <a:bodyPr/>
          <a:lstStyle/>
          <a:p>
            <a:r>
              <a:rPr kumimoji="1" lang="zh-CN" altLang="en-US" dirty="0"/>
              <a:t>低频交付</a:t>
            </a:r>
            <a:endParaRPr kumimoji="1" lang="en-US" altLang="zh-CN" dirty="0"/>
          </a:p>
          <a:p>
            <a:pPr lvl="1"/>
            <a:r>
              <a:rPr kumimoji="1" lang="zh-CN" altLang="en-US" dirty="0"/>
              <a:t>低频交付常见于一些周期比较长的大型软件开发项目。</a:t>
            </a:r>
            <a:endParaRPr kumimoji="1" lang="en-US" altLang="zh-CN" dirty="0"/>
          </a:p>
          <a:p>
            <a:pPr lvl="1"/>
            <a:r>
              <a:rPr kumimoji="1" lang="zh-CN" altLang="en-US" dirty="0"/>
              <a:t>在低频工作模式下，其主干代码总是长时间处于不可用的状态</a:t>
            </a:r>
            <a:endParaRPr kumimoji="1" lang="en-US" altLang="zh-CN" dirty="0"/>
          </a:p>
          <a:p>
            <a:pPr lvl="1"/>
            <a:r>
              <a:rPr kumimoji="1" lang="zh-CN" altLang="en-US" dirty="0"/>
              <a:t>版本控制系统的作用仅仅是确保代码不丢失，用作代码备份仓库。</a:t>
            </a:r>
            <a:endParaRPr kumimoji="1" lang="en-US" altLang="zh-CN" dirty="0"/>
          </a:p>
        </p:txBody>
      </p:sp>
    </p:spTree>
  </p:cSld>
  <p:clrMapOvr>
    <a:masterClrMapping/>
  </p:clrMapOvr>
  <p:transition>
    <p:pull dir="l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主干开发，主干发布</a:t>
            </a:r>
            <a:endParaRPr kumimoji="1" lang="zh-CN" altLang="en-US" dirty="0"/>
          </a:p>
        </p:txBody>
      </p:sp>
      <p:sp>
        <p:nvSpPr>
          <p:cNvPr id="3" name="内容占位符 2"/>
          <p:cNvSpPr>
            <a:spLocks noGrp="1"/>
          </p:cNvSpPr>
          <p:nvPr>
            <p:ph idx="1"/>
          </p:nvPr>
        </p:nvSpPr>
        <p:spPr/>
        <p:txBody>
          <a:bodyPr/>
          <a:lstStyle/>
          <a:p>
            <a:r>
              <a:rPr kumimoji="1" lang="zh-CN" altLang="en-US" dirty="0"/>
              <a:t>高频交付</a:t>
            </a:r>
            <a:endParaRPr kumimoji="1" lang="en-US" altLang="zh-CN" dirty="0"/>
          </a:p>
          <a:p>
            <a:pPr lvl="1"/>
            <a:r>
              <a:rPr kumimoji="1" lang="zh-CN" altLang="en-US" dirty="0"/>
              <a:t>高频交付通常每天都会发布一次，甚至更多。</a:t>
            </a:r>
            <a:endParaRPr kumimoji="1" lang="en-US" altLang="zh-CN" dirty="0"/>
          </a:p>
          <a:p>
            <a:pPr lvl="1"/>
            <a:r>
              <a:rPr kumimoji="1" lang="zh-CN" altLang="en-US" dirty="0"/>
              <a:t>高频交付需要比较完备的交付基础设置，包括：</a:t>
            </a:r>
            <a:endParaRPr kumimoji="1" lang="en-US" altLang="zh-CN" dirty="0"/>
          </a:p>
          <a:p>
            <a:pPr lvl="2"/>
            <a:r>
              <a:rPr kumimoji="1" lang="zh-CN" altLang="en-US" dirty="0"/>
              <a:t>自动化配置构建</a:t>
            </a:r>
            <a:endParaRPr kumimoji="1" lang="en-US" altLang="zh-CN" dirty="0"/>
          </a:p>
          <a:p>
            <a:pPr lvl="2"/>
            <a:r>
              <a:rPr kumimoji="1" lang="zh-CN" altLang="en-US" dirty="0"/>
              <a:t>自动化测试</a:t>
            </a:r>
            <a:endParaRPr kumimoji="1" lang="en-US" altLang="zh-CN" dirty="0"/>
          </a:p>
          <a:p>
            <a:pPr lvl="2"/>
            <a:r>
              <a:rPr kumimoji="1" lang="zh-CN" altLang="en-US" dirty="0"/>
              <a:t>自动化运维</a:t>
            </a:r>
            <a:endParaRPr kumimoji="1" lang="en-US" altLang="zh-CN" dirty="0"/>
          </a:p>
          <a:p>
            <a:pPr lvl="2"/>
            <a:r>
              <a:rPr kumimoji="1" lang="zh-CN" altLang="en-US" dirty="0"/>
              <a:t>自动化监控与报警</a:t>
            </a:r>
            <a:endParaRPr kumimoji="1" lang="zh-CN" altLang="en-US" dirty="0"/>
          </a:p>
          <a:p>
            <a:endParaRPr kumimoji="1" lang="zh-CN" altLang="en-US" dirty="0"/>
          </a:p>
        </p:txBody>
      </p:sp>
    </p:spTree>
  </p:cSld>
  <p:clrMapOvr>
    <a:masterClrMapping/>
  </p:clrMapOvr>
  <p:transition>
    <p:pull dir="l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主干开发，主干发布</a:t>
            </a:r>
            <a:endParaRPr kumimoji="1" lang="zh-CN" altLang="en-US" dirty="0"/>
          </a:p>
        </p:txBody>
      </p:sp>
      <p:sp>
        <p:nvSpPr>
          <p:cNvPr id="3" name="内容占位符 2"/>
          <p:cNvSpPr>
            <a:spLocks noGrp="1"/>
          </p:cNvSpPr>
          <p:nvPr>
            <p:ph idx="1"/>
          </p:nvPr>
        </p:nvSpPr>
        <p:spPr/>
        <p:txBody>
          <a:bodyPr/>
          <a:lstStyle/>
          <a:p>
            <a:r>
              <a:rPr kumimoji="1" lang="zh-CN" altLang="en-US" dirty="0"/>
              <a:t>优点</a:t>
            </a:r>
            <a:endParaRPr kumimoji="1" lang="en-US" altLang="zh-CN" dirty="0"/>
          </a:p>
          <a:p>
            <a:pPr lvl="1"/>
            <a:r>
              <a:rPr kumimoji="1" lang="zh-CN" altLang="en-US" dirty="0"/>
              <a:t>极高的集成频率：强制每天多次合并，极大减少合并冲突，符合持续集成（</a:t>
            </a:r>
            <a:r>
              <a:rPr kumimoji="1" lang="en-US" altLang="zh-CN" dirty="0"/>
              <a:t>CI）</a:t>
            </a:r>
            <a:r>
              <a:rPr kumimoji="1" lang="zh-CN" altLang="en-US" dirty="0"/>
              <a:t>精神。</a:t>
            </a:r>
            <a:endParaRPr kumimoji="1" lang="zh-CN" altLang="en-US" dirty="0"/>
          </a:p>
          <a:p>
            <a:pPr lvl="1"/>
            <a:r>
              <a:rPr kumimoji="1" lang="zh-CN" altLang="en-US" dirty="0"/>
              <a:t>快速迭代：代码提交即准备发布，变更最快到达用户，适合高响应需求的团队（如初创公司、</a:t>
            </a:r>
            <a:r>
              <a:rPr kumimoji="1" lang="en-US" altLang="zh-CN" dirty="0"/>
              <a:t>SaaS）。</a:t>
            </a:r>
            <a:endParaRPr kumimoji="1" lang="en-US" altLang="zh-CN" dirty="0"/>
          </a:p>
          <a:p>
            <a:pPr lvl="1"/>
            <a:r>
              <a:rPr kumimoji="1" lang="zh-CN" altLang="en-US" dirty="0"/>
              <a:t>简单直接：没有复杂的分支管理模型，工具和流程成本低。</a:t>
            </a:r>
            <a:endParaRPr kumimoji="1" lang="zh-CN" altLang="en-US" dirty="0"/>
          </a:p>
          <a:p>
            <a:pPr lvl="1"/>
            <a:r>
              <a:rPr kumimoji="1" lang="zh-CN" altLang="en-US" dirty="0"/>
              <a:t>易于回滚：发布即主干当前状态，回滚到上一个干净的主干版本非常清晰。</a:t>
            </a:r>
            <a:endParaRPr kumimoji="1" lang="zh-CN" altLang="en-US" dirty="0"/>
          </a:p>
          <a:p>
            <a:pPr lvl="1"/>
            <a:endParaRPr kumimoji="1" lang="zh-CN" altLang="en-US" dirty="0"/>
          </a:p>
        </p:txBody>
      </p:sp>
    </p:spTree>
  </p:cSld>
  <p:clrMapOvr>
    <a:masterClrMapping/>
  </p:clrMapOvr>
  <p:transition>
    <p:pull dir="l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zh-CN" altLang="en-US" dirty="0">
                <a:sym typeface="+mn-ea"/>
              </a:rPr>
              <a:t>主干开发，主干发布</a:t>
            </a:r>
            <a:endParaRPr lang="zh-CN" altLang="en-US"/>
          </a:p>
        </p:txBody>
      </p:sp>
      <p:sp>
        <p:nvSpPr>
          <p:cNvPr id="3" name="内容占位符 2"/>
          <p:cNvSpPr>
            <a:spLocks noGrp="1"/>
          </p:cNvSpPr>
          <p:nvPr>
            <p:ph idx="1"/>
          </p:nvPr>
        </p:nvSpPr>
        <p:spPr/>
        <p:txBody>
          <a:bodyPr/>
          <a:p>
            <a:pPr marL="457200" lvl="1" indent="0">
              <a:buNone/>
            </a:pPr>
            <a:r>
              <a:rPr kumimoji="1" lang="zh-CN" altLang="en-US" sz="2000" dirty="0">
                <a:sym typeface="+mn-ea"/>
              </a:rPr>
              <a:t>缺点</a:t>
            </a:r>
            <a:endParaRPr kumimoji="1" lang="en-US" altLang="zh-CN" sz="2000" dirty="0"/>
          </a:p>
          <a:p>
            <a:pPr lvl="1"/>
            <a:r>
              <a:rPr lang="zh-CN" altLang="en-US" sz="1800"/>
              <a:t>对代码质量和测试要求极高：必须有完善的自动化测试（单元、集成、端到端）和特性开关（</a:t>
            </a:r>
            <a:r>
              <a:rPr lang="en-US" altLang="zh-CN" sz="1800"/>
              <a:t>Feature Toggle）</a:t>
            </a:r>
            <a:r>
              <a:rPr lang="zh-CN" altLang="en-US" sz="1800"/>
              <a:t>技术，否则未完成功能会污染主干。</a:t>
            </a:r>
            <a:endParaRPr lang="en-US" altLang="zh-CN" sz="1800"/>
          </a:p>
          <a:p>
            <a:pPr lvl="1"/>
            <a:r>
              <a:rPr lang="zh-CN" altLang="en-US" sz="1800"/>
              <a:t>依赖特性开关：未完工的大型功能需隐藏在开关中，后期清理开关会增加技术债务。</a:t>
            </a:r>
            <a:endParaRPr lang="en-US" altLang="zh-CN" sz="1800"/>
          </a:p>
          <a:p>
            <a:pPr lvl="1"/>
            <a:r>
              <a:rPr lang="zh-CN" altLang="en-US" sz="1800"/>
              <a:t>不适合多版本维护：无法同时维护多个线上大版本（如 </a:t>
            </a:r>
            <a:r>
              <a:rPr lang="en-US" altLang="zh-CN" sz="1800"/>
              <a:t>v1、v2 </a:t>
            </a:r>
            <a:r>
              <a:rPr lang="zh-CN" altLang="en-US" sz="1800"/>
              <a:t>并行），因为主干总是最新版。</a:t>
            </a:r>
            <a:endParaRPr lang="en-US" altLang="zh-CN" sz="1800"/>
          </a:p>
          <a:p>
            <a:pPr lvl="1"/>
            <a:r>
              <a:rPr lang="zh-CN" altLang="en-US" sz="1800"/>
              <a:t>心理门槛高：开发者对直接提交主干可能感到紧张，需要极强的工程纪律。</a:t>
            </a:r>
            <a:endParaRPr lang="zh-CN" altLang="en-US" sz="1800"/>
          </a:p>
          <a:p>
            <a:pPr lvl="1"/>
            <a:r>
              <a:rPr lang="zh-CN" altLang="en-US" sz="1800">
                <a:sym typeface="+mn-ea"/>
              </a:rPr>
              <a:t>高风险性：未经充分测试的代码直接进入生产环境，可能引发严重故障（如网页4提到的“错误直接影响线上”）。</a:t>
            </a:r>
            <a:endParaRPr lang="zh-CN" altLang="en-US" sz="1800"/>
          </a:p>
          <a:p>
            <a:pPr lvl="1"/>
            <a:r>
              <a:rPr lang="zh-CN" altLang="en-US" sz="1800">
                <a:sym typeface="+mn-ea"/>
              </a:rPr>
              <a:t>回滚困难：若发布失败，需回退整个主分支，可能丢失其他有效提交</a:t>
            </a:r>
            <a:endParaRPr lang="zh-CN" altLang="en-US" sz="1800"/>
          </a:p>
          <a:p>
            <a:pPr lvl="1"/>
            <a:r>
              <a:rPr lang="zh-CN" altLang="en-US" sz="1800">
                <a:sym typeface="+mn-ea"/>
              </a:rPr>
              <a:t>适用场景：小型团队（&lt;5人）、实验性项目或要求快速验证的MVP阶段。</a:t>
            </a:r>
            <a:endParaRPr lang="zh-CN" altLang="en-US" sz="1800"/>
          </a:p>
          <a:p>
            <a:pPr lvl="1"/>
            <a:endParaRPr lang="zh-CN" altLang="en-US" sz="1800"/>
          </a:p>
          <a:p>
            <a:pPr lvl="1"/>
            <a:endParaRPr lang="zh-CN" altLang="en-US" sz="1800"/>
          </a:p>
          <a:p>
            <a:pPr lvl="1"/>
            <a:endParaRPr lang="en-US" altLang="zh-CN" sz="1800"/>
          </a:p>
          <a:p>
            <a:pPr lvl="1"/>
            <a:endParaRPr lang="en-US" altLang="zh-CN" sz="1800"/>
          </a:p>
        </p:txBody>
      </p:sp>
    </p:spTree>
  </p:cSld>
  <p:clrMapOvr>
    <a:masterClrMapping/>
  </p:clrMapOvr>
  <p:transition>
    <p:pull dir="l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主干开发，主干发布</a:t>
            </a:r>
            <a:endParaRPr kumimoji="1" lang="zh-CN" altLang="en-US" dirty="0"/>
          </a:p>
        </p:txBody>
      </p:sp>
      <p:sp>
        <p:nvSpPr>
          <p:cNvPr id="3" name="内容占位符 2"/>
          <p:cNvSpPr>
            <a:spLocks noGrp="1"/>
          </p:cNvSpPr>
          <p:nvPr>
            <p:ph idx="1"/>
          </p:nvPr>
        </p:nvSpPr>
        <p:spPr/>
        <p:txBody>
          <a:bodyPr/>
          <a:lstStyle/>
          <a:p>
            <a:r>
              <a:rPr lang="zh-CN" altLang="en-US" dirty="0"/>
              <a:t>缺点案例：无法完成的“合并任务”</a:t>
            </a:r>
            <a:endParaRPr lang="zh-CN" altLang="en-US" dirty="0"/>
          </a:p>
          <a:p>
            <a:pPr lvl="1"/>
            <a:r>
              <a:rPr lang="en-US" altLang="zh-CN" dirty="0"/>
              <a:t>2011</a:t>
            </a:r>
            <a:r>
              <a:rPr lang="zh-CN" altLang="en-US" dirty="0"/>
              <a:t>年，百姓网（一个生活分类服务网站）的研发团队只有</a:t>
            </a:r>
            <a:r>
              <a:rPr lang="en-US" altLang="zh-CN" dirty="0"/>
              <a:t>12</a:t>
            </a:r>
            <a:r>
              <a:rPr lang="zh-CN" altLang="en-US" dirty="0"/>
              <a:t>名工程师。他们使用高频交付模式，每天早上</a:t>
            </a:r>
            <a:r>
              <a:rPr lang="en-US" altLang="zh-CN" dirty="0"/>
              <a:t>7</a:t>
            </a:r>
            <a:r>
              <a:rPr lang="zh-CN" altLang="en-US" dirty="0"/>
              <a:t>点做一次生产环境发布。为了对某个重要模块进行重大重构，其技术负责人曾经创建了一个专有分支。然而，一周以后，他不得不宣布放弃该分支的所有代码，因为其他工程师在主干上已经做了太多的改动，专有分支已经无法合并回主干。</a:t>
            </a:r>
            <a:endParaRPr lang="zh-CN" altLang="en-US" dirty="0"/>
          </a:p>
          <a:p>
            <a:r>
              <a:rPr lang="zh-CN" altLang="en-US" dirty="0"/>
              <a:t>“未开发完成的功能代码不能带入将要发布的版本里”曾被认为是一种最佳软件质量管理实践。然而，在这种高频交付模式下，很难再遵守这一实践。相反，应该允许提交未完成功能的代码，前提是不影响用户的正常使用和发布。</a:t>
            </a:r>
            <a:endParaRPr lang="zh-CN" altLang="en-US" dirty="0"/>
          </a:p>
          <a:p>
            <a:endParaRPr kumimoji="1" lang="zh-CN" altLang="en-US" dirty="0"/>
          </a:p>
        </p:txBody>
      </p:sp>
    </p:spTree>
  </p:cSld>
  <p:clrMapOvr>
    <a:masterClrMapping/>
  </p:clrMapOvr>
  <p:transition>
    <p:pull dir="l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主干开发，分支发布</a:t>
            </a:r>
            <a:endParaRPr kumimoji="1" lang="zh-CN" altLang="en-US" dirty="0"/>
          </a:p>
        </p:txBody>
      </p:sp>
      <p:sp>
        <p:nvSpPr>
          <p:cNvPr id="7" name="内容占位符 6"/>
          <p:cNvSpPr>
            <a:spLocks noGrp="1"/>
          </p:cNvSpPr>
          <p:nvPr>
            <p:ph idx="1"/>
          </p:nvPr>
        </p:nvSpPr>
        <p:spPr>
          <a:xfrm>
            <a:off x="457200" y="879712"/>
            <a:ext cx="8229600" cy="1591115"/>
          </a:xfrm>
        </p:spPr>
        <p:txBody>
          <a:bodyPr/>
          <a:lstStyle/>
          <a:p>
            <a:r>
              <a:rPr lang="zh-CN" altLang="en-US" dirty="0"/>
              <a:t>开发人员将写好的代码提父到主干；</a:t>
            </a:r>
            <a:endParaRPr lang="zh-CN" altLang="en-US" dirty="0"/>
          </a:p>
          <a:p>
            <a:r>
              <a:rPr lang="zh-CN" altLang="en-US" dirty="0"/>
              <a:t>当新版本的功能全部开发完成或者已经接近版本发布时间点的时候，从主干上拉出一个新的分支</a:t>
            </a:r>
            <a:endParaRPr lang="zh-CN" altLang="en-US" dirty="0"/>
          </a:p>
          <a:p>
            <a:r>
              <a:rPr lang="zh-CN" altLang="en-US" dirty="0"/>
              <a:t>在这个新的分支上进行集成测试，并修复缺陷，进行版本质量打磨。当质量达标后，再对外发布该版本。</a:t>
            </a:r>
            <a:endParaRPr lang="zh-CN" altLang="en-US" dirty="0"/>
          </a:p>
          <a:p>
            <a:endParaRPr kumimoji="1" lang="zh-CN" altLang="en-US" dirty="0"/>
          </a:p>
        </p:txBody>
      </p:sp>
      <p:pic>
        <p:nvPicPr>
          <p:cNvPr id="8" name="内容占位符 3"/>
          <p:cNvPicPr>
            <a:picLocks noChangeAspect="1"/>
          </p:cNvPicPr>
          <p:nvPr/>
        </p:nvPicPr>
        <p:blipFill>
          <a:blip r:embed="rId1"/>
          <a:stretch>
            <a:fillRect/>
          </a:stretch>
        </p:blipFill>
        <p:spPr bwMode="auto">
          <a:xfrm>
            <a:off x="457200" y="3873551"/>
            <a:ext cx="8229600" cy="266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ll dir="l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主干开发，分支发布</a:t>
            </a:r>
            <a:endParaRPr kumimoji="1" lang="zh-CN" altLang="en-US" dirty="0"/>
          </a:p>
        </p:txBody>
      </p:sp>
      <p:sp>
        <p:nvSpPr>
          <p:cNvPr id="3" name="内容占位符 2"/>
          <p:cNvSpPr>
            <a:spLocks noGrp="1"/>
          </p:cNvSpPr>
          <p:nvPr>
            <p:ph idx="1"/>
          </p:nvPr>
        </p:nvSpPr>
        <p:spPr/>
        <p:txBody>
          <a:bodyPr/>
          <a:lstStyle/>
          <a:p>
            <a:r>
              <a:rPr kumimoji="1" lang="zh-CN" altLang="en-US" dirty="0"/>
              <a:t>这种模式的特点如下：</a:t>
            </a:r>
            <a:endParaRPr kumimoji="1" lang="en-US" altLang="zh-CN" dirty="0"/>
          </a:p>
          <a:p>
            <a:pPr lvl="1"/>
            <a:r>
              <a:rPr lang="zh-CN" altLang="en-US" dirty="0"/>
              <a:t>主干代码提交活动频繁，对保障主干代码质量有较大的挑战；</a:t>
            </a:r>
            <a:endParaRPr lang="zh-CN" altLang="en-US" dirty="0"/>
          </a:p>
          <a:p>
            <a:pPr lvl="1"/>
            <a:r>
              <a:rPr lang="zh-CN" altLang="en-US" dirty="0"/>
              <a:t>分支只修复缺陷，不增加新功能；</a:t>
            </a:r>
            <a:endParaRPr lang="zh-CN" altLang="en-US" dirty="0"/>
          </a:p>
          <a:p>
            <a:pPr lvl="1"/>
            <a:r>
              <a:rPr lang="zh-CN" altLang="en-US" dirty="0"/>
              <a:t>新版本发布后，如果发现严重缺陷，而且必须立即修复的话，只要在该版本所属的分支上修复后，再次发布补丁版本，然后将分支上的修改合并回主干即可。</a:t>
            </a:r>
            <a:endParaRPr lang="zh-CN" altLang="en-US" dirty="0"/>
          </a:p>
          <a:p>
            <a:pPr lvl="1"/>
            <a:r>
              <a:rPr lang="zh-CN" altLang="en-US" dirty="0"/>
              <a:t>也可以在主干上修复缺陷，然后将针对该缺陷的修复代码挑出来（</a:t>
            </a:r>
            <a:r>
              <a:rPr lang="en-GB" altLang="zh-CN" dirty="0"/>
              <a:t>cherry-pick)</a:t>
            </a:r>
            <a:r>
              <a:rPr lang="zh-CN" altLang="en-US" dirty="0"/>
              <a:t>合并到该缺陷所在的分支上。</a:t>
            </a:r>
            <a:br>
              <a:rPr lang="zh-CN" altLang="en-US" dirty="0"/>
            </a:br>
            <a:endParaRPr lang="zh-CN" altLang="en-US" dirty="0"/>
          </a:p>
          <a:p>
            <a:endParaRPr kumimoji="1" lang="zh-CN" altLang="en-US" dirty="0"/>
          </a:p>
        </p:txBody>
      </p:sp>
    </p:spTree>
  </p:cSld>
  <p:clrMapOvr>
    <a:masterClrMapping/>
  </p:clrMapOvr>
  <p:transition>
    <p:pull dir="l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52340"/>
            <a:ext cx="8229600" cy="700147"/>
          </a:xfrm>
        </p:spPr>
        <p:txBody>
          <a:bodyPr/>
          <a:lstStyle/>
          <a:p>
            <a:r>
              <a:rPr kumimoji="1" lang="zh-CN" altLang="en-US" dirty="0"/>
              <a:t>主干开发，分支发布</a:t>
            </a:r>
            <a:endParaRPr kumimoji="1" lang="zh-CN" altLang="en-US" dirty="0"/>
          </a:p>
        </p:txBody>
      </p:sp>
      <p:sp>
        <p:nvSpPr>
          <p:cNvPr id="3" name="内容占位符 2"/>
          <p:cNvSpPr>
            <a:spLocks noGrp="1"/>
          </p:cNvSpPr>
          <p:nvPr>
            <p:ph idx="1"/>
          </p:nvPr>
        </p:nvSpPr>
        <p:spPr>
          <a:xfrm>
            <a:off x="457200" y="957580"/>
            <a:ext cx="8229600" cy="5123815"/>
          </a:xfrm>
        </p:spPr>
        <p:txBody>
          <a:bodyPr/>
          <a:lstStyle/>
          <a:p>
            <a:r>
              <a:rPr kumimoji="1" lang="zh-CN" altLang="en-US" dirty="0"/>
              <a:t>优点</a:t>
            </a:r>
            <a:endParaRPr kumimoji="1" lang="en-US" altLang="zh-CN" dirty="0"/>
          </a:p>
          <a:p>
            <a:pPr lvl="1"/>
            <a:r>
              <a:rPr lang="zh-CN" altLang="en-US" dirty="0"/>
              <a:t>与将要发布的新功能无关的人员可以持续工作在开发主干上，不受版本发布的影响；</a:t>
            </a:r>
            <a:endParaRPr lang="zh-CN" altLang="en-US" dirty="0"/>
          </a:p>
          <a:p>
            <a:pPr lvl="1"/>
            <a:r>
              <a:rPr lang="zh-CN" altLang="en-US" dirty="0"/>
              <a:t>新发布的版本出现缺陷后，可以直接在其自己的版本发布分支上进行修复，简单便捷。即使当前开发主干上的代码已经发生了较大的变化，该分支也不会受到影响。</a:t>
            </a:r>
            <a:endParaRPr lang="zh-CN" altLang="en-US" dirty="0"/>
          </a:p>
          <a:p>
            <a:pPr lvl="1"/>
            <a:endParaRPr kumimoji="1" lang="zh-CN" altLang="en-US" dirty="0"/>
          </a:p>
        </p:txBody>
      </p:sp>
    </p:spTree>
  </p:cSld>
  <p:clrMapOvr>
    <a:masterClrMapping/>
  </p:clrMapOvr>
  <p:transition>
    <p:pull dir="l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3"/>
          <p:cNvPicPr>
            <a:picLocks noChangeAspect="1"/>
          </p:cNvPicPr>
          <p:nvPr/>
        </p:nvPicPr>
        <p:blipFill>
          <a:blip r:embed="rId1"/>
          <a:stretch>
            <a:fillRect/>
          </a:stretch>
        </p:blipFill>
        <p:spPr bwMode="auto">
          <a:xfrm>
            <a:off x="1566154" y="2832239"/>
            <a:ext cx="6391072" cy="3857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kumimoji="1" lang="zh-CN" altLang="en-US" dirty="0"/>
              <a:t>主干开发，分支发布</a:t>
            </a:r>
            <a:endParaRPr kumimoji="1" lang="zh-CN" altLang="en-US" dirty="0"/>
          </a:p>
        </p:txBody>
      </p:sp>
      <p:sp>
        <p:nvSpPr>
          <p:cNvPr id="3" name="内容占位符 2"/>
          <p:cNvSpPr>
            <a:spLocks noGrp="1"/>
          </p:cNvSpPr>
          <p:nvPr>
            <p:ph idx="1"/>
          </p:nvPr>
        </p:nvSpPr>
        <p:spPr>
          <a:xfrm>
            <a:off x="457200" y="731837"/>
            <a:ext cx="7986409" cy="2697163"/>
          </a:xfrm>
        </p:spPr>
        <p:txBody>
          <a:bodyPr/>
          <a:lstStyle/>
          <a:p>
            <a:r>
              <a:rPr kumimoji="1" lang="zh-CN" altLang="en-US" dirty="0"/>
              <a:t>缺点</a:t>
            </a:r>
            <a:endParaRPr kumimoji="1" lang="en-US" altLang="zh-CN" dirty="0"/>
          </a:p>
          <a:p>
            <a:pPr marL="457200" lvl="1" indent="0">
              <a:buNone/>
            </a:pPr>
            <a:r>
              <a:rPr lang="zh-CN" altLang="en-US" dirty="0"/>
              <a:t>使用这种开发模式，对发布分支的数量不加约束，并且分支周期较长，很容易出现“分支地狱”倾向，这种倾向常见于“系列化产品簇＋个性化定制”的项目，例如某硬件设备的软件产品研发的分支模式，如图所示</a:t>
            </a:r>
            <a:endParaRPr lang="zh-CN" altLang="en-US" dirty="0"/>
          </a:p>
          <a:p>
            <a:pPr lvl="1"/>
            <a:endParaRPr kumimoji="1" lang="zh-CN" altLang="en-US" dirty="0"/>
          </a:p>
        </p:txBody>
      </p:sp>
    </p:spTree>
  </p:cSld>
  <p:clrMapOvr>
    <a:masterClrMapping/>
  </p:clrMapOvr>
  <p:transition>
    <p:pull dir="l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主干开发，分支发布</a:t>
            </a:r>
            <a:endParaRPr kumimoji="1" lang="zh-CN" altLang="en-US" dirty="0"/>
          </a:p>
        </p:txBody>
      </p:sp>
      <p:sp>
        <p:nvSpPr>
          <p:cNvPr id="3" name="内容占位符 2"/>
          <p:cNvSpPr>
            <a:spLocks noGrp="1"/>
          </p:cNvSpPr>
          <p:nvPr>
            <p:ph idx="1"/>
          </p:nvPr>
        </p:nvSpPr>
        <p:spPr>
          <a:xfrm>
            <a:off x="457200" y="5512137"/>
            <a:ext cx="8229600" cy="851813"/>
          </a:xfrm>
        </p:spPr>
        <p:txBody>
          <a:bodyPr/>
          <a:lstStyle/>
          <a:p>
            <a:r>
              <a:rPr kumimoji="1" lang="en-US" altLang="zh-CN" dirty="0"/>
              <a:t>HP</a:t>
            </a:r>
            <a:r>
              <a:rPr kumimoji="1" lang="zh-CN" altLang="en-US" dirty="0"/>
              <a:t>激光打印机部件团队</a:t>
            </a:r>
            <a:r>
              <a:rPr kumimoji="1" lang="en-US" altLang="zh-CN" dirty="0"/>
              <a:t>2008</a:t>
            </a:r>
            <a:r>
              <a:rPr kumimoji="1" lang="zh-CN" altLang="en-US" dirty="0"/>
              <a:t>年研发资源分布</a:t>
            </a:r>
            <a:endParaRPr kumimoji="1" lang="zh-CN" altLang="en-US" dirty="0"/>
          </a:p>
        </p:txBody>
      </p:sp>
      <p:pic>
        <p:nvPicPr>
          <p:cNvPr id="4" name="图片 3"/>
          <p:cNvPicPr>
            <a:picLocks noChangeAspect="1"/>
          </p:cNvPicPr>
          <p:nvPr/>
        </p:nvPicPr>
        <p:blipFill>
          <a:blip r:embed="rId1"/>
          <a:stretch>
            <a:fillRect/>
          </a:stretch>
        </p:blipFill>
        <p:spPr>
          <a:xfrm>
            <a:off x="2006600" y="1470987"/>
            <a:ext cx="5130800" cy="3302000"/>
          </a:xfrm>
          <a:prstGeom prst="rect">
            <a:avLst/>
          </a:prstGeom>
        </p:spPr>
      </p:pic>
    </p:spTree>
  </p:cSld>
  <p:clrMapOvr>
    <a:masterClrMapping/>
  </p:clrMapOvr>
  <p:transition>
    <p:pull dir="l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分支开发，主干发布</a:t>
            </a:r>
            <a:endParaRPr kumimoji="1" lang="zh-CN" altLang="en-US" dirty="0"/>
          </a:p>
        </p:txBody>
      </p:sp>
      <p:sp>
        <p:nvSpPr>
          <p:cNvPr id="5" name="内容占位符 4"/>
          <p:cNvSpPr>
            <a:spLocks noGrp="1"/>
          </p:cNvSpPr>
          <p:nvPr>
            <p:ph idx="1"/>
          </p:nvPr>
        </p:nvSpPr>
        <p:spPr/>
        <p:txBody>
          <a:bodyPr/>
          <a:lstStyle/>
          <a:p>
            <a:r>
              <a:rPr kumimoji="1" lang="zh-CN" altLang="en-US" dirty="0"/>
              <a:t>分支开发，主干发布是最为广泛的工作方式</a:t>
            </a:r>
            <a:endParaRPr kumimoji="1" lang="en-US" altLang="zh-CN" dirty="0"/>
          </a:p>
        </p:txBody>
      </p:sp>
      <p:pic>
        <p:nvPicPr>
          <p:cNvPr id="8" name="图片 7"/>
          <p:cNvPicPr>
            <a:picLocks noChangeAspect="1"/>
          </p:cNvPicPr>
          <p:nvPr/>
        </p:nvPicPr>
        <p:blipFill>
          <a:blip r:embed="rId1"/>
          <a:stretch>
            <a:fillRect/>
          </a:stretch>
        </p:blipFill>
        <p:spPr>
          <a:xfrm>
            <a:off x="1143000" y="2626468"/>
            <a:ext cx="6858000" cy="2527300"/>
          </a:xfrm>
          <a:prstGeom prst="rect">
            <a:avLst/>
          </a:prstGeom>
        </p:spPr>
      </p:pic>
    </p:spTree>
  </p:cSld>
  <p:clrMapOvr>
    <a:masterClrMapping/>
  </p:clrMapOvr>
  <p:transition>
    <p:pull dir="l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分支开发，主干发布</a:t>
            </a:r>
            <a:endParaRPr kumimoji="1" lang="zh-CN" altLang="en-US" dirty="0"/>
          </a:p>
        </p:txBody>
      </p:sp>
      <p:sp>
        <p:nvSpPr>
          <p:cNvPr id="3" name="内容占位符 2"/>
          <p:cNvSpPr>
            <a:spLocks noGrp="1"/>
          </p:cNvSpPr>
          <p:nvPr>
            <p:ph idx="1"/>
          </p:nvPr>
        </p:nvSpPr>
        <p:spPr>
          <a:xfrm>
            <a:off x="457200" y="957532"/>
            <a:ext cx="8229600" cy="1668936"/>
          </a:xfrm>
        </p:spPr>
        <p:txBody>
          <a:bodyPr/>
          <a:lstStyle/>
          <a:p>
            <a:r>
              <a:rPr lang="zh-CN" altLang="en-US" dirty="0"/>
              <a:t>这种模式是指</a:t>
            </a:r>
            <a:r>
              <a:rPr lang="en-US" altLang="zh-CN" dirty="0"/>
              <a:t>:</a:t>
            </a:r>
            <a:endParaRPr lang="en-US" altLang="zh-CN" dirty="0"/>
          </a:p>
          <a:p>
            <a:pPr lvl="1"/>
            <a:r>
              <a:rPr lang="zh-CN" altLang="en-US" dirty="0"/>
              <a:t>团队从主干上拉出分支，并在分支上开发软件新功能或修复缺陷，</a:t>
            </a:r>
            <a:endParaRPr lang="zh-CN" altLang="en-US" dirty="0"/>
          </a:p>
          <a:p>
            <a:pPr lvl="1"/>
            <a:r>
              <a:rPr lang="zh-CN" altLang="en-US" dirty="0"/>
              <a:t>当某个分支</a:t>
            </a:r>
            <a:r>
              <a:rPr lang="en-US" altLang="zh-CN" dirty="0"/>
              <a:t>(</a:t>
            </a:r>
            <a:r>
              <a:rPr lang="zh-CN" altLang="en-US" dirty="0"/>
              <a:t>或多个分支</a:t>
            </a:r>
            <a:r>
              <a:rPr lang="en-US" altLang="zh-CN" dirty="0"/>
              <a:t>)</a:t>
            </a:r>
            <a:r>
              <a:rPr lang="zh-CN" altLang="en-US" dirty="0"/>
              <a:t>上的功能开发完成后要对外发布版本时，才合入主干</a:t>
            </a:r>
            <a:r>
              <a:rPr lang="en-US" altLang="zh-CN" dirty="0"/>
              <a:t>,</a:t>
            </a:r>
            <a:endParaRPr lang="en-US" altLang="zh-CN" dirty="0"/>
          </a:p>
          <a:p>
            <a:pPr lvl="1"/>
            <a:r>
              <a:rPr lang="zh-CN" altLang="en-US" dirty="0"/>
              <a:t>通常在主干上进行缺陷修复，质量达标后，再将主干上的代码打包发布。</a:t>
            </a:r>
            <a:endParaRPr lang="zh-CN" altLang="en-US" dirty="0"/>
          </a:p>
          <a:p>
            <a:endParaRPr kumimoji="1" lang="zh-CN" altLang="en-US" dirty="0"/>
          </a:p>
          <a:p>
            <a:endParaRPr kumimoji="1" lang="zh-CN" altLang="en-US" dirty="0"/>
          </a:p>
        </p:txBody>
      </p:sp>
    </p:spTree>
  </p:cSld>
  <p:clrMapOvr>
    <a:masterClrMapping/>
  </p:clrMapOvr>
  <p:transition>
    <p:pull dir="l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分支开发，主干发布</a:t>
            </a:r>
            <a:endParaRPr kumimoji="1" lang="zh-CN" altLang="en-US" dirty="0"/>
          </a:p>
        </p:txBody>
      </p:sp>
      <p:sp>
        <p:nvSpPr>
          <p:cNvPr id="3" name="内容占位符 2"/>
          <p:cNvSpPr>
            <a:spLocks noGrp="1"/>
          </p:cNvSpPr>
          <p:nvPr>
            <p:ph idx="1"/>
          </p:nvPr>
        </p:nvSpPr>
        <p:spPr/>
        <p:txBody>
          <a:bodyPr/>
          <a:lstStyle/>
          <a:p>
            <a:r>
              <a:rPr lang="zh-CN" altLang="en-US" dirty="0"/>
              <a:t>优势</a:t>
            </a:r>
            <a:endParaRPr lang="en-US" altLang="zh-CN" dirty="0"/>
          </a:p>
          <a:p>
            <a:pPr lvl="1"/>
            <a:r>
              <a:rPr lang="zh-CN" altLang="en-US" dirty="0"/>
              <a:t>在分支合并之前，每个分支之间的开发活动互相不受影响，</a:t>
            </a:r>
            <a:endParaRPr lang="zh-CN" altLang="en-US" dirty="0"/>
          </a:p>
          <a:p>
            <a:pPr lvl="1"/>
            <a:r>
              <a:rPr lang="zh-CN" altLang="en-US" dirty="0"/>
              <a:t>团队可以自由选择发布哪个分支上的特性</a:t>
            </a:r>
            <a:r>
              <a:rPr lang="en-US" altLang="zh-CN" dirty="0"/>
              <a:t>;</a:t>
            </a:r>
            <a:endParaRPr lang="en-US" altLang="zh-CN" dirty="0"/>
          </a:p>
          <a:p>
            <a:pPr lvl="1"/>
            <a:r>
              <a:rPr lang="zh-CN" altLang="en-US" dirty="0"/>
              <a:t>如果新版本出现缺陷，可以直接在主干上进行修复或者使用</a:t>
            </a:r>
            <a:r>
              <a:rPr lang="en-GB" altLang="zh-CN" dirty="0"/>
              <a:t>hotfix</a:t>
            </a:r>
            <a:r>
              <a:rPr lang="zh-CN" altLang="en-US" dirty="0"/>
              <a:t>分支修复，简单便捷，无须考虑其他分支。</a:t>
            </a:r>
            <a:endParaRPr lang="en-US" altLang="zh-CN" dirty="0"/>
          </a:p>
          <a:p>
            <a:r>
              <a:rPr lang="zh-CN" altLang="en-US" dirty="0"/>
              <a:t>劣势</a:t>
            </a:r>
            <a:endParaRPr lang="en-US" altLang="zh-CN" dirty="0"/>
          </a:p>
          <a:p>
            <a:pPr lvl="1"/>
            <a:r>
              <a:rPr lang="zh-CN" altLang="en-US" dirty="0"/>
              <a:t>为了分支之间尽量少受影响，开发人员通常会减少向主干合并代码的频率。</a:t>
            </a:r>
            <a:endParaRPr lang="en-US" altLang="zh-CN" dirty="0"/>
          </a:p>
          <a:p>
            <a:pPr lvl="1"/>
            <a:r>
              <a:rPr lang="zh-CN" altLang="en-US" dirty="0"/>
              <a:t>分支过多，分支的生命周期过长，代码合并成本会快速增加。</a:t>
            </a:r>
            <a:endParaRPr lang="zh-CN" altLang="en-US" dirty="0"/>
          </a:p>
          <a:p>
            <a:endParaRPr kumimoji="1" lang="zh-CN" altLang="en-US" dirty="0"/>
          </a:p>
        </p:txBody>
      </p:sp>
    </p:spTree>
  </p:cSld>
  <p:clrMapOvr>
    <a:masterClrMapping/>
  </p:clrMapOvr>
  <p:transition>
    <p:pull dir="l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分支开发，主干发布</a:t>
            </a:r>
            <a:endParaRPr kumimoji="1" lang="zh-CN" altLang="en-US" dirty="0"/>
          </a:p>
        </p:txBody>
      </p:sp>
      <p:sp>
        <p:nvSpPr>
          <p:cNvPr id="3" name="内容占位符 2"/>
          <p:cNvSpPr>
            <a:spLocks noGrp="1"/>
          </p:cNvSpPr>
          <p:nvPr>
            <p:ph idx="1"/>
          </p:nvPr>
        </p:nvSpPr>
        <p:spPr/>
        <p:txBody>
          <a:bodyPr/>
          <a:lstStyle/>
          <a:p>
            <a:r>
              <a:rPr kumimoji="1" lang="zh-CN" altLang="en-US" dirty="0"/>
              <a:t>不频繁提交导致巨型代码合并</a:t>
            </a:r>
            <a:endParaRPr kumimoji="1" lang="zh-CN" altLang="en-US" dirty="0"/>
          </a:p>
        </p:txBody>
      </p:sp>
      <p:pic>
        <p:nvPicPr>
          <p:cNvPr id="4" name="图片 3"/>
          <p:cNvPicPr>
            <a:picLocks noChangeAspect="1"/>
          </p:cNvPicPr>
          <p:nvPr/>
        </p:nvPicPr>
        <p:blipFill>
          <a:blip r:embed="rId1"/>
          <a:stretch>
            <a:fillRect/>
          </a:stretch>
        </p:blipFill>
        <p:spPr>
          <a:xfrm>
            <a:off x="622300" y="2072017"/>
            <a:ext cx="7899400" cy="3378200"/>
          </a:xfrm>
          <a:prstGeom prst="rect">
            <a:avLst/>
          </a:prstGeom>
        </p:spPr>
      </p:pic>
    </p:spTree>
  </p:cSld>
  <p:clrMapOvr>
    <a:masterClrMapping/>
  </p:clrMapOvr>
  <p:transition>
    <p:pull dir="l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分支开发，主干发布</a:t>
            </a:r>
            <a:endParaRPr kumimoji="1" lang="zh-CN" altLang="en-US" dirty="0"/>
          </a:p>
        </p:txBody>
      </p:sp>
      <p:sp>
        <p:nvSpPr>
          <p:cNvPr id="3" name="内容占位符 2"/>
          <p:cNvSpPr>
            <a:spLocks noGrp="1"/>
          </p:cNvSpPr>
          <p:nvPr>
            <p:ph idx="1"/>
          </p:nvPr>
        </p:nvSpPr>
        <p:spPr/>
        <p:txBody>
          <a:bodyPr/>
          <a:lstStyle/>
          <a:p>
            <a:r>
              <a:rPr kumimoji="1" lang="zh-CN" altLang="en-US" dirty="0"/>
              <a:t>成功使用这种模式的关键点在于：</a:t>
            </a:r>
            <a:endParaRPr kumimoji="1" lang="en-US" altLang="zh-CN" dirty="0"/>
          </a:p>
          <a:p>
            <a:pPr lvl="1"/>
            <a:r>
              <a:rPr kumimoji="1" lang="zh-CN" altLang="en-US" dirty="0"/>
              <a:t>让主干尽可能一直保持在可发布的状态</a:t>
            </a:r>
            <a:endParaRPr kumimoji="1" lang="en-US" altLang="zh-CN" dirty="0"/>
          </a:p>
          <a:p>
            <a:pPr lvl="1"/>
            <a:r>
              <a:rPr kumimoji="1" lang="zh-CN" altLang="en-US" dirty="0"/>
              <a:t>让每个分支的生命周期尽可能短</a:t>
            </a:r>
            <a:endParaRPr kumimoji="1" lang="en-US" altLang="zh-CN" dirty="0"/>
          </a:p>
          <a:p>
            <a:pPr lvl="1"/>
            <a:r>
              <a:rPr kumimoji="1" lang="zh-CN" altLang="en-US" dirty="0"/>
              <a:t>主干代码尽早与分支同步</a:t>
            </a:r>
            <a:endParaRPr kumimoji="1" lang="en-US" altLang="zh-CN" dirty="0"/>
          </a:p>
          <a:p>
            <a:pPr lvl="1"/>
            <a:r>
              <a:rPr kumimoji="1" lang="zh-CN" altLang="en-US" dirty="0"/>
              <a:t>一切以主干代码为准，不要在特性分支之间合并代码</a:t>
            </a:r>
            <a:endParaRPr kumimoji="1" lang="en-US" altLang="zh-CN" dirty="0"/>
          </a:p>
          <a:p>
            <a:endParaRPr kumimoji="1" lang="zh-CN" altLang="en-US" dirty="0"/>
          </a:p>
        </p:txBody>
      </p:sp>
    </p:spTree>
  </p:cSld>
  <p:clrMapOvr>
    <a:masterClrMapping/>
  </p:clrMapOvr>
  <p:transition>
    <p:pull dir="l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分支开发，主干发布</a:t>
            </a:r>
            <a:endParaRPr kumimoji="1" lang="zh-CN" altLang="en-US" dirty="0"/>
          </a:p>
        </p:txBody>
      </p:sp>
      <p:sp>
        <p:nvSpPr>
          <p:cNvPr id="3" name="内容占位符 2"/>
          <p:cNvSpPr>
            <a:spLocks noGrp="1"/>
          </p:cNvSpPr>
          <p:nvPr>
            <p:ph idx="1"/>
          </p:nvPr>
        </p:nvSpPr>
        <p:spPr/>
        <p:txBody>
          <a:bodyPr/>
          <a:lstStyle/>
          <a:p>
            <a:r>
              <a:rPr kumimoji="1" lang="zh-CN" altLang="en-US" dirty="0"/>
              <a:t>特性分支与团队分支</a:t>
            </a:r>
            <a:endParaRPr kumimoji="1" lang="en-US" altLang="zh-CN" dirty="0"/>
          </a:p>
          <a:p>
            <a:pPr lvl="1"/>
            <a:r>
              <a:rPr kumimoji="1" lang="zh-CN" altLang="en-US" dirty="0"/>
              <a:t>大多数情况下，分支开发，主干发布模式中的分支指的是特性分支。但是如果特性分支过多，会带来合并成本，多个特性同时完成的情况下，合并更加具有挑战性。</a:t>
            </a:r>
            <a:endParaRPr kumimoji="1" lang="en-US" altLang="zh-CN" dirty="0"/>
          </a:p>
          <a:p>
            <a:pPr lvl="1"/>
            <a:r>
              <a:rPr kumimoji="1" lang="zh-CN" altLang="en-US" dirty="0"/>
              <a:t>对于大型的开发团队，可以考虑团队分支，一个团队负责包含了一系列特性的多个组件的开发。这样可以减小与主干合并的压力。</a:t>
            </a:r>
            <a:endParaRPr kumimoji="1" lang="zh-CN" altLang="en-US" dirty="0"/>
          </a:p>
        </p:txBody>
      </p:sp>
    </p:spTree>
  </p:cSld>
  <p:clrMapOvr>
    <a:masterClrMapping/>
  </p:clrMapOvr>
  <p:transition>
    <p:pull dir="ld"/>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分支模式的演化</a:t>
            </a:r>
            <a:endParaRPr kumimoji="1" lang="zh-CN" altLang="en-US" dirty="0"/>
          </a:p>
        </p:txBody>
      </p:sp>
      <p:sp>
        <p:nvSpPr>
          <p:cNvPr id="3" name="内容占位符 2"/>
          <p:cNvSpPr>
            <a:spLocks noGrp="1"/>
          </p:cNvSpPr>
          <p:nvPr>
            <p:ph idx="1"/>
          </p:nvPr>
        </p:nvSpPr>
        <p:spPr/>
        <p:txBody>
          <a:bodyPr/>
          <a:lstStyle/>
          <a:p>
            <a:r>
              <a:rPr kumimoji="1" lang="zh-CN" altLang="en-US" dirty="0"/>
              <a:t>三驾马车分支模式</a:t>
            </a:r>
            <a:endParaRPr kumimoji="1" lang="en-US" altLang="zh-CN" dirty="0"/>
          </a:p>
          <a:p>
            <a:r>
              <a:rPr kumimoji="1" lang="en-US" altLang="zh-CN" dirty="0" err="1"/>
              <a:t>Gitflow</a:t>
            </a:r>
            <a:r>
              <a:rPr kumimoji="1" lang="zh-CN" altLang="en-US" dirty="0"/>
              <a:t>分支</a:t>
            </a:r>
            <a:endParaRPr kumimoji="1" lang="en-US" altLang="zh-CN" dirty="0"/>
          </a:p>
          <a:p>
            <a:r>
              <a:rPr kumimoji="1" lang="en-US" altLang="zh-CN" dirty="0" err="1"/>
              <a:t>GithubFlow</a:t>
            </a:r>
            <a:r>
              <a:rPr kumimoji="1" lang="zh-CN" altLang="en-US" dirty="0"/>
              <a:t>分支</a:t>
            </a:r>
            <a:endParaRPr kumimoji="1" lang="zh-CN" altLang="en-US" dirty="0"/>
          </a:p>
        </p:txBody>
      </p:sp>
    </p:spTree>
  </p:cSld>
  <p:clrMapOvr>
    <a:masterClrMapping/>
  </p:clrMapOvr>
  <p:transition>
    <p:pull dir="ld"/>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三驾马车分支模式</a:t>
            </a:r>
            <a:endParaRPr kumimoji="1" lang="zh-CN" altLang="en-US" dirty="0"/>
          </a:p>
        </p:txBody>
      </p:sp>
      <p:sp>
        <p:nvSpPr>
          <p:cNvPr id="3" name="内容占位符 2"/>
          <p:cNvSpPr>
            <a:spLocks noGrp="1"/>
          </p:cNvSpPr>
          <p:nvPr>
            <p:ph idx="1"/>
          </p:nvPr>
        </p:nvSpPr>
        <p:spPr/>
        <p:txBody>
          <a:bodyPr/>
          <a:lstStyle/>
          <a:p>
            <a:r>
              <a:rPr kumimoji="1" lang="zh-CN" altLang="en-US" sz="2400" dirty="0"/>
              <a:t>软件开发团队仅维护</a:t>
            </a:r>
            <a:r>
              <a:rPr kumimoji="1" lang="en-US" altLang="zh-CN" sz="2400" dirty="0"/>
              <a:t>3</a:t>
            </a:r>
            <a:r>
              <a:rPr kumimoji="1" lang="zh-CN" altLang="en-US" sz="2400" dirty="0"/>
              <a:t>个分支</a:t>
            </a:r>
            <a:endParaRPr kumimoji="1" lang="en-US" altLang="zh-CN" sz="2400" dirty="0"/>
          </a:p>
          <a:p>
            <a:pPr lvl="1"/>
            <a:r>
              <a:rPr kumimoji="1" lang="zh-CN" altLang="en-US" sz="2000" dirty="0"/>
              <a:t>开发分支</a:t>
            </a:r>
            <a:endParaRPr kumimoji="1" lang="en-US" altLang="zh-CN" sz="2000" dirty="0"/>
          </a:p>
          <a:p>
            <a:pPr lvl="2"/>
            <a:r>
              <a:rPr kumimoji="1" lang="zh-CN" altLang="en-US" sz="2000" dirty="0"/>
              <a:t>开发人员的目标分支</a:t>
            </a:r>
            <a:endParaRPr kumimoji="1" lang="en-US" altLang="zh-CN" sz="2000" dirty="0"/>
          </a:p>
          <a:p>
            <a:pPr lvl="1"/>
            <a:r>
              <a:rPr kumimoji="1" lang="zh-CN" altLang="en-US" sz="2000" dirty="0"/>
              <a:t>预发布分支</a:t>
            </a:r>
            <a:endParaRPr kumimoji="1" lang="en-US" altLang="zh-CN" sz="2000" dirty="0"/>
          </a:p>
          <a:p>
            <a:pPr lvl="2"/>
            <a:r>
              <a:rPr lang="zh-CN" altLang="en-US" sz="2000" dirty="0"/>
              <a:t>从开发分支上选取的一组特性准备发布。只做缺陷修复。</a:t>
            </a:r>
            <a:endParaRPr kumimoji="1" lang="en-US" altLang="zh-CN" sz="2000" dirty="0"/>
          </a:p>
          <a:p>
            <a:pPr lvl="1"/>
            <a:r>
              <a:rPr kumimoji="1" lang="zh-CN" altLang="en-US" sz="2000" dirty="0"/>
              <a:t>发布分支</a:t>
            </a:r>
            <a:endParaRPr kumimoji="1" lang="en-US" altLang="zh-CN" sz="2000" dirty="0"/>
          </a:p>
          <a:p>
            <a:pPr lvl="2"/>
            <a:r>
              <a:rPr lang="zh-CN" altLang="en-US" sz="2000" dirty="0"/>
              <a:t>预发布分支上功能稳定后，合入发布分支。</a:t>
            </a:r>
            <a:endParaRPr lang="zh-CN" altLang="en-US" sz="2000" dirty="0"/>
          </a:p>
          <a:p>
            <a:pPr lvl="2"/>
            <a:endParaRPr kumimoji="1" lang="en-US" altLang="zh-CN" sz="2000" dirty="0"/>
          </a:p>
        </p:txBody>
      </p:sp>
      <p:pic>
        <p:nvPicPr>
          <p:cNvPr id="4" name="图片 3"/>
          <p:cNvPicPr>
            <a:picLocks noChangeAspect="1"/>
          </p:cNvPicPr>
          <p:nvPr/>
        </p:nvPicPr>
        <p:blipFill>
          <a:blip r:embed="rId1"/>
          <a:stretch>
            <a:fillRect/>
          </a:stretch>
        </p:blipFill>
        <p:spPr>
          <a:xfrm>
            <a:off x="361966" y="4463457"/>
            <a:ext cx="8420068" cy="1882302"/>
          </a:xfrm>
          <a:prstGeom prst="rect">
            <a:avLst/>
          </a:prstGeom>
        </p:spPr>
      </p:pic>
    </p:spTree>
  </p:cSld>
  <p:clrMapOvr>
    <a:masterClrMapping/>
  </p:clrMapOvr>
  <p:transition>
    <p:pull dir="ld"/>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Gitflow</a:t>
            </a:r>
            <a:r>
              <a:rPr kumimoji="1" lang="zh-CN" altLang="en-US" dirty="0"/>
              <a:t>分支模式</a:t>
            </a:r>
            <a:endParaRPr kumimoji="1" lang="zh-CN" altLang="en-US" dirty="0"/>
          </a:p>
        </p:txBody>
      </p:sp>
      <p:sp>
        <p:nvSpPr>
          <p:cNvPr id="3" name="内容占位符 2"/>
          <p:cNvSpPr>
            <a:spLocks noGrp="1"/>
          </p:cNvSpPr>
          <p:nvPr>
            <p:ph idx="1"/>
          </p:nvPr>
        </p:nvSpPr>
        <p:spPr/>
        <p:txBody>
          <a:bodyPr/>
          <a:lstStyle/>
          <a:p>
            <a:r>
              <a:rPr lang="en-GB" altLang="zh-CN" dirty="0" err="1"/>
              <a:t>Gitflow</a:t>
            </a:r>
            <a:r>
              <a:rPr lang="zh-CN" altLang="en-GB" dirty="0"/>
              <a:t>是</a:t>
            </a:r>
            <a:r>
              <a:rPr lang="zh-CN" altLang="en-US" dirty="0"/>
              <a:t>目前很多企业所应用的分支模式，包括下面类型的分支：</a:t>
            </a:r>
            <a:endParaRPr lang="en-GB" altLang="zh-CN" dirty="0"/>
          </a:p>
          <a:p>
            <a:pPr lvl="1"/>
            <a:r>
              <a:rPr lang="en-GB" altLang="zh-CN" dirty="0"/>
              <a:t>Master</a:t>
            </a:r>
            <a:endParaRPr lang="en-GB" altLang="zh-CN" dirty="0"/>
          </a:p>
          <a:p>
            <a:pPr lvl="2"/>
            <a:r>
              <a:rPr lang="zh-CN" altLang="en-US" sz="2000" dirty="0"/>
              <a:t>正式版本的发布分支。</a:t>
            </a:r>
            <a:endParaRPr lang="zh-CN" altLang="en-US" sz="2000" dirty="0"/>
          </a:p>
          <a:p>
            <a:pPr lvl="1"/>
            <a:r>
              <a:rPr lang="en-GB" altLang="zh-CN" dirty="0"/>
              <a:t>Release</a:t>
            </a:r>
            <a:endParaRPr lang="en-GB" altLang="zh-CN" dirty="0"/>
          </a:p>
          <a:p>
            <a:pPr lvl="2"/>
            <a:r>
              <a:rPr lang="zh-CN" altLang="en-US" sz="2000" dirty="0"/>
              <a:t>预发布分支。如果</a:t>
            </a:r>
            <a:r>
              <a:rPr lang="en-GB" altLang="zh-CN" sz="2000" dirty="0"/>
              <a:t>Release</a:t>
            </a:r>
            <a:r>
              <a:rPr lang="zh-CN" altLang="en-US" sz="2000" dirty="0"/>
              <a:t>分支的质量达标，就可以将其合入</a:t>
            </a:r>
            <a:r>
              <a:rPr lang="en-GB" altLang="zh-CN" sz="2000" dirty="0"/>
              <a:t>Master</a:t>
            </a:r>
            <a:r>
              <a:rPr lang="zh-CN" altLang="en-US" sz="2000" dirty="0"/>
              <a:t>分支，同时也需要将代码合</a:t>
            </a:r>
            <a:r>
              <a:rPr lang="en-GB" altLang="zh-CN" sz="2000" dirty="0"/>
              <a:t>Development</a:t>
            </a:r>
            <a:r>
              <a:rPr lang="zh-CN" altLang="en-US" sz="2000" dirty="0"/>
              <a:t>分支。</a:t>
            </a:r>
            <a:endParaRPr lang="zh-CN" altLang="en-US" sz="2000" dirty="0"/>
          </a:p>
          <a:p>
            <a:pPr lvl="1"/>
            <a:r>
              <a:rPr lang="en-GB" altLang="zh-CN" dirty="0"/>
              <a:t>Development</a:t>
            </a:r>
            <a:endParaRPr lang="en-US" altLang="zh-CN" dirty="0"/>
          </a:p>
          <a:p>
            <a:pPr lvl="2"/>
            <a:r>
              <a:rPr lang="zh-CN" altLang="en-US" sz="2000" dirty="0"/>
              <a:t>对新功能进行集成的分支。</a:t>
            </a:r>
            <a:endParaRPr lang="zh-CN" altLang="en-US" sz="2000" dirty="0"/>
          </a:p>
          <a:p>
            <a:endParaRPr lang="zh-CN" altLang="en-US" dirty="0"/>
          </a:p>
          <a:p>
            <a:pPr marL="0" indent="0">
              <a:buNone/>
            </a:pPr>
            <a:br>
              <a:rPr lang="zh-CN" altLang="en-US" dirty="0"/>
            </a:br>
            <a:endParaRPr lang="zh-CN" altLang="en-US" dirty="0"/>
          </a:p>
          <a:p>
            <a:endParaRPr kumimoji="1" lang="zh-CN" altLang="en-US" dirty="0"/>
          </a:p>
        </p:txBody>
      </p:sp>
    </p:spTree>
  </p:cSld>
  <p:clrMapOvr>
    <a:masterClrMapping/>
  </p:clrMapOvr>
  <p:transition>
    <p:pull dir="ld"/>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Girflow</a:t>
            </a:r>
            <a:r>
              <a:rPr kumimoji="1" lang="zh-CN" altLang="en-US" dirty="0"/>
              <a:t>分支模式</a:t>
            </a:r>
            <a:endParaRPr kumimoji="1" lang="zh-CN" altLang="en-US" dirty="0"/>
          </a:p>
        </p:txBody>
      </p:sp>
      <p:sp>
        <p:nvSpPr>
          <p:cNvPr id="3" name="内容占位符 2"/>
          <p:cNvSpPr>
            <a:spLocks noGrp="1"/>
          </p:cNvSpPr>
          <p:nvPr>
            <p:ph idx="1"/>
          </p:nvPr>
        </p:nvSpPr>
        <p:spPr/>
        <p:txBody>
          <a:bodyPr/>
          <a:lstStyle/>
          <a:p>
            <a:pPr lvl="1"/>
            <a:r>
              <a:rPr lang="en-GB" altLang="zh-CN" dirty="0"/>
              <a:t>Feature</a:t>
            </a:r>
            <a:endParaRPr lang="en-GB" altLang="zh-CN" dirty="0"/>
          </a:p>
          <a:p>
            <a:pPr lvl="2"/>
            <a:r>
              <a:rPr lang="zh-CN" altLang="en-US" dirty="0"/>
              <a:t>为了开发某一功能特性，开发人员从</a:t>
            </a:r>
            <a:r>
              <a:rPr lang="en-GB" altLang="zh-CN" dirty="0"/>
              <a:t>Development</a:t>
            </a:r>
            <a:r>
              <a:rPr lang="zh-CN" altLang="en-US" dirty="0"/>
              <a:t>分支上拉出的分支。当特性开发完成后，合入</a:t>
            </a:r>
            <a:r>
              <a:rPr lang="en-GB" altLang="zh-CN" dirty="0"/>
              <a:t>Development</a:t>
            </a:r>
            <a:r>
              <a:rPr lang="zh-CN" altLang="en-US" dirty="0"/>
              <a:t>分支。 </a:t>
            </a:r>
            <a:endParaRPr lang="zh-CN" altLang="en-US" dirty="0"/>
          </a:p>
          <a:p>
            <a:pPr lvl="1"/>
            <a:r>
              <a:rPr lang="en-US" altLang="zh-CN" dirty="0"/>
              <a:t>Hotfix</a:t>
            </a:r>
            <a:endParaRPr lang="en-US" altLang="zh-CN" dirty="0"/>
          </a:p>
          <a:p>
            <a:pPr lvl="2"/>
            <a:r>
              <a:rPr lang="zh-CN" altLang="en-US" dirty="0"/>
              <a:t>如果已经发布的版本</a:t>
            </a:r>
            <a:r>
              <a:rPr lang="en-US" altLang="zh-CN" dirty="0"/>
              <a:t>(</a:t>
            </a:r>
            <a:r>
              <a:rPr lang="zh-CN" altLang="en-US" dirty="0"/>
              <a:t>如</a:t>
            </a:r>
            <a:r>
              <a:rPr lang="en-GB" altLang="zh-CN" dirty="0"/>
              <a:t>V0.1)</a:t>
            </a:r>
            <a:r>
              <a:rPr lang="zh-CN" altLang="en-US" dirty="0"/>
              <a:t>出现了严重的缺陷，从</a:t>
            </a:r>
            <a:r>
              <a:rPr lang="en-GB" altLang="zh-CN" dirty="0"/>
              <a:t>Master</a:t>
            </a:r>
            <a:r>
              <a:rPr lang="zh-CN" altLang="en-US" dirty="0"/>
              <a:t>分支上</a:t>
            </a:r>
            <a:r>
              <a:rPr lang="en-GB" altLang="zh-CN" dirty="0"/>
              <a:t>V0.1</a:t>
            </a:r>
            <a:r>
              <a:rPr lang="zh-CN" altLang="en-US" dirty="0"/>
              <a:t>版本标签处拉出</a:t>
            </a:r>
            <a:r>
              <a:rPr lang="en-GB" altLang="zh-CN" dirty="0"/>
              <a:t>Hotfix</a:t>
            </a:r>
            <a:r>
              <a:rPr lang="zh-CN" altLang="en-US" dirty="0"/>
              <a:t>分支，与此同时，由于</a:t>
            </a:r>
            <a:r>
              <a:rPr lang="en-GB" altLang="zh-CN" dirty="0"/>
              <a:t>Development</a:t>
            </a:r>
            <a:r>
              <a:rPr lang="zh-CN" altLang="en-US" dirty="0"/>
              <a:t>分支上也有同样的缺陷存在，因此开发人员 还要将</a:t>
            </a:r>
            <a:r>
              <a:rPr lang="en-GB" altLang="zh-CN" dirty="0"/>
              <a:t>Hotfix</a:t>
            </a:r>
            <a:r>
              <a:rPr lang="zh-CN" altLang="en-US" dirty="0"/>
              <a:t>分支的代码移植到</a:t>
            </a:r>
            <a:r>
              <a:rPr lang="en-GB" altLang="zh-CN" dirty="0"/>
              <a:t>Development</a:t>
            </a:r>
            <a:r>
              <a:rPr lang="zh-CN" altLang="en-US" dirty="0"/>
              <a:t>分支上，以修复</a:t>
            </a:r>
            <a:r>
              <a:rPr lang="en-GB" altLang="zh-CN" dirty="0"/>
              <a:t>Development</a:t>
            </a:r>
            <a:r>
              <a:rPr lang="zh-CN" altLang="en-US" dirty="0"/>
              <a:t>分支上的缺陷。</a:t>
            </a:r>
            <a:endParaRPr kumimoji="1" lang="zh-CN" altLang="en-US" dirty="0"/>
          </a:p>
        </p:txBody>
      </p:sp>
    </p:spTree>
  </p:cSld>
  <p:clrMapOvr>
    <a:masterClrMapping/>
  </p:clrMapOvr>
  <p:transition>
    <p:pull dir="ld"/>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Gitflow</a:t>
            </a:r>
            <a:r>
              <a:rPr kumimoji="1" lang="zh-CN" altLang="en-US" dirty="0"/>
              <a:t>分支模式</a:t>
            </a:r>
            <a:endParaRPr kumimoji="1" lang="zh-CN" altLang="en-US" dirty="0"/>
          </a:p>
        </p:txBody>
      </p:sp>
      <p:sp>
        <p:nvSpPr>
          <p:cNvPr id="3" name="内容占位符 2"/>
          <p:cNvSpPr>
            <a:spLocks noGrp="1"/>
          </p:cNvSpPr>
          <p:nvPr>
            <p:ph idx="1"/>
          </p:nvPr>
        </p:nvSpPr>
        <p:spPr/>
        <p:txBody>
          <a:bodyPr/>
          <a:lstStyle/>
          <a:p>
            <a:endParaRPr kumimoji="1" lang="zh-CN" altLang="en-US"/>
          </a:p>
        </p:txBody>
      </p:sp>
      <p:pic>
        <p:nvPicPr>
          <p:cNvPr id="4" name="图片 3"/>
          <p:cNvPicPr>
            <a:picLocks noChangeAspect="1"/>
          </p:cNvPicPr>
          <p:nvPr/>
        </p:nvPicPr>
        <p:blipFill>
          <a:blip r:embed="rId1"/>
          <a:stretch>
            <a:fillRect/>
          </a:stretch>
        </p:blipFill>
        <p:spPr>
          <a:xfrm>
            <a:off x="655940" y="1673292"/>
            <a:ext cx="7724663" cy="3988205"/>
          </a:xfrm>
          <a:prstGeom prst="rect">
            <a:avLst/>
          </a:prstGeom>
        </p:spPr>
      </p:pic>
    </p:spTree>
  </p:cSld>
  <p:clrMapOvr>
    <a:masterClrMapping/>
  </p:clrMapOvr>
  <p:transition>
    <p:pull dir="ld"/>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GitHubFlow</a:t>
            </a:r>
            <a:r>
              <a:rPr kumimoji="1" lang="zh-CN" altLang="en-US" dirty="0"/>
              <a:t>分支模式</a:t>
            </a:r>
            <a:endParaRPr kumimoji="1" lang="zh-CN" altLang="en-US" dirty="0"/>
          </a:p>
        </p:txBody>
      </p:sp>
      <p:sp>
        <p:nvSpPr>
          <p:cNvPr id="3" name="内容占位符 2"/>
          <p:cNvSpPr>
            <a:spLocks noGrp="1"/>
          </p:cNvSpPr>
          <p:nvPr>
            <p:ph idx="1"/>
          </p:nvPr>
        </p:nvSpPr>
        <p:spPr>
          <a:xfrm>
            <a:off x="457200" y="957532"/>
            <a:ext cx="8229600" cy="3451792"/>
          </a:xfrm>
        </p:spPr>
        <p:txBody>
          <a:bodyPr/>
          <a:lstStyle/>
          <a:p>
            <a:r>
              <a:rPr lang="en-GB" altLang="zh-CN" sz="2400" dirty="0" err="1"/>
              <a:t>GitHubFlow</a:t>
            </a:r>
            <a:r>
              <a:rPr lang="zh-CN" altLang="en-US" sz="2400" dirty="0"/>
              <a:t>这种开发分支模式的名称来源于</a:t>
            </a:r>
            <a:r>
              <a:rPr lang="en-GB" altLang="zh-CN" sz="2400" dirty="0"/>
              <a:t>GitHub</a:t>
            </a:r>
            <a:r>
              <a:rPr lang="zh-CN" altLang="en-US" sz="2400" dirty="0"/>
              <a:t>团队的工 作实践。其工作步骤如下。</a:t>
            </a:r>
            <a:endParaRPr lang="zh-CN" altLang="en-US" sz="2400" dirty="0"/>
          </a:p>
          <a:p>
            <a:pPr lvl="1"/>
            <a:r>
              <a:rPr lang="zh-CN" altLang="en-US" sz="2000" dirty="0"/>
              <a:t>从</a:t>
            </a:r>
            <a:r>
              <a:rPr lang="en-GB" altLang="zh-CN" sz="2000" dirty="0"/>
              <a:t>Master</a:t>
            </a:r>
            <a:r>
              <a:rPr lang="zh-CN" altLang="en-US" sz="2000" dirty="0"/>
              <a:t>上创建一个新的分支，以这个特性或缺陷的编号命名该分支。 </a:t>
            </a:r>
            <a:endParaRPr lang="zh-CN" altLang="en-US" sz="2000" dirty="0"/>
          </a:p>
          <a:p>
            <a:pPr lvl="1"/>
            <a:r>
              <a:rPr lang="zh-CN" altLang="en-US" sz="2000" dirty="0"/>
              <a:t>在这个新创建的分支上提交代码。 </a:t>
            </a:r>
            <a:endParaRPr lang="zh-CN" altLang="en-US" sz="2000" dirty="0"/>
          </a:p>
          <a:p>
            <a:pPr lvl="1"/>
            <a:r>
              <a:rPr lang="zh-CN" altLang="en-US" sz="2000" dirty="0"/>
              <a:t>功能开发完成</a:t>
            </a:r>
            <a:r>
              <a:rPr lang="en-US" altLang="zh-CN" sz="2000" dirty="0"/>
              <a:t>,</a:t>
            </a:r>
            <a:r>
              <a:rPr lang="zh-CN" altLang="en-US" sz="2000" dirty="0"/>
              <a:t>并自测通过，创建</a:t>
            </a:r>
            <a:r>
              <a:rPr lang="en-GB" altLang="zh-CN" sz="2000" dirty="0"/>
              <a:t>Pull Request (</a:t>
            </a:r>
            <a:r>
              <a:rPr lang="zh-CN" altLang="en-US" sz="2000" dirty="0"/>
              <a:t>简称为</a:t>
            </a:r>
            <a:r>
              <a:rPr lang="en-GB" altLang="zh-CN" sz="2000" dirty="0"/>
              <a:t>PR)</a:t>
            </a:r>
            <a:r>
              <a:rPr lang="zh-CN" altLang="en-GB" sz="2000" dirty="0"/>
              <a:t>。 </a:t>
            </a:r>
            <a:endParaRPr lang="en-US" altLang="zh-CN" sz="2000" dirty="0"/>
          </a:p>
          <a:p>
            <a:pPr lvl="1"/>
            <a:r>
              <a:rPr lang="zh-CN" altLang="en-US" sz="2000" dirty="0"/>
              <a:t>其他开发人员对这个</a:t>
            </a:r>
            <a:r>
              <a:rPr lang="en-GB" altLang="zh-CN" sz="2000" dirty="0"/>
              <a:t>PR</a:t>
            </a:r>
            <a:r>
              <a:rPr lang="zh-CN" altLang="en-US" sz="2000" dirty="0"/>
              <a:t>进行审查，确认质址合格后，合入</a:t>
            </a:r>
            <a:r>
              <a:rPr lang="en-GB" altLang="zh-CN" sz="2000" dirty="0"/>
              <a:t>Master</a:t>
            </a:r>
            <a:r>
              <a:rPr lang="zh-CN" altLang="en-GB" sz="2000" dirty="0"/>
              <a:t>。</a:t>
            </a:r>
            <a:endParaRPr lang="zh-CN" altLang="en-GB" sz="2000" dirty="0"/>
          </a:p>
          <a:p>
            <a:br>
              <a:rPr lang="zh-CN" altLang="en-GB" sz="2400" dirty="0"/>
            </a:br>
            <a:endParaRPr lang="zh-CN" altLang="en-GB" sz="2400" dirty="0"/>
          </a:p>
          <a:p>
            <a:endParaRPr kumimoji="1" lang="zh-CN" altLang="en-US" sz="2400" dirty="0"/>
          </a:p>
        </p:txBody>
      </p:sp>
      <p:pic>
        <p:nvPicPr>
          <p:cNvPr id="4" name="图片 3"/>
          <p:cNvPicPr>
            <a:picLocks noChangeAspect="1"/>
          </p:cNvPicPr>
          <p:nvPr/>
        </p:nvPicPr>
        <p:blipFill>
          <a:blip r:embed="rId1"/>
          <a:stretch>
            <a:fillRect/>
          </a:stretch>
        </p:blipFill>
        <p:spPr>
          <a:xfrm>
            <a:off x="0" y="4409324"/>
            <a:ext cx="9144000" cy="1696951"/>
          </a:xfrm>
          <a:prstGeom prst="rect">
            <a:avLst/>
          </a:prstGeom>
        </p:spPr>
      </p:pic>
    </p:spTree>
  </p:cSld>
  <p:clrMapOvr>
    <a:masterClrMapping/>
  </p:clrMapOvr>
  <p:transition>
    <p:pull dir="l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大纲</a:t>
            </a:r>
            <a:endParaRPr kumimoji="1" lang="zh-CN" altLang="en-US" dirty="0"/>
          </a:p>
        </p:txBody>
      </p:sp>
      <p:sp>
        <p:nvSpPr>
          <p:cNvPr id="3" name="内容占位符 2"/>
          <p:cNvSpPr>
            <a:spLocks noGrp="1"/>
          </p:cNvSpPr>
          <p:nvPr>
            <p:ph idx="1"/>
          </p:nvPr>
        </p:nvSpPr>
        <p:spPr/>
        <p:txBody>
          <a:bodyPr/>
          <a:lstStyle/>
          <a:p>
            <a:r>
              <a:rPr lang="zh-CN" altLang="en-US" sz="2400" dirty="0"/>
              <a:t>版本控制概述</a:t>
            </a:r>
            <a:endParaRPr lang="en-US" altLang="zh-CN" sz="2400" dirty="0"/>
          </a:p>
          <a:p>
            <a:r>
              <a:rPr kumimoji="1" lang="zh-CN" altLang="en-US" sz="2400" dirty="0"/>
              <a:t>悲观锁与乐观锁</a:t>
            </a:r>
            <a:endParaRPr lang="en-US" altLang="zh-CN" sz="2400" dirty="0"/>
          </a:p>
          <a:p>
            <a:r>
              <a:rPr lang="zh-CN" altLang="en-US" sz="2400" dirty="0"/>
              <a:t>集中与分布式版本管理</a:t>
            </a:r>
            <a:endParaRPr kumimoji="1" lang="en-US" altLang="zh-CN" sz="2400" dirty="0"/>
          </a:p>
          <a:p>
            <a:r>
              <a:rPr kumimoji="1" lang="zh-CN" altLang="en-US" sz="2400" dirty="0"/>
              <a:t>分支与合并</a:t>
            </a:r>
            <a:endParaRPr lang="en-US" altLang="zh-CN" sz="2400" dirty="0"/>
          </a:p>
          <a:p>
            <a:r>
              <a:rPr lang="zh-CN" altLang="en-US" sz="2400" dirty="0"/>
              <a:t>分支模式</a:t>
            </a:r>
            <a:endParaRPr lang="en-US" altLang="zh-CN" sz="2400" dirty="0"/>
          </a:p>
          <a:p>
            <a:r>
              <a:rPr lang="zh-CN" altLang="en-US" sz="2400" b="1" dirty="0"/>
              <a:t>在</a:t>
            </a:r>
            <a:r>
              <a:rPr lang="en-US" altLang="zh-CN" sz="2400" b="1" dirty="0"/>
              <a:t>Git</a:t>
            </a:r>
            <a:r>
              <a:rPr lang="zh-CN" altLang="en-US" sz="2400" b="1" dirty="0"/>
              <a:t>中管理分支与合并</a:t>
            </a:r>
            <a:endParaRPr lang="en-US" altLang="zh-CN" sz="2400" b="1" dirty="0"/>
          </a:p>
          <a:p>
            <a:pPr lvl="1"/>
            <a:r>
              <a:rPr kumimoji="1" lang="zh-CN" altLang="en-US" sz="2000" dirty="0"/>
              <a:t>分支管理</a:t>
            </a:r>
            <a:endParaRPr kumimoji="1" lang="en-US" altLang="zh-CN" sz="2000" dirty="0"/>
          </a:p>
          <a:p>
            <a:pPr lvl="2"/>
            <a:r>
              <a:rPr kumimoji="1" lang="zh-CN" altLang="en-US" sz="2000" dirty="0"/>
              <a:t>创建分支</a:t>
            </a:r>
            <a:endParaRPr kumimoji="1" lang="en-US" altLang="zh-CN" sz="2000" dirty="0"/>
          </a:p>
          <a:p>
            <a:pPr lvl="2"/>
            <a:r>
              <a:rPr kumimoji="1" lang="zh-CN" altLang="en-US" sz="2000" dirty="0"/>
              <a:t>使用</a:t>
            </a:r>
            <a:r>
              <a:rPr kumimoji="1" lang="en-US" altLang="zh-CN" sz="2000" dirty="0"/>
              <a:t>cherry-pick</a:t>
            </a:r>
            <a:r>
              <a:rPr kumimoji="1" lang="zh-CN" altLang="en-US" sz="2000" dirty="0"/>
              <a:t>管理分支</a:t>
            </a:r>
            <a:endParaRPr kumimoji="1" lang="en-US" altLang="zh-CN" sz="2000" dirty="0"/>
          </a:p>
          <a:p>
            <a:pPr lvl="1"/>
            <a:r>
              <a:rPr kumimoji="1" lang="zh-CN" altLang="en-US" sz="2000" dirty="0"/>
              <a:t>合并管理</a:t>
            </a:r>
            <a:endParaRPr kumimoji="1" lang="en-US" altLang="zh-CN" sz="2000" dirty="0"/>
          </a:p>
          <a:p>
            <a:pPr lvl="2"/>
            <a:r>
              <a:rPr kumimoji="1" lang="zh-CN" altLang="en-US" sz="2000" dirty="0"/>
              <a:t>管理合并：</a:t>
            </a:r>
            <a:r>
              <a:rPr kumimoji="1" lang="en-US" altLang="zh-CN" sz="2000" dirty="0"/>
              <a:t>Merge</a:t>
            </a:r>
            <a:endParaRPr kumimoji="1" lang="en-US" altLang="zh-CN" sz="2000" dirty="0"/>
          </a:p>
          <a:p>
            <a:pPr lvl="2"/>
            <a:r>
              <a:rPr kumimoji="1" lang="zh-CN" altLang="en-US" sz="2000" dirty="0"/>
              <a:t>管理合并：</a:t>
            </a:r>
            <a:r>
              <a:rPr kumimoji="1" lang="en-US" altLang="zh-CN" sz="2000" dirty="0"/>
              <a:t>Rebase</a:t>
            </a:r>
            <a:endParaRPr kumimoji="1" lang="en-US" altLang="zh-CN" sz="2000" dirty="0"/>
          </a:p>
          <a:p>
            <a:endParaRPr lang="zh-CN" altLang="en-US" sz="2400" dirty="0"/>
          </a:p>
          <a:p>
            <a:pPr lvl="1"/>
            <a:endParaRPr lang="zh-CN" altLang="en-US" sz="2000" dirty="0"/>
          </a:p>
        </p:txBody>
      </p:sp>
    </p:spTree>
  </p:cSld>
  <p:clrMapOvr>
    <a:masterClrMapping/>
  </p:clrMapOvr>
  <p:transition>
    <p:pull dir="l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在</a:t>
            </a:r>
            <a:r>
              <a:rPr lang="en-US" altLang="zh-CN" b="1" dirty="0"/>
              <a:t>Git</a:t>
            </a:r>
            <a:r>
              <a:rPr lang="zh-CN" altLang="en-US" b="1" dirty="0"/>
              <a:t>中管理分支与合并</a:t>
            </a:r>
            <a:endParaRPr kumimoji="1" lang="zh-CN" altLang="en-US" dirty="0"/>
          </a:p>
        </p:txBody>
      </p:sp>
      <p:sp>
        <p:nvSpPr>
          <p:cNvPr id="3" name="内容占位符 2"/>
          <p:cNvSpPr>
            <a:spLocks noGrp="1"/>
          </p:cNvSpPr>
          <p:nvPr>
            <p:ph idx="1"/>
          </p:nvPr>
        </p:nvSpPr>
        <p:spPr/>
        <p:txBody>
          <a:bodyPr/>
          <a:lstStyle/>
          <a:p>
            <a:r>
              <a:rPr kumimoji="1" lang="zh-CN" altLang="en-US" b="1" dirty="0"/>
              <a:t>分支管理</a:t>
            </a:r>
            <a:endParaRPr kumimoji="1" lang="en-US" altLang="zh-CN" b="1" dirty="0"/>
          </a:p>
          <a:p>
            <a:pPr lvl="1"/>
            <a:r>
              <a:rPr kumimoji="1" lang="zh-CN" altLang="en-US" dirty="0"/>
              <a:t>创建分支</a:t>
            </a:r>
            <a:endParaRPr kumimoji="1" lang="en-US" altLang="zh-CN" dirty="0"/>
          </a:p>
          <a:p>
            <a:pPr lvl="1"/>
            <a:r>
              <a:rPr kumimoji="1" lang="zh-CN" altLang="en-US" dirty="0"/>
              <a:t>使用</a:t>
            </a:r>
            <a:r>
              <a:rPr kumimoji="1" lang="en-US" altLang="zh-CN" dirty="0"/>
              <a:t>cherry-pick</a:t>
            </a:r>
            <a:r>
              <a:rPr kumimoji="1" lang="zh-CN" altLang="en-US" dirty="0"/>
              <a:t>管理分支</a:t>
            </a:r>
            <a:endParaRPr kumimoji="1" lang="en-US" altLang="zh-CN" dirty="0"/>
          </a:p>
          <a:p>
            <a:r>
              <a:rPr kumimoji="1" lang="zh-CN" altLang="en-US" dirty="0"/>
              <a:t>合并管理</a:t>
            </a:r>
            <a:endParaRPr kumimoji="1" lang="en-US" altLang="zh-CN" dirty="0"/>
          </a:p>
          <a:p>
            <a:pPr lvl="1"/>
            <a:r>
              <a:rPr kumimoji="1" lang="zh-CN" altLang="en-US" dirty="0"/>
              <a:t>管理合并：</a:t>
            </a:r>
            <a:r>
              <a:rPr kumimoji="1" lang="en-US" altLang="zh-CN" dirty="0"/>
              <a:t>Merge</a:t>
            </a:r>
            <a:endParaRPr kumimoji="1" lang="en-US" altLang="zh-CN" dirty="0"/>
          </a:p>
          <a:p>
            <a:pPr lvl="1"/>
            <a:r>
              <a:rPr kumimoji="1" lang="zh-CN" altLang="en-US" dirty="0"/>
              <a:t>管理合并：</a:t>
            </a:r>
            <a:r>
              <a:rPr kumimoji="1" lang="en-US" altLang="zh-CN" dirty="0"/>
              <a:t>Rebase</a:t>
            </a:r>
            <a:endParaRPr kumimoji="1" lang="en-US" altLang="zh-CN" dirty="0"/>
          </a:p>
          <a:p>
            <a:endParaRPr kumimoji="1" lang="zh-CN" altLang="en-US" dirty="0"/>
          </a:p>
        </p:txBody>
      </p:sp>
    </p:spTree>
  </p:cSld>
  <p:clrMapOvr>
    <a:masterClrMapping/>
  </p:clrMapOvr>
  <p:transition>
    <p:pull dir="l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中管理分支与合并</a:t>
            </a:r>
            <a:endParaRPr kumimoji="1" lang="zh-CN" altLang="en-US" dirty="0"/>
          </a:p>
        </p:txBody>
      </p:sp>
      <p:sp>
        <p:nvSpPr>
          <p:cNvPr id="3" name="内容占位符 2"/>
          <p:cNvSpPr>
            <a:spLocks noGrp="1"/>
          </p:cNvSpPr>
          <p:nvPr>
            <p:ph idx="1"/>
          </p:nvPr>
        </p:nvSpPr>
        <p:spPr/>
        <p:txBody>
          <a:bodyPr/>
          <a:lstStyle/>
          <a:p>
            <a:r>
              <a:rPr kumimoji="1" lang="en-US" altLang="zh-CN" dirty="0"/>
              <a:t>Git</a:t>
            </a:r>
            <a:r>
              <a:rPr kumimoji="1" lang="zh-CN" altLang="en-US" dirty="0"/>
              <a:t>中管理着一系列的提交</a:t>
            </a:r>
            <a:r>
              <a:rPr kumimoji="1" lang="en-US" altLang="zh-CN" dirty="0"/>
              <a:t>(commit)</a:t>
            </a:r>
            <a:r>
              <a:rPr kumimoji="1" lang="zh-CN" altLang="en-US" dirty="0"/>
              <a:t>，每个提交指向了一个资源集的快照</a:t>
            </a:r>
            <a:r>
              <a:rPr kumimoji="1" lang="en-US" altLang="zh-CN" dirty="0"/>
              <a:t>(Snapshot)</a:t>
            </a:r>
            <a:r>
              <a:rPr kumimoji="1" lang="zh-CN" altLang="en-US" dirty="0"/>
              <a:t>。在没有分支的情况下（或者说，只有一个默认分支），这些提交构成了一个前后衔接的链：</a:t>
            </a:r>
            <a:endParaRPr kumimoji="1" lang="en-US" altLang="zh-CN" dirty="0"/>
          </a:p>
          <a:p>
            <a:endParaRPr kumimoji="1" lang="zh-CN" altLang="en-US" dirty="0"/>
          </a:p>
        </p:txBody>
      </p:sp>
      <p:pic>
        <p:nvPicPr>
          <p:cNvPr id="4" name="图片 3"/>
          <p:cNvPicPr>
            <a:picLocks noChangeAspect="1"/>
          </p:cNvPicPr>
          <p:nvPr/>
        </p:nvPicPr>
        <p:blipFill>
          <a:blip r:embed="rId1"/>
          <a:stretch>
            <a:fillRect/>
          </a:stretch>
        </p:blipFill>
        <p:spPr>
          <a:xfrm>
            <a:off x="923589" y="3205006"/>
            <a:ext cx="7124700" cy="2489200"/>
          </a:xfrm>
          <a:prstGeom prst="rect">
            <a:avLst/>
          </a:prstGeom>
        </p:spPr>
      </p:pic>
    </p:spTree>
  </p:cSld>
  <p:clrMapOvr>
    <a:masterClrMapping/>
  </p:clrMapOvr>
  <p:transition>
    <p:pull dir="l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82650" y="3030145"/>
            <a:ext cx="7378700" cy="3035300"/>
          </a:xfrm>
          <a:prstGeom prst="rect">
            <a:avLst/>
          </a:prstGeom>
        </p:spPr>
      </p:pic>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中创建分支</a:t>
            </a:r>
            <a:endParaRPr kumimoji="1" lang="zh-CN" altLang="en-US" dirty="0"/>
          </a:p>
        </p:txBody>
      </p:sp>
      <p:sp>
        <p:nvSpPr>
          <p:cNvPr id="3" name="内容占位符 2"/>
          <p:cNvSpPr>
            <a:spLocks noGrp="1"/>
          </p:cNvSpPr>
          <p:nvPr>
            <p:ph idx="1"/>
          </p:nvPr>
        </p:nvSpPr>
        <p:spPr/>
        <p:txBody>
          <a:bodyPr/>
          <a:lstStyle/>
          <a:p>
            <a:r>
              <a:rPr kumimoji="1" lang="en-US" altLang="zh-CN" dirty="0"/>
              <a:t>Git</a:t>
            </a:r>
            <a:r>
              <a:rPr kumimoji="1" lang="zh-CN" altLang="en-US" dirty="0"/>
              <a:t>在初始化仓库的时候，给这条默认的链一个名字：</a:t>
            </a:r>
            <a:r>
              <a:rPr kumimoji="1" lang="en-US" altLang="zh-CN" dirty="0"/>
              <a:t>master</a:t>
            </a:r>
            <a:r>
              <a:rPr kumimoji="1" lang="zh-CN" altLang="en-US" dirty="0"/>
              <a:t>。一个分支其实就是一个指针，指向了这条链最新的</a:t>
            </a:r>
            <a:r>
              <a:rPr kumimoji="1" lang="en-US" altLang="zh-CN" dirty="0"/>
              <a:t>commit</a:t>
            </a:r>
            <a:r>
              <a:rPr kumimoji="1" lang="zh-CN" altLang="en-US" dirty="0"/>
              <a:t>。</a:t>
            </a:r>
            <a:endParaRPr kumimoji="1" lang="en-US" altLang="zh-CN" dirty="0"/>
          </a:p>
          <a:p>
            <a:r>
              <a:rPr kumimoji="1" lang="zh-CN" altLang="en-US" dirty="0"/>
              <a:t>每次提交会生成一个新的</a:t>
            </a:r>
            <a:r>
              <a:rPr kumimoji="1" lang="en-US" altLang="zh-CN" dirty="0"/>
              <a:t>commit</a:t>
            </a:r>
            <a:r>
              <a:rPr kumimoji="1" lang="zh-CN" altLang="en-US" dirty="0"/>
              <a:t>，并将该分支的指针（这里是</a:t>
            </a:r>
            <a:r>
              <a:rPr kumimoji="1" lang="en-US" altLang="zh-CN" dirty="0"/>
              <a:t>master</a:t>
            </a:r>
            <a:r>
              <a:rPr kumimoji="1" lang="zh-CN" altLang="en-US" dirty="0"/>
              <a:t>）指向</a:t>
            </a:r>
            <a:br>
              <a:rPr kumimoji="1" lang="en-US" altLang="zh-CN" dirty="0"/>
            </a:br>
            <a:r>
              <a:rPr kumimoji="1" lang="zh-CN" altLang="en-US" dirty="0"/>
              <a:t>这个最新的节点。</a:t>
            </a:r>
            <a:endParaRPr kumimoji="1" lang="en-US" altLang="zh-CN" dirty="0"/>
          </a:p>
          <a:p>
            <a:r>
              <a:rPr kumimoji="1" lang="en-US" altLang="zh-CN" dirty="0"/>
              <a:t>HEAD</a:t>
            </a:r>
            <a:r>
              <a:rPr kumimoji="1" lang="zh-CN" altLang="en-US" dirty="0"/>
              <a:t>指向当前的工作分支，</a:t>
            </a:r>
            <a:br>
              <a:rPr kumimoji="1" lang="en-US" altLang="zh-CN" dirty="0"/>
            </a:br>
            <a:r>
              <a:rPr kumimoji="1" lang="zh-CN" altLang="en-US" dirty="0"/>
              <a:t>通常会随着提交一起移动。</a:t>
            </a:r>
            <a:endParaRPr kumimoji="1" lang="en-US" altLang="zh-CN" dirty="0"/>
          </a:p>
        </p:txBody>
      </p:sp>
    </p:spTree>
  </p:cSld>
  <p:clrMapOvr>
    <a:masterClrMapping/>
  </p:clrMapOvr>
  <p:transition>
    <p:pull dir="l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中创建分支</a:t>
            </a:r>
            <a:endParaRPr kumimoji="1" lang="zh-CN" altLang="en-US" dirty="0"/>
          </a:p>
        </p:txBody>
      </p:sp>
      <p:sp>
        <p:nvSpPr>
          <p:cNvPr id="3" name="内容占位符 2"/>
          <p:cNvSpPr>
            <a:spLocks noGrp="1"/>
          </p:cNvSpPr>
          <p:nvPr>
            <p:ph idx="1"/>
          </p:nvPr>
        </p:nvSpPr>
        <p:spPr/>
        <p:txBody>
          <a:bodyPr/>
          <a:lstStyle/>
          <a:p>
            <a:r>
              <a:rPr kumimoji="1" lang="zh-CN" altLang="en-US" dirty="0"/>
              <a:t>如果要创建一个新的分支，比如说 </a:t>
            </a:r>
            <a:r>
              <a:rPr kumimoji="1" lang="en-US" altLang="zh-CN" dirty="0">
                <a:solidFill>
                  <a:srgbClr val="0000CC"/>
                </a:solidFill>
              </a:rPr>
              <a:t>testing</a:t>
            </a:r>
            <a:r>
              <a:rPr kumimoji="1" lang="zh-CN" altLang="en-US" dirty="0"/>
              <a:t>，可以使用</a:t>
            </a:r>
            <a:r>
              <a:rPr kumimoji="1" lang="en-US" altLang="zh-CN" dirty="0"/>
              <a:t>Git</a:t>
            </a:r>
            <a:r>
              <a:rPr kumimoji="1" lang="zh-CN" altLang="en-US" dirty="0"/>
              <a:t>命令：</a:t>
            </a:r>
            <a:endParaRPr kumimoji="1" lang="en-US" altLang="zh-CN" dirty="0"/>
          </a:p>
          <a:p>
            <a:pPr lvl="1"/>
            <a:r>
              <a:rPr kumimoji="1" lang="en-US" altLang="zh-CN" dirty="0"/>
              <a:t>git</a:t>
            </a:r>
            <a:r>
              <a:rPr kumimoji="1" lang="zh-CN" altLang="en-US" dirty="0"/>
              <a:t> </a:t>
            </a:r>
            <a:r>
              <a:rPr kumimoji="1" lang="en-US" altLang="zh-CN" dirty="0"/>
              <a:t>branch</a:t>
            </a:r>
            <a:r>
              <a:rPr kumimoji="1" lang="zh-CN" altLang="en-US" dirty="0"/>
              <a:t> </a:t>
            </a:r>
            <a:r>
              <a:rPr kumimoji="1" lang="en-US" altLang="zh-CN" dirty="0"/>
              <a:t>testing</a:t>
            </a:r>
            <a:endParaRPr kumimoji="1" lang="en-US" altLang="zh-CN" dirty="0"/>
          </a:p>
          <a:p>
            <a:r>
              <a:rPr kumimoji="1" lang="zh-CN" altLang="en-US" dirty="0"/>
              <a:t>这时候会产生一个新的分支，这实际上是一个指向某个提交的指针。</a:t>
            </a:r>
            <a:endParaRPr kumimoji="1" lang="zh-CN" altLang="en-US" dirty="0"/>
          </a:p>
        </p:txBody>
      </p:sp>
      <p:pic>
        <p:nvPicPr>
          <p:cNvPr id="4" name="图片 3"/>
          <p:cNvPicPr>
            <a:picLocks noChangeAspect="1"/>
          </p:cNvPicPr>
          <p:nvPr/>
        </p:nvPicPr>
        <p:blipFill>
          <a:blip r:embed="rId1"/>
          <a:stretch>
            <a:fillRect/>
          </a:stretch>
        </p:blipFill>
        <p:spPr>
          <a:xfrm>
            <a:off x="1168549" y="3429000"/>
            <a:ext cx="7086600" cy="2959100"/>
          </a:xfrm>
          <a:prstGeom prst="rect">
            <a:avLst/>
          </a:prstGeom>
        </p:spPr>
      </p:pic>
    </p:spTree>
  </p:cSld>
  <p:clrMapOvr>
    <a:masterClrMapping/>
  </p:clrMapOvr>
  <p:transition>
    <p:pull dir="l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中创建分支</a:t>
            </a:r>
            <a:endParaRPr kumimoji="1" lang="zh-CN" altLang="en-US" dirty="0"/>
          </a:p>
        </p:txBody>
      </p:sp>
      <p:pic>
        <p:nvPicPr>
          <p:cNvPr id="5" name="图片 4"/>
          <p:cNvPicPr>
            <a:picLocks noChangeAspect="1"/>
          </p:cNvPicPr>
          <p:nvPr/>
        </p:nvPicPr>
        <p:blipFill>
          <a:blip r:embed="rId1"/>
          <a:stretch>
            <a:fillRect/>
          </a:stretch>
        </p:blipFill>
        <p:spPr>
          <a:xfrm>
            <a:off x="3636505" y="3761117"/>
            <a:ext cx="5321515" cy="2921251"/>
          </a:xfrm>
          <a:prstGeom prst="rect">
            <a:avLst/>
          </a:prstGeom>
        </p:spPr>
      </p:pic>
      <p:sp>
        <p:nvSpPr>
          <p:cNvPr id="3" name="内容占位符 2"/>
          <p:cNvSpPr>
            <a:spLocks noGrp="1"/>
          </p:cNvSpPr>
          <p:nvPr>
            <p:ph idx="1"/>
          </p:nvPr>
        </p:nvSpPr>
        <p:spPr/>
        <p:txBody>
          <a:bodyPr/>
          <a:lstStyle/>
          <a:p>
            <a:r>
              <a:rPr kumimoji="1" lang="zh-CN" altLang="en-US" dirty="0"/>
              <a:t>可以使用</a:t>
            </a:r>
            <a:endParaRPr kumimoji="1" lang="en-US" altLang="zh-CN" dirty="0"/>
          </a:p>
          <a:p>
            <a:pPr lvl="1"/>
            <a:r>
              <a:rPr kumimoji="1" lang="en-GB" altLang="zh-CN" dirty="0"/>
              <a:t>git checkout testing</a:t>
            </a:r>
            <a:endParaRPr kumimoji="1" lang="en-GB" altLang="zh-CN" dirty="0"/>
          </a:p>
          <a:p>
            <a:r>
              <a:rPr kumimoji="1" lang="zh-CN" altLang="en-GB" dirty="0"/>
              <a:t>此时</a:t>
            </a:r>
            <a:r>
              <a:rPr kumimoji="1" lang="zh-CN" altLang="en-US" dirty="0"/>
              <a:t>工作分支就切换为 </a:t>
            </a:r>
            <a:r>
              <a:rPr kumimoji="1" lang="en-US" altLang="zh-CN" dirty="0"/>
              <a:t>testing</a:t>
            </a:r>
            <a:r>
              <a:rPr kumimoji="1" lang="zh-CN" altLang="en-US" dirty="0"/>
              <a:t>，接下来所有的操作，包括提交，都工作在</a:t>
            </a:r>
            <a:r>
              <a:rPr kumimoji="1" lang="en-US" altLang="zh-CN" dirty="0"/>
              <a:t>testing</a:t>
            </a:r>
            <a:r>
              <a:rPr kumimoji="1" lang="zh-CN" altLang="en-US" dirty="0"/>
              <a:t>分支上。</a:t>
            </a:r>
            <a:endParaRPr kumimoji="1" lang="en-US" altLang="zh-CN" dirty="0"/>
          </a:p>
          <a:p>
            <a:r>
              <a:rPr kumimoji="1" lang="zh-CN" altLang="en-US" dirty="0"/>
              <a:t>可以使用</a:t>
            </a:r>
            <a:endParaRPr kumimoji="1" lang="en-US" altLang="zh-CN" dirty="0"/>
          </a:p>
          <a:p>
            <a:pPr lvl="1"/>
            <a:r>
              <a:rPr kumimoji="1" lang="en-US" altLang="zh-CN" dirty="0"/>
              <a:t>git</a:t>
            </a:r>
            <a:r>
              <a:rPr kumimoji="1" lang="zh-CN" altLang="en-US" dirty="0"/>
              <a:t> </a:t>
            </a:r>
            <a:r>
              <a:rPr kumimoji="1" lang="en-US" altLang="zh-CN" dirty="0"/>
              <a:t>checkout</a:t>
            </a:r>
            <a:r>
              <a:rPr kumimoji="1" lang="zh-CN" altLang="en-US" dirty="0"/>
              <a:t> </a:t>
            </a:r>
            <a:r>
              <a:rPr kumimoji="1" lang="en-US" altLang="zh-CN" dirty="0"/>
              <a:t>–b</a:t>
            </a:r>
            <a:r>
              <a:rPr kumimoji="1" lang="zh-CN" altLang="en-US" dirty="0"/>
              <a:t> </a:t>
            </a:r>
            <a:r>
              <a:rPr kumimoji="1" lang="en-US" altLang="zh-CN" dirty="0"/>
              <a:t>testing</a:t>
            </a:r>
            <a:endParaRPr kumimoji="1" lang="en-US" altLang="zh-CN" dirty="0"/>
          </a:p>
          <a:p>
            <a:pPr marL="457200" lvl="1" indent="0">
              <a:buNone/>
            </a:pPr>
            <a:r>
              <a:rPr kumimoji="1" lang="zh-CN" altLang="en-US" dirty="0"/>
              <a:t>直接完成创建和切换分支的操作。 </a:t>
            </a:r>
            <a:endParaRPr kumimoji="1" lang="en-US" altLang="zh-CN" dirty="0"/>
          </a:p>
          <a:p>
            <a:endParaRPr kumimoji="1" lang="en-GB" altLang="zh-CN" dirty="0"/>
          </a:p>
          <a:p>
            <a:pPr lvl="1"/>
            <a:endParaRPr kumimoji="1" lang="zh-CN" altLang="en-US" dirty="0"/>
          </a:p>
        </p:txBody>
      </p:sp>
    </p:spTree>
  </p:cSld>
  <p:clrMapOvr>
    <a:masterClrMapping/>
  </p:clrMapOvr>
  <p:transition>
    <p:pull dir="l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中创建分支</a:t>
            </a:r>
            <a:endParaRPr kumimoji="1" lang="zh-CN" altLang="en-US" dirty="0"/>
          </a:p>
        </p:txBody>
      </p:sp>
      <p:sp>
        <p:nvSpPr>
          <p:cNvPr id="3" name="内容占位符 2"/>
          <p:cNvSpPr>
            <a:spLocks noGrp="1"/>
          </p:cNvSpPr>
          <p:nvPr>
            <p:ph idx="1"/>
          </p:nvPr>
        </p:nvSpPr>
        <p:spPr/>
        <p:txBody>
          <a:bodyPr/>
          <a:lstStyle/>
          <a:p>
            <a:r>
              <a:rPr kumimoji="1" lang="zh-CN" altLang="en-US" dirty="0"/>
              <a:t>在</a:t>
            </a:r>
            <a:r>
              <a:rPr kumimoji="1" lang="en-US" altLang="zh-CN" dirty="0"/>
              <a:t>testing</a:t>
            </a:r>
            <a:r>
              <a:rPr kumimoji="1" lang="zh-CN" altLang="en-US" dirty="0"/>
              <a:t>分支上提交一次后，仓库的结构变为如下形式：</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这时两个分支就产生了分离</a:t>
            </a:r>
            <a:endParaRPr kumimoji="1" lang="en-US" altLang="zh-CN" dirty="0"/>
          </a:p>
          <a:p>
            <a:endParaRPr kumimoji="1" lang="zh-CN" altLang="en-US" dirty="0"/>
          </a:p>
        </p:txBody>
      </p:sp>
      <p:pic>
        <p:nvPicPr>
          <p:cNvPr id="4" name="图片 3"/>
          <p:cNvPicPr>
            <a:picLocks noChangeAspect="1"/>
          </p:cNvPicPr>
          <p:nvPr/>
        </p:nvPicPr>
        <p:blipFill>
          <a:blip r:embed="rId1"/>
          <a:stretch>
            <a:fillRect/>
          </a:stretch>
        </p:blipFill>
        <p:spPr>
          <a:xfrm>
            <a:off x="1262903" y="2650116"/>
            <a:ext cx="7048500" cy="2870200"/>
          </a:xfrm>
          <a:prstGeom prst="rect">
            <a:avLst/>
          </a:prstGeom>
        </p:spPr>
      </p:pic>
    </p:spTree>
  </p:cSld>
  <p:clrMapOvr>
    <a:masterClrMapping/>
  </p:clrMapOvr>
  <p:transition>
    <p:pull dir="l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514600" y="2957902"/>
            <a:ext cx="6172200" cy="3606800"/>
          </a:xfrm>
          <a:prstGeom prst="rect">
            <a:avLst/>
          </a:prstGeom>
        </p:spPr>
      </p:pic>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中创建分支</a:t>
            </a:r>
            <a:endParaRPr kumimoji="1" lang="zh-CN" altLang="en-US" dirty="0"/>
          </a:p>
        </p:txBody>
      </p:sp>
      <p:sp>
        <p:nvSpPr>
          <p:cNvPr id="3" name="内容占位符 2"/>
          <p:cNvSpPr>
            <a:spLocks noGrp="1"/>
          </p:cNvSpPr>
          <p:nvPr>
            <p:ph idx="1"/>
          </p:nvPr>
        </p:nvSpPr>
        <p:spPr/>
        <p:txBody>
          <a:bodyPr/>
          <a:lstStyle/>
          <a:p>
            <a:r>
              <a:rPr kumimoji="1" lang="zh-CN" altLang="en-US" dirty="0"/>
              <a:t>可以使用</a:t>
            </a:r>
            <a:endParaRPr kumimoji="1" lang="en-US" altLang="zh-CN" dirty="0"/>
          </a:p>
          <a:p>
            <a:pPr lvl="1"/>
            <a:r>
              <a:rPr kumimoji="1" lang="en-US" altLang="zh-CN" dirty="0"/>
              <a:t>git</a:t>
            </a:r>
            <a:r>
              <a:rPr kumimoji="1" lang="zh-CN" altLang="en-US" dirty="0"/>
              <a:t> </a:t>
            </a:r>
            <a:r>
              <a:rPr kumimoji="1" lang="en-US" altLang="zh-CN" dirty="0"/>
              <a:t>checkout</a:t>
            </a:r>
            <a:r>
              <a:rPr kumimoji="1" lang="zh-CN" altLang="en-US" dirty="0"/>
              <a:t> </a:t>
            </a:r>
            <a:r>
              <a:rPr kumimoji="1" lang="en-US" altLang="zh-CN" dirty="0"/>
              <a:t>master</a:t>
            </a:r>
            <a:endParaRPr kumimoji="1" lang="en-US" altLang="zh-CN" dirty="0"/>
          </a:p>
          <a:p>
            <a:pPr marL="457200" lvl="1" indent="0">
              <a:buNone/>
            </a:pPr>
            <a:r>
              <a:rPr kumimoji="1" lang="zh-CN" altLang="en-US" dirty="0"/>
              <a:t>重新切换到</a:t>
            </a:r>
            <a:r>
              <a:rPr kumimoji="1" lang="en-US" altLang="zh-CN" dirty="0"/>
              <a:t>master</a:t>
            </a:r>
            <a:r>
              <a:rPr kumimoji="1" lang="zh-CN" altLang="en-US" dirty="0"/>
              <a:t>分支，然后在</a:t>
            </a:r>
            <a:r>
              <a:rPr kumimoji="1" lang="en-US" altLang="zh-CN" dirty="0"/>
              <a:t>master</a:t>
            </a:r>
            <a:r>
              <a:rPr kumimoji="1" lang="zh-CN" altLang="en-US" dirty="0"/>
              <a:t>上继续提交，此时分支的结构变为如下的形式：</a:t>
            </a:r>
            <a:endParaRPr kumimoji="1" lang="en-US" altLang="zh-CN" dirty="0"/>
          </a:p>
          <a:p>
            <a:pPr marL="457200" lvl="1" indent="0">
              <a:buNone/>
            </a:pPr>
            <a:endParaRPr kumimoji="1" lang="en-US" altLang="zh-CN" dirty="0"/>
          </a:p>
          <a:p>
            <a:pPr marL="457200" lvl="1" indent="0">
              <a:buNone/>
            </a:pPr>
            <a:r>
              <a:rPr kumimoji="1" lang="zh-CN" altLang="en-US" dirty="0"/>
              <a:t>这种情况下，通常就需要进行合并了。</a:t>
            </a:r>
            <a:endParaRPr kumimoji="1" lang="zh-CN" altLang="en-US" dirty="0"/>
          </a:p>
        </p:txBody>
      </p:sp>
    </p:spTree>
  </p:cSld>
  <p:clrMapOvr>
    <a:masterClrMapping/>
  </p:clrMapOvr>
  <p:transition>
    <p:pull dir="l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中使用</a:t>
            </a:r>
            <a:r>
              <a:rPr kumimoji="1" lang="en-US" altLang="zh-CN" dirty="0"/>
              <a:t>Cherry</a:t>
            </a:r>
            <a:r>
              <a:rPr kumimoji="1" lang="zh-CN" altLang="en-US" dirty="0"/>
              <a:t> </a:t>
            </a:r>
            <a:r>
              <a:rPr kumimoji="1" lang="en-US" altLang="zh-CN" dirty="0"/>
              <a:t>Pick</a:t>
            </a:r>
            <a:r>
              <a:rPr kumimoji="1" lang="zh-CN" altLang="en-US" dirty="0"/>
              <a:t>管理分支</a:t>
            </a:r>
            <a:endParaRPr kumimoji="1" lang="zh-CN" altLang="en-US" dirty="0"/>
          </a:p>
        </p:txBody>
      </p:sp>
      <p:sp>
        <p:nvSpPr>
          <p:cNvPr id="3" name="内容占位符 2"/>
          <p:cNvSpPr>
            <a:spLocks noGrp="1"/>
          </p:cNvSpPr>
          <p:nvPr>
            <p:ph idx="1"/>
          </p:nvPr>
        </p:nvSpPr>
        <p:spPr/>
        <p:txBody>
          <a:bodyPr/>
          <a:lstStyle/>
          <a:p>
            <a:r>
              <a:rPr kumimoji="1" lang="zh-CN" altLang="en-US" dirty="0"/>
              <a:t>假设有下面两个分支，一个是开发分支，一个是发布分支</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en-US" altLang="zh-CN" dirty="0"/>
              <a:t>dev</a:t>
            </a:r>
            <a:r>
              <a:rPr kumimoji="1" lang="zh-CN" altLang="en-US" dirty="0"/>
              <a:t>分支中的提交</a:t>
            </a:r>
            <a:r>
              <a:rPr kumimoji="1" lang="en-US" altLang="zh-CN" dirty="0"/>
              <a:t>F</a:t>
            </a:r>
            <a:r>
              <a:rPr kumimoji="1" lang="zh-CN" altLang="en-US" dirty="0"/>
              <a:t>是一个公共的</a:t>
            </a:r>
            <a:r>
              <a:rPr kumimoji="1" lang="en-US" altLang="zh-CN" dirty="0"/>
              <a:t>bugfix</a:t>
            </a:r>
            <a:r>
              <a:rPr kumimoji="1" lang="zh-CN" altLang="en-US" dirty="0"/>
              <a:t>，需要反映到</a:t>
            </a:r>
            <a:r>
              <a:rPr kumimoji="1" lang="en-US" altLang="zh-CN" dirty="0"/>
              <a:t>rel_2.3</a:t>
            </a:r>
            <a:r>
              <a:rPr kumimoji="1" lang="zh-CN" altLang="en-US" dirty="0"/>
              <a:t>中，而其他的提交不需要反映到</a:t>
            </a:r>
            <a:r>
              <a:rPr kumimoji="1" lang="en-US" altLang="zh-CN" dirty="0"/>
              <a:t>rel_2.3</a:t>
            </a:r>
            <a:r>
              <a:rPr kumimoji="1" lang="zh-CN" altLang="en-US" dirty="0"/>
              <a:t>中。</a:t>
            </a:r>
            <a:endParaRPr kumimoji="1" lang="en-US" altLang="zh-CN" dirty="0"/>
          </a:p>
          <a:p>
            <a:endParaRPr kumimoji="1" lang="zh-CN" altLang="en-US" dirty="0"/>
          </a:p>
        </p:txBody>
      </p:sp>
      <p:pic>
        <p:nvPicPr>
          <p:cNvPr id="4" name="图片 3"/>
          <p:cNvPicPr>
            <a:picLocks noChangeAspect="1"/>
          </p:cNvPicPr>
          <p:nvPr/>
        </p:nvPicPr>
        <p:blipFill>
          <a:blip r:embed="rId1"/>
          <a:stretch>
            <a:fillRect/>
          </a:stretch>
        </p:blipFill>
        <p:spPr>
          <a:xfrm>
            <a:off x="1443603" y="1936530"/>
            <a:ext cx="6422678" cy="1740438"/>
          </a:xfrm>
          <a:prstGeom prst="rect">
            <a:avLst/>
          </a:prstGeom>
        </p:spPr>
      </p:pic>
    </p:spTree>
  </p:cSld>
  <p:clrMapOvr>
    <a:masterClrMapping/>
  </p:clrMapOvr>
  <p:transition>
    <p:pull dir="l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中使用</a:t>
            </a:r>
            <a:r>
              <a:rPr kumimoji="1" lang="en-US" altLang="zh-CN" dirty="0"/>
              <a:t>Cherry</a:t>
            </a:r>
            <a:r>
              <a:rPr kumimoji="1" lang="zh-CN" altLang="en-US" dirty="0"/>
              <a:t> </a:t>
            </a:r>
            <a:r>
              <a:rPr kumimoji="1" lang="en-US" altLang="zh-CN" dirty="0"/>
              <a:t>Pick</a:t>
            </a:r>
            <a:r>
              <a:rPr kumimoji="1" lang="zh-CN" altLang="en-US" dirty="0"/>
              <a:t>管理分支</a:t>
            </a:r>
            <a:endParaRPr kumimoji="1" lang="zh-CN" altLang="en-US" dirty="0"/>
          </a:p>
        </p:txBody>
      </p:sp>
      <p:sp>
        <p:nvSpPr>
          <p:cNvPr id="3" name="内容占位符 2"/>
          <p:cNvSpPr>
            <a:spLocks noGrp="1"/>
          </p:cNvSpPr>
          <p:nvPr>
            <p:ph idx="1"/>
          </p:nvPr>
        </p:nvSpPr>
        <p:spPr/>
        <p:txBody>
          <a:bodyPr/>
          <a:lstStyle/>
          <a:p>
            <a:r>
              <a:rPr kumimoji="1" lang="zh-CN" altLang="en-US" dirty="0"/>
              <a:t>此时我们可以使用</a:t>
            </a:r>
            <a:r>
              <a:rPr kumimoji="1" lang="en-US" altLang="zh-CN" dirty="0"/>
              <a:t>cherry-pick</a:t>
            </a:r>
            <a:r>
              <a:rPr kumimoji="1" lang="zh-CN" altLang="en-US" dirty="0"/>
              <a:t>命令：</a:t>
            </a:r>
            <a:endParaRPr kumimoji="1" lang="en-US" altLang="zh-CN" dirty="0"/>
          </a:p>
          <a:p>
            <a:pPr lvl="1"/>
            <a:r>
              <a:rPr kumimoji="1" lang="en-US" altLang="zh-CN" dirty="0"/>
              <a:t>git</a:t>
            </a:r>
            <a:r>
              <a:rPr kumimoji="1" lang="zh-CN" altLang="en-US" dirty="0"/>
              <a:t> </a:t>
            </a:r>
            <a:r>
              <a:rPr kumimoji="1" lang="en-US" altLang="zh-CN" dirty="0"/>
              <a:t>checkout</a:t>
            </a:r>
            <a:r>
              <a:rPr kumimoji="1" lang="zh-CN" altLang="en-US" dirty="0"/>
              <a:t> </a:t>
            </a:r>
            <a:r>
              <a:rPr kumimoji="1" lang="en-US" altLang="zh-CN" dirty="0"/>
              <a:t>rel_2.3</a:t>
            </a:r>
            <a:endParaRPr kumimoji="1" lang="en-US" altLang="zh-CN" dirty="0"/>
          </a:p>
          <a:p>
            <a:pPr lvl="1"/>
            <a:r>
              <a:rPr kumimoji="1" lang="en-US" altLang="zh-CN" dirty="0"/>
              <a:t>git</a:t>
            </a:r>
            <a:r>
              <a:rPr kumimoji="1" lang="zh-CN" altLang="en-US" dirty="0"/>
              <a:t> </a:t>
            </a:r>
            <a:r>
              <a:rPr kumimoji="1" lang="en-US" altLang="zh-CN" dirty="0"/>
              <a:t>cherry-pick</a:t>
            </a:r>
            <a:r>
              <a:rPr kumimoji="1" lang="zh-CN" altLang="en-US" dirty="0"/>
              <a:t> </a:t>
            </a:r>
            <a:r>
              <a:rPr kumimoji="1" lang="en-US" altLang="zh-CN" dirty="0"/>
              <a:t>dev~2</a:t>
            </a:r>
            <a:r>
              <a:rPr kumimoji="1" lang="zh-CN" altLang="en-US" dirty="0"/>
              <a:t> </a:t>
            </a:r>
            <a:r>
              <a:rPr kumimoji="1" lang="en-US" altLang="zh-CN" dirty="0">
                <a:highlight>
                  <a:srgbClr val="C0C0C0"/>
                </a:highlight>
              </a:rPr>
              <a:t>##dev~0</a:t>
            </a:r>
            <a:r>
              <a:rPr kumimoji="1" lang="zh-CN" altLang="en-US" dirty="0">
                <a:highlight>
                  <a:srgbClr val="C0C0C0"/>
                </a:highlight>
              </a:rPr>
              <a:t>为</a:t>
            </a:r>
            <a:r>
              <a:rPr kumimoji="1" lang="en-US" altLang="zh-CN" dirty="0">
                <a:highlight>
                  <a:srgbClr val="C0C0C0"/>
                </a:highlight>
              </a:rPr>
              <a:t>H</a:t>
            </a:r>
            <a:r>
              <a:rPr kumimoji="1" lang="zh-CN" altLang="en-US" dirty="0">
                <a:highlight>
                  <a:srgbClr val="C0C0C0"/>
                </a:highlight>
              </a:rPr>
              <a:t>，</a:t>
            </a:r>
            <a:r>
              <a:rPr kumimoji="1" lang="en-US" altLang="zh-CN" dirty="0">
                <a:highlight>
                  <a:srgbClr val="C0C0C0"/>
                </a:highlight>
              </a:rPr>
              <a:t>dev~2</a:t>
            </a:r>
            <a:r>
              <a:rPr kumimoji="1" lang="zh-CN" altLang="en-US" dirty="0">
                <a:highlight>
                  <a:srgbClr val="C0C0C0"/>
                </a:highlight>
              </a:rPr>
              <a:t>为</a:t>
            </a:r>
            <a:r>
              <a:rPr kumimoji="1" lang="en-US" altLang="zh-CN" dirty="0">
                <a:highlight>
                  <a:srgbClr val="C0C0C0"/>
                </a:highlight>
              </a:rPr>
              <a:t>F</a:t>
            </a:r>
            <a:endParaRPr kumimoji="1" lang="en-US" altLang="zh-CN" dirty="0">
              <a:highlight>
                <a:srgbClr val="C0C0C0"/>
              </a:highlight>
            </a:endParaRPr>
          </a:p>
          <a:p>
            <a:r>
              <a:rPr kumimoji="1" lang="zh-CN" altLang="en-US" dirty="0"/>
              <a:t>此时结构如下：</a:t>
            </a:r>
            <a:endParaRPr kumimoji="1" lang="en-US" altLang="zh-CN" dirty="0"/>
          </a:p>
          <a:p>
            <a:pPr lvl="1"/>
            <a:endParaRPr kumimoji="1" lang="en-US" altLang="zh-CN" dirty="0"/>
          </a:p>
          <a:p>
            <a:pPr lvl="1"/>
            <a:endParaRPr kumimoji="1" lang="en-US" altLang="zh-CN" dirty="0"/>
          </a:p>
          <a:p>
            <a:pPr lvl="1"/>
            <a:endParaRPr kumimoji="1" lang="en-US" altLang="zh-CN" dirty="0"/>
          </a:p>
          <a:p>
            <a:pPr lvl="1"/>
            <a:endParaRPr kumimoji="1" lang="en-US" altLang="zh-CN" dirty="0"/>
          </a:p>
          <a:p>
            <a:pPr marL="0" indent="0">
              <a:buNone/>
            </a:pPr>
            <a:endParaRPr kumimoji="1" lang="en-US" altLang="zh-CN" dirty="0"/>
          </a:p>
          <a:p>
            <a:pPr lvl="1"/>
            <a:r>
              <a:rPr kumimoji="1" lang="en-US" altLang="zh-CN" dirty="0"/>
              <a:t>F’</a:t>
            </a:r>
            <a:r>
              <a:rPr kumimoji="1" lang="zh-CN" altLang="en-US" dirty="0"/>
              <a:t>为将</a:t>
            </a:r>
            <a:r>
              <a:rPr kumimoji="1" lang="en-US" altLang="zh-CN" dirty="0"/>
              <a:t>dev</a:t>
            </a:r>
            <a:r>
              <a:rPr kumimoji="1" lang="zh-CN" altLang="en-US" dirty="0"/>
              <a:t>中的</a:t>
            </a:r>
            <a:r>
              <a:rPr kumimoji="1" lang="en-US" altLang="zh-CN" dirty="0"/>
              <a:t>F</a:t>
            </a:r>
            <a:r>
              <a:rPr kumimoji="1" lang="zh-CN" altLang="en-US" dirty="0"/>
              <a:t>应用到</a:t>
            </a:r>
            <a:r>
              <a:rPr kumimoji="1" lang="en-US" altLang="zh-CN" dirty="0"/>
              <a:t>rel_2.3</a:t>
            </a:r>
            <a:r>
              <a:rPr kumimoji="1" lang="zh-CN" altLang="en-US" dirty="0"/>
              <a:t>的结果。当然可能需要手工解决冲突。</a:t>
            </a:r>
            <a:endParaRPr kumimoji="1" lang="en-US" altLang="zh-CN" dirty="0"/>
          </a:p>
        </p:txBody>
      </p:sp>
      <p:pic>
        <p:nvPicPr>
          <p:cNvPr id="4" name="图片 3"/>
          <p:cNvPicPr>
            <a:picLocks noChangeAspect="1"/>
          </p:cNvPicPr>
          <p:nvPr/>
        </p:nvPicPr>
        <p:blipFill>
          <a:blip r:embed="rId1"/>
          <a:stretch>
            <a:fillRect/>
          </a:stretch>
        </p:blipFill>
        <p:spPr>
          <a:xfrm>
            <a:off x="1015246" y="3227522"/>
            <a:ext cx="6868985" cy="1778431"/>
          </a:xfrm>
          <a:prstGeom prst="rect">
            <a:avLst/>
          </a:prstGeom>
        </p:spPr>
      </p:pic>
    </p:spTree>
  </p:cSld>
  <p:clrMapOvr>
    <a:masterClrMapping/>
  </p:clrMapOvr>
  <p:transition>
    <p:pull dir="l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在</a:t>
            </a:r>
            <a:r>
              <a:rPr lang="en-US" altLang="zh-CN" b="1" dirty="0"/>
              <a:t>Git</a:t>
            </a:r>
            <a:r>
              <a:rPr lang="zh-CN" altLang="en-US" b="1" dirty="0"/>
              <a:t>中管理分支与合并</a:t>
            </a:r>
            <a:endParaRPr kumimoji="1" lang="zh-CN" altLang="en-US" dirty="0"/>
          </a:p>
        </p:txBody>
      </p:sp>
      <p:sp>
        <p:nvSpPr>
          <p:cNvPr id="3" name="内容占位符 2"/>
          <p:cNvSpPr>
            <a:spLocks noGrp="1"/>
          </p:cNvSpPr>
          <p:nvPr>
            <p:ph idx="1"/>
          </p:nvPr>
        </p:nvSpPr>
        <p:spPr/>
        <p:txBody>
          <a:bodyPr/>
          <a:lstStyle/>
          <a:p>
            <a:r>
              <a:rPr kumimoji="1" lang="zh-CN" altLang="en-US" dirty="0"/>
              <a:t>分支管理</a:t>
            </a:r>
            <a:endParaRPr kumimoji="1" lang="en-US" altLang="zh-CN" dirty="0"/>
          </a:p>
          <a:p>
            <a:pPr lvl="1"/>
            <a:r>
              <a:rPr kumimoji="1" lang="zh-CN" altLang="en-US" dirty="0"/>
              <a:t>创建分支</a:t>
            </a:r>
            <a:endParaRPr kumimoji="1" lang="en-US" altLang="zh-CN" dirty="0"/>
          </a:p>
          <a:p>
            <a:pPr lvl="1"/>
            <a:r>
              <a:rPr kumimoji="1" lang="zh-CN" altLang="en-US" dirty="0"/>
              <a:t>使用</a:t>
            </a:r>
            <a:r>
              <a:rPr kumimoji="1" lang="en-US" altLang="zh-CN" dirty="0"/>
              <a:t>cherry-pick</a:t>
            </a:r>
            <a:r>
              <a:rPr kumimoji="1" lang="zh-CN" altLang="en-US" dirty="0"/>
              <a:t>管理分支</a:t>
            </a:r>
            <a:endParaRPr kumimoji="1" lang="en-US" altLang="zh-CN" dirty="0"/>
          </a:p>
          <a:p>
            <a:r>
              <a:rPr kumimoji="1" lang="zh-CN" altLang="en-US" b="1" dirty="0"/>
              <a:t>合并管理</a:t>
            </a:r>
            <a:endParaRPr kumimoji="1" lang="en-US" altLang="zh-CN" b="1" dirty="0"/>
          </a:p>
          <a:p>
            <a:pPr lvl="1"/>
            <a:r>
              <a:rPr kumimoji="1" lang="zh-CN" altLang="en-US" dirty="0"/>
              <a:t>管理合并：</a:t>
            </a:r>
            <a:r>
              <a:rPr kumimoji="1" lang="en-US" altLang="zh-CN" dirty="0"/>
              <a:t>Merge</a:t>
            </a:r>
            <a:endParaRPr kumimoji="1" lang="en-US" altLang="zh-CN" dirty="0"/>
          </a:p>
          <a:p>
            <a:pPr lvl="1"/>
            <a:r>
              <a:rPr kumimoji="1" lang="zh-CN" altLang="en-US" dirty="0"/>
              <a:t>管理合并：</a:t>
            </a:r>
            <a:r>
              <a:rPr kumimoji="1" lang="en-US" altLang="zh-CN" dirty="0"/>
              <a:t>Rebase</a:t>
            </a:r>
            <a:endParaRPr kumimoji="1" lang="en-US" altLang="zh-CN" dirty="0"/>
          </a:p>
          <a:p>
            <a:endParaRPr kumimoji="1" lang="zh-CN" altLang="en-US" dirty="0"/>
          </a:p>
        </p:txBody>
      </p:sp>
    </p:spTree>
  </p:cSld>
  <p:clrMapOvr>
    <a:masterClrMapping/>
  </p:clrMapOvr>
  <p:transition>
    <p:pull dir="l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453289" y="957532"/>
            <a:ext cx="7353300" cy="2209800"/>
          </a:xfrm>
          <a:prstGeom prst="rect">
            <a:avLst/>
          </a:prstGeom>
        </p:spPr>
      </p:pic>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endParaRPr kumimoji="1" lang="zh-CN" altLang="en-US" dirty="0"/>
          </a:p>
        </p:txBody>
      </p:sp>
      <p:sp>
        <p:nvSpPr>
          <p:cNvPr id="3" name="内容占位符 2"/>
          <p:cNvSpPr>
            <a:spLocks noGrp="1"/>
          </p:cNvSpPr>
          <p:nvPr>
            <p:ph idx="1"/>
          </p:nvPr>
        </p:nvSpPr>
        <p:spPr/>
        <p:txBody>
          <a:bodyPr/>
          <a:lstStyle/>
          <a:p>
            <a:endParaRPr kumimoji="1" lang="en-US" altLang="zh-CN" dirty="0"/>
          </a:p>
          <a:p>
            <a:r>
              <a:rPr kumimoji="1" lang="zh-CN" altLang="en-US" dirty="0"/>
              <a:t>假设当前的仓库结构如图：</a:t>
            </a:r>
            <a:endParaRPr kumimoji="1" lang="en-US" altLang="zh-CN" dirty="0"/>
          </a:p>
          <a:p>
            <a:endParaRPr kumimoji="1" lang="en-US" altLang="zh-CN" dirty="0"/>
          </a:p>
          <a:p>
            <a:pPr marL="0" indent="0">
              <a:buNone/>
            </a:pPr>
            <a:endParaRPr kumimoji="1" lang="en-US" altLang="zh-CN" dirty="0"/>
          </a:p>
          <a:p>
            <a:r>
              <a:rPr kumimoji="1" lang="zh-CN" altLang="en-US" dirty="0"/>
              <a:t>考虑下面的场景：</a:t>
            </a:r>
            <a:endParaRPr kumimoji="1" lang="en-US" altLang="zh-CN" dirty="0"/>
          </a:p>
          <a:p>
            <a:pPr lvl="1"/>
            <a:r>
              <a:rPr kumimoji="1" lang="en-US" altLang="zh-CN" dirty="0"/>
              <a:t>master</a:t>
            </a:r>
            <a:r>
              <a:rPr kumimoji="1" lang="zh-CN" altLang="en-US" dirty="0"/>
              <a:t>为主线。需要开发一个名为</a:t>
            </a:r>
            <a:r>
              <a:rPr kumimoji="1" lang="en-US" altLang="zh-CN" dirty="0"/>
              <a:t>iss53</a:t>
            </a:r>
            <a:r>
              <a:rPr kumimoji="1" lang="zh-CN" altLang="en-US" dirty="0"/>
              <a:t>的</a:t>
            </a:r>
            <a:r>
              <a:rPr kumimoji="1" lang="en-US" altLang="zh-CN" dirty="0"/>
              <a:t>pr</a:t>
            </a:r>
            <a:r>
              <a:rPr kumimoji="1" lang="zh-CN" altLang="en-US" dirty="0"/>
              <a:t>，为此创建了一个名为</a:t>
            </a:r>
            <a:r>
              <a:rPr kumimoji="1" lang="en-US" altLang="zh-CN" dirty="0"/>
              <a:t>iss53</a:t>
            </a:r>
            <a:r>
              <a:rPr kumimoji="1" lang="zh-CN" altLang="en-US" dirty="0"/>
              <a:t>的分支，完成后需要合并到</a:t>
            </a:r>
            <a:r>
              <a:rPr kumimoji="1" lang="en-US" altLang="zh-CN" dirty="0"/>
              <a:t>master</a:t>
            </a:r>
            <a:r>
              <a:rPr kumimoji="1" lang="zh-CN" altLang="en-US" dirty="0"/>
              <a:t>。</a:t>
            </a:r>
            <a:endParaRPr kumimoji="1" lang="en-US" altLang="zh-CN" dirty="0"/>
          </a:p>
          <a:p>
            <a:pPr lvl="1"/>
            <a:r>
              <a:rPr kumimoji="1" lang="zh-CN" altLang="en-US" dirty="0"/>
              <a:t>在开发</a:t>
            </a:r>
            <a:r>
              <a:rPr kumimoji="1" lang="en-US" altLang="zh-CN" dirty="0"/>
              <a:t>iss53</a:t>
            </a:r>
            <a:r>
              <a:rPr kumimoji="1" lang="zh-CN" altLang="en-US" dirty="0"/>
              <a:t>的过程中，客户发现了一个</a:t>
            </a:r>
            <a:r>
              <a:rPr kumimoji="1" lang="en-US" altLang="zh-CN" dirty="0"/>
              <a:t>bug</a:t>
            </a:r>
            <a:r>
              <a:rPr kumimoji="1" lang="zh-CN" altLang="en-US" dirty="0"/>
              <a:t>需要紧急修复，为此创建了一个名为</a:t>
            </a:r>
            <a:r>
              <a:rPr kumimoji="1" lang="en-US" altLang="zh-CN" dirty="0"/>
              <a:t>hotfix</a:t>
            </a:r>
            <a:r>
              <a:rPr kumimoji="1" lang="zh-CN" altLang="en-US" dirty="0"/>
              <a:t>的分支，完成后也需要合并至</a:t>
            </a:r>
            <a:r>
              <a:rPr kumimoji="1" lang="en-US" altLang="zh-CN" dirty="0"/>
              <a:t>master</a:t>
            </a:r>
            <a:endParaRPr kumimoji="1" lang="zh-CN" altLang="en-US" dirty="0"/>
          </a:p>
        </p:txBody>
      </p:sp>
    </p:spTree>
  </p:cSld>
  <p:clrMapOvr>
    <a:masterClrMapping/>
  </p:clrMapOvr>
  <p:transition>
    <p:pull dir="l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endParaRPr kumimoji="1" lang="zh-CN" altLang="en-US" dirty="0"/>
          </a:p>
        </p:txBody>
      </p:sp>
      <p:sp>
        <p:nvSpPr>
          <p:cNvPr id="3" name="内容占位符 2"/>
          <p:cNvSpPr>
            <a:spLocks noGrp="1"/>
          </p:cNvSpPr>
          <p:nvPr>
            <p:ph idx="1"/>
          </p:nvPr>
        </p:nvSpPr>
        <p:spPr/>
        <p:txBody>
          <a:bodyPr/>
          <a:lstStyle/>
          <a:p>
            <a:r>
              <a:rPr kumimoji="1" lang="zh-CN" altLang="en-US" dirty="0"/>
              <a:t>创建</a:t>
            </a:r>
            <a:r>
              <a:rPr kumimoji="1" lang="en-US" altLang="zh-CN" dirty="0"/>
              <a:t>iss53</a:t>
            </a:r>
            <a:r>
              <a:rPr kumimoji="1" lang="zh-CN" altLang="en-US" dirty="0"/>
              <a:t>的分支</a:t>
            </a:r>
            <a:endParaRPr kumimoji="1" lang="zh-CN" altLang="en-US" dirty="0"/>
          </a:p>
        </p:txBody>
      </p:sp>
      <p:pic>
        <p:nvPicPr>
          <p:cNvPr id="4" name="图片 3"/>
          <p:cNvPicPr>
            <a:picLocks noChangeAspect="1"/>
          </p:cNvPicPr>
          <p:nvPr/>
        </p:nvPicPr>
        <p:blipFill>
          <a:blip r:embed="rId1"/>
          <a:stretch>
            <a:fillRect/>
          </a:stretch>
        </p:blipFill>
        <p:spPr>
          <a:xfrm>
            <a:off x="630294" y="1657640"/>
            <a:ext cx="7302500" cy="1244600"/>
          </a:xfrm>
          <a:prstGeom prst="rect">
            <a:avLst/>
          </a:prstGeom>
        </p:spPr>
      </p:pic>
      <p:pic>
        <p:nvPicPr>
          <p:cNvPr id="7" name="图片 6"/>
          <p:cNvPicPr>
            <a:picLocks noChangeAspect="1"/>
          </p:cNvPicPr>
          <p:nvPr/>
        </p:nvPicPr>
        <p:blipFill>
          <a:blip r:embed="rId2"/>
          <a:stretch>
            <a:fillRect/>
          </a:stretch>
        </p:blipFill>
        <p:spPr>
          <a:xfrm>
            <a:off x="681094" y="3069771"/>
            <a:ext cx="7251700" cy="3327400"/>
          </a:xfrm>
          <a:prstGeom prst="rect">
            <a:avLst/>
          </a:prstGeom>
        </p:spPr>
      </p:pic>
    </p:spTree>
  </p:cSld>
  <p:clrMapOvr>
    <a:masterClrMapping/>
  </p:clrMapOvr>
  <p:transition>
    <p:pull dir="l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endParaRPr kumimoji="1" lang="zh-CN" altLang="en-US" dirty="0"/>
          </a:p>
        </p:txBody>
      </p:sp>
      <p:sp>
        <p:nvSpPr>
          <p:cNvPr id="3" name="内容占位符 2"/>
          <p:cNvSpPr>
            <a:spLocks noGrp="1"/>
          </p:cNvSpPr>
          <p:nvPr>
            <p:ph idx="1"/>
          </p:nvPr>
        </p:nvSpPr>
        <p:spPr/>
        <p:txBody>
          <a:bodyPr/>
          <a:lstStyle/>
          <a:p>
            <a:r>
              <a:rPr kumimoji="1" lang="zh-CN" altLang="en-US" dirty="0"/>
              <a:t>开发并提交</a:t>
            </a:r>
            <a:r>
              <a:rPr kumimoji="1" lang="en-US" altLang="zh-CN" dirty="0"/>
              <a:t>iss53</a:t>
            </a:r>
            <a:endParaRPr kumimoji="1" lang="zh-CN" altLang="en-US" dirty="0"/>
          </a:p>
        </p:txBody>
      </p:sp>
      <p:pic>
        <p:nvPicPr>
          <p:cNvPr id="4" name="图片 3"/>
          <p:cNvPicPr>
            <a:picLocks noChangeAspect="1"/>
          </p:cNvPicPr>
          <p:nvPr/>
        </p:nvPicPr>
        <p:blipFill>
          <a:blip r:embed="rId1"/>
          <a:stretch>
            <a:fillRect/>
          </a:stretch>
        </p:blipFill>
        <p:spPr>
          <a:xfrm>
            <a:off x="908050" y="2465717"/>
            <a:ext cx="7327900" cy="2590800"/>
          </a:xfrm>
          <a:prstGeom prst="rect">
            <a:avLst/>
          </a:prstGeom>
        </p:spPr>
      </p:pic>
    </p:spTree>
  </p:cSld>
  <p:clrMapOvr>
    <a:masterClrMapping/>
  </p:clrMapOvr>
  <p:transition>
    <p:pull dir="l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endParaRPr kumimoji="1" lang="zh-CN" altLang="en-US" dirty="0"/>
          </a:p>
        </p:txBody>
      </p:sp>
      <p:sp>
        <p:nvSpPr>
          <p:cNvPr id="3" name="内容占位符 2"/>
          <p:cNvSpPr>
            <a:spLocks noGrp="1"/>
          </p:cNvSpPr>
          <p:nvPr>
            <p:ph idx="1"/>
          </p:nvPr>
        </p:nvSpPr>
        <p:spPr/>
        <p:txBody>
          <a:bodyPr/>
          <a:lstStyle/>
          <a:p>
            <a:r>
              <a:rPr kumimoji="1" lang="zh-CN" altLang="en-US" dirty="0"/>
              <a:t>需要在主线上完成一个紧急修复。此时</a:t>
            </a:r>
            <a:r>
              <a:rPr kumimoji="1" lang="en-US" altLang="zh-CN" dirty="0"/>
              <a:t>iss53</a:t>
            </a:r>
            <a:r>
              <a:rPr kumimoji="1" lang="zh-CN" altLang="en-US" dirty="0"/>
              <a:t>还未完成。</a:t>
            </a:r>
            <a:endParaRPr kumimoji="1" lang="zh-CN" altLang="en-US" dirty="0"/>
          </a:p>
        </p:txBody>
      </p:sp>
      <p:pic>
        <p:nvPicPr>
          <p:cNvPr id="4" name="图片 3"/>
          <p:cNvPicPr>
            <a:picLocks noChangeAspect="1"/>
          </p:cNvPicPr>
          <p:nvPr/>
        </p:nvPicPr>
        <p:blipFill>
          <a:blip r:embed="rId1"/>
          <a:stretch>
            <a:fillRect/>
          </a:stretch>
        </p:blipFill>
        <p:spPr>
          <a:xfrm>
            <a:off x="920601" y="1940336"/>
            <a:ext cx="7023100" cy="546100"/>
          </a:xfrm>
          <a:prstGeom prst="rect">
            <a:avLst/>
          </a:prstGeom>
        </p:spPr>
      </p:pic>
      <p:pic>
        <p:nvPicPr>
          <p:cNvPr id="5" name="图片 4"/>
          <p:cNvPicPr>
            <a:picLocks noChangeAspect="1"/>
          </p:cNvPicPr>
          <p:nvPr/>
        </p:nvPicPr>
        <p:blipFill>
          <a:blip r:embed="rId2"/>
          <a:stretch>
            <a:fillRect/>
          </a:stretch>
        </p:blipFill>
        <p:spPr>
          <a:xfrm>
            <a:off x="920601" y="2454162"/>
            <a:ext cx="7023100" cy="520700"/>
          </a:xfrm>
          <a:prstGeom prst="rect">
            <a:avLst/>
          </a:prstGeom>
        </p:spPr>
      </p:pic>
      <p:pic>
        <p:nvPicPr>
          <p:cNvPr id="6" name="图片 5"/>
          <p:cNvPicPr>
            <a:picLocks noChangeAspect="1"/>
          </p:cNvPicPr>
          <p:nvPr/>
        </p:nvPicPr>
        <p:blipFill>
          <a:blip r:embed="rId3"/>
          <a:stretch>
            <a:fillRect/>
          </a:stretch>
        </p:blipFill>
        <p:spPr>
          <a:xfrm>
            <a:off x="1177516" y="3528264"/>
            <a:ext cx="6449658" cy="3036437"/>
          </a:xfrm>
          <a:prstGeom prst="rect">
            <a:avLst/>
          </a:prstGeom>
        </p:spPr>
      </p:pic>
      <p:pic>
        <p:nvPicPr>
          <p:cNvPr id="7" name="图片 6"/>
          <p:cNvPicPr>
            <a:picLocks noChangeAspect="1"/>
          </p:cNvPicPr>
          <p:nvPr/>
        </p:nvPicPr>
        <p:blipFill>
          <a:blip r:embed="rId4"/>
          <a:stretch>
            <a:fillRect/>
          </a:stretch>
        </p:blipFill>
        <p:spPr>
          <a:xfrm>
            <a:off x="905435" y="2974482"/>
            <a:ext cx="7010400" cy="457200"/>
          </a:xfrm>
          <a:prstGeom prst="rect">
            <a:avLst/>
          </a:prstGeom>
        </p:spPr>
      </p:pic>
    </p:spTree>
  </p:cSld>
  <p:clrMapOvr>
    <a:masterClrMapping/>
  </p:clrMapOvr>
  <p:transition>
    <p:pull dir="l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endParaRPr kumimoji="1" lang="zh-CN" altLang="en-US" dirty="0"/>
          </a:p>
        </p:txBody>
      </p:sp>
      <p:sp>
        <p:nvSpPr>
          <p:cNvPr id="3" name="内容占位符 2"/>
          <p:cNvSpPr>
            <a:spLocks noGrp="1"/>
          </p:cNvSpPr>
          <p:nvPr>
            <p:ph idx="1"/>
          </p:nvPr>
        </p:nvSpPr>
        <p:spPr/>
        <p:txBody>
          <a:bodyPr/>
          <a:lstStyle/>
          <a:p>
            <a:r>
              <a:rPr kumimoji="1" lang="zh-CN" altLang="en-US" dirty="0"/>
              <a:t>下面有了三个分支。</a:t>
            </a:r>
            <a:endParaRPr kumimoji="1" lang="en-US" altLang="zh-CN" dirty="0"/>
          </a:p>
          <a:p>
            <a:pPr lvl="1"/>
            <a:r>
              <a:rPr kumimoji="1" lang="zh-CN" altLang="en-US" dirty="0"/>
              <a:t>首先需要将</a:t>
            </a:r>
            <a:r>
              <a:rPr kumimoji="1" lang="en-US" altLang="zh-CN" dirty="0"/>
              <a:t>hotfix</a:t>
            </a:r>
            <a:r>
              <a:rPr kumimoji="1" lang="zh-CN" altLang="en-US" dirty="0"/>
              <a:t>与</a:t>
            </a:r>
            <a:r>
              <a:rPr kumimoji="1" lang="en-US" altLang="zh-CN" dirty="0"/>
              <a:t>master</a:t>
            </a:r>
            <a:r>
              <a:rPr kumimoji="1" lang="zh-CN" altLang="en-US" dirty="0"/>
              <a:t>合并，完成紧急修复。</a:t>
            </a:r>
            <a:endParaRPr kumimoji="1" lang="en-US" altLang="zh-CN" dirty="0"/>
          </a:p>
          <a:p>
            <a:pPr lvl="1"/>
            <a:endParaRPr kumimoji="1" lang="zh-CN" altLang="en-US" dirty="0"/>
          </a:p>
        </p:txBody>
      </p:sp>
      <p:pic>
        <p:nvPicPr>
          <p:cNvPr id="4" name="图片 3"/>
          <p:cNvPicPr>
            <a:picLocks noChangeAspect="1"/>
          </p:cNvPicPr>
          <p:nvPr/>
        </p:nvPicPr>
        <p:blipFill>
          <a:blip r:embed="rId1"/>
          <a:stretch>
            <a:fillRect/>
          </a:stretch>
        </p:blipFill>
        <p:spPr>
          <a:xfrm>
            <a:off x="1976419" y="2841741"/>
            <a:ext cx="5919694" cy="3595589"/>
          </a:xfrm>
          <a:prstGeom prst="rect">
            <a:avLst/>
          </a:prstGeom>
        </p:spPr>
      </p:pic>
      <p:pic>
        <p:nvPicPr>
          <p:cNvPr id="5" name="图片 4"/>
          <p:cNvPicPr>
            <a:picLocks noChangeAspect="1"/>
          </p:cNvPicPr>
          <p:nvPr/>
        </p:nvPicPr>
        <p:blipFill>
          <a:blip r:embed="rId2"/>
          <a:stretch>
            <a:fillRect/>
          </a:stretch>
        </p:blipFill>
        <p:spPr>
          <a:xfrm>
            <a:off x="2019450" y="3035300"/>
            <a:ext cx="3111500" cy="787400"/>
          </a:xfrm>
          <a:prstGeom prst="rect">
            <a:avLst/>
          </a:prstGeom>
        </p:spPr>
      </p:pic>
    </p:spTree>
  </p:cSld>
  <p:clrMapOvr>
    <a:masterClrMapping/>
  </p:clrMapOvr>
  <p:transition>
    <p:pull dir="l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endParaRPr kumimoji="1" lang="zh-CN" altLang="en-US" dirty="0"/>
          </a:p>
        </p:txBody>
      </p:sp>
      <p:sp>
        <p:nvSpPr>
          <p:cNvPr id="3" name="内容占位符 2"/>
          <p:cNvSpPr>
            <a:spLocks noGrp="1"/>
          </p:cNvSpPr>
          <p:nvPr>
            <p:ph idx="1"/>
          </p:nvPr>
        </p:nvSpPr>
        <p:spPr/>
        <p:txBody>
          <a:bodyPr/>
          <a:lstStyle/>
          <a:p>
            <a:r>
              <a:rPr kumimoji="1" lang="zh-CN" altLang="en-US" dirty="0"/>
              <a:t>如果不想留下太多的分支，可以吧</a:t>
            </a:r>
            <a:r>
              <a:rPr kumimoji="1" lang="en-US" altLang="zh-CN" dirty="0"/>
              <a:t>hotfix</a:t>
            </a:r>
            <a:r>
              <a:rPr kumimoji="1" lang="zh-CN" altLang="en-US" dirty="0"/>
              <a:t>分支删除：</a:t>
            </a:r>
            <a:endParaRPr kumimoji="1" lang="en-US" altLang="zh-CN" dirty="0"/>
          </a:p>
          <a:p>
            <a:endParaRPr kumimoji="1" lang="zh-CN" altLang="en-US" dirty="0"/>
          </a:p>
        </p:txBody>
      </p:sp>
      <p:pic>
        <p:nvPicPr>
          <p:cNvPr id="5" name="图片 4"/>
          <p:cNvPicPr>
            <a:picLocks noChangeAspect="1"/>
          </p:cNvPicPr>
          <p:nvPr/>
        </p:nvPicPr>
        <p:blipFill>
          <a:blip r:embed="rId1"/>
          <a:stretch>
            <a:fillRect/>
          </a:stretch>
        </p:blipFill>
        <p:spPr>
          <a:xfrm>
            <a:off x="3165811" y="2604322"/>
            <a:ext cx="2984500" cy="444500"/>
          </a:xfrm>
          <a:prstGeom prst="rect">
            <a:avLst/>
          </a:prstGeom>
        </p:spPr>
      </p:pic>
    </p:spTree>
  </p:cSld>
  <p:clrMapOvr>
    <a:masterClrMapping/>
  </p:clrMapOvr>
  <p:transition>
    <p:pull dir="l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r>
              <a:rPr kumimoji="1" lang="en-US" altLang="zh-CN" dirty="0"/>
              <a:t>:Merge</a:t>
            </a:r>
            <a:endParaRPr kumimoji="1" lang="zh-CN" altLang="en-US" dirty="0"/>
          </a:p>
        </p:txBody>
      </p:sp>
      <p:sp>
        <p:nvSpPr>
          <p:cNvPr id="3" name="内容占位符 2"/>
          <p:cNvSpPr>
            <a:spLocks noGrp="1"/>
          </p:cNvSpPr>
          <p:nvPr>
            <p:ph idx="1"/>
          </p:nvPr>
        </p:nvSpPr>
        <p:spPr/>
        <p:txBody>
          <a:bodyPr/>
          <a:lstStyle/>
          <a:p>
            <a:r>
              <a:rPr kumimoji="1" lang="zh-CN" altLang="en-US" dirty="0"/>
              <a:t>回到</a:t>
            </a:r>
            <a:r>
              <a:rPr kumimoji="1" lang="en-US" altLang="zh-CN" dirty="0"/>
              <a:t>iss53</a:t>
            </a:r>
            <a:r>
              <a:rPr kumimoji="1" lang="zh-CN" altLang="en-US" dirty="0"/>
              <a:t>分支继续开发，在完成了</a:t>
            </a:r>
            <a:r>
              <a:rPr kumimoji="1" lang="en-US" altLang="zh-CN" dirty="0"/>
              <a:t>iss53</a:t>
            </a:r>
            <a:r>
              <a:rPr kumimoji="1" lang="zh-CN" altLang="en-US" dirty="0"/>
              <a:t>后需要将这个分支也合并到</a:t>
            </a:r>
            <a:r>
              <a:rPr kumimoji="1" lang="en-US" altLang="zh-CN" dirty="0"/>
              <a:t>master</a:t>
            </a:r>
            <a:r>
              <a:rPr kumimoji="1" lang="zh-CN" altLang="en-US" dirty="0"/>
              <a:t>上。</a:t>
            </a:r>
            <a:endParaRPr kumimoji="1" lang="en-US" altLang="zh-CN" dirty="0"/>
          </a:p>
          <a:p>
            <a:endParaRPr kumimoji="1" lang="en-US" altLang="zh-CN" dirty="0"/>
          </a:p>
          <a:p>
            <a:endParaRPr kumimoji="1" lang="zh-CN" altLang="en-US" dirty="0"/>
          </a:p>
        </p:txBody>
      </p:sp>
      <p:pic>
        <p:nvPicPr>
          <p:cNvPr id="4" name="图片 3"/>
          <p:cNvPicPr>
            <a:picLocks noChangeAspect="1"/>
          </p:cNvPicPr>
          <p:nvPr/>
        </p:nvPicPr>
        <p:blipFill>
          <a:blip r:embed="rId1"/>
          <a:stretch>
            <a:fillRect/>
          </a:stretch>
        </p:blipFill>
        <p:spPr>
          <a:xfrm>
            <a:off x="59367" y="1955276"/>
            <a:ext cx="6149115" cy="2260215"/>
          </a:xfrm>
          <a:prstGeom prst="rect">
            <a:avLst/>
          </a:prstGeom>
        </p:spPr>
      </p:pic>
      <p:pic>
        <p:nvPicPr>
          <p:cNvPr id="5" name="图片 4"/>
          <p:cNvPicPr>
            <a:picLocks noChangeAspect="1"/>
          </p:cNvPicPr>
          <p:nvPr/>
        </p:nvPicPr>
        <p:blipFill>
          <a:blip r:embed="rId2"/>
          <a:stretch>
            <a:fillRect/>
          </a:stretch>
        </p:blipFill>
        <p:spPr>
          <a:xfrm>
            <a:off x="59367" y="4365220"/>
            <a:ext cx="7099300" cy="2108200"/>
          </a:xfrm>
          <a:prstGeom prst="rect">
            <a:avLst/>
          </a:prstGeom>
        </p:spPr>
      </p:pic>
      <p:pic>
        <p:nvPicPr>
          <p:cNvPr id="6" name="图片 5"/>
          <p:cNvPicPr>
            <a:picLocks noChangeAspect="1"/>
          </p:cNvPicPr>
          <p:nvPr/>
        </p:nvPicPr>
        <p:blipFill>
          <a:blip r:embed="rId3"/>
          <a:stretch>
            <a:fillRect/>
          </a:stretch>
        </p:blipFill>
        <p:spPr>
          <a:xfrm>
            <a:off x="6068284" y="2110764"/>
            <a:ext cx="2473288" cy="333606"/>
          </a:xfrm>
          <a:prstGeom prst="rect">
            <a:avLst/>
          </a:prstGeom>
        </p:spPr>
      </p:pic>
      <p:pic>
        <p:nvPicPr>
          <p:cNvPr id="7" name="图片 6"/>
          <p:cNvPicPr>
            <a:picLocks noChangeAspect="1"/>
          </p:cNvPicPr>
          <p:nvPr/>
        </p:nvPicPr>
        <p:blipFill>
          <a:blip r:embed="rId4"/>
          <a:stretch>
            <a:fillRect/>
          </a:stretch>
        </p:blipFill>
        <p:spPr>
          <a:xfrm>
            <a:off x="6068284" y="2951288"/>
            <a:ext cx="3016349" cy="907014"/>
          </a:xfrm>
          <a:prstGeom prst="rect">
            <a:avLst/>
          </a:prstGeom>
        </p:spPr>
      </p:pic>
      <p:sp>
        <p:nvSpPr>
          <p:cNvPr id="8" name="文本框 7"/>
          <p:cNvSpPr txBox="1"/>
          <p:nvPr/>
        </p:nvSpPr>
        <p:spPr>
          <a:xfrm>
            <a:off x="6449147" y="2513163"/>
            <a:ext cx="1812725" cy="338554"/>
          </a:xfrm>
          <a:prstGeom prst="rect">
            <a:avLst/>
          </a:prstGeom>
          <a:noFill/>
        </p:spPr>
        <p:txBody>
          <a:bodyPr wrap="square" rtlCol="0">
            <a:spAutoFit/>
          </a:bodyPr>
          <a:lstStyle/>
          <a:p>
            <a:r>
              <a:rPr kumimoji="1" lang="zh-CN" altLang="en-US" sz="1600" b="1" dirty="0"/>
              <a:t>修改并提交</a:t>
            </a:r>
            <a:r>
              <a:rPr kumimoji="1" lang="en-US" altLang="zh-CN" sz="1600" b="1" dirty="0"/>
              <a:t>…</a:t>
            </a:r>
            <a:endParaRPr kumimoji="1" lang="zh-CN" altLang="en-US" sz="1600" b="1" dirty="0"/>
          </a:p>
        </p:txBody>
      </p:sp>
    </p:spTree>
  </p:cSld>
  <p:clrMapOvr>
    <a:masterClrMapping/>
  </p:clrMapOvr>
  <p:transition>
    <p:pull dir="l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r>
              <a:rPr kumimoji="1" lang="en-US" altLang="zh-CN" dirty="0"/>
              <a:t>Merge</a:t>
            </a:r>
            <a:endParaRPr kumimoji="1" lang="zh-CN" altLang="en-US" dirty="0"/>
          </a:p>
        </p:txBody>
      </p:sp>
      <p:sp>
        <p:nvSpPr>
          <p:cNvPr id="3" name="内容占位符 2"/>
          <p:cNvSpPr>
            <a:spLocks noGrp="1"/>
          </p:cNvSpPr>
          <p:nvPr>
            <p:ph idx="1"/>
          </p:nvPr>
        </p:nvSpPr>
        <p:spPr/>
        <p:txBody>
          <a:bodyPr/>
          <a:lstStyle/>
          <a:p>
            <a:r>
              <a:rPr kumimoji="1" lang="zh-CN" altLang="en-US" dirty="0"/>
              <a:t>可以将</a:t>
            </a:r>
            <a:r>
              <a:rPr kumimoji="1" lang="en-US" altLang="zh-CN" dirty="0"/>
              <a:t>iss53</a:t>
            </a:r>
            <a:r>
              <a:rPr kumimoji="1" lang="zh-CN" altLang="en-US" dirty="0"/>
              <a:t>这个分支也删除，删除后成为如下的结构：</a:t>
            </a:r>
            <a:endParaRPr kumimoji="1" lang="zh-CN" altLang="en-US" dirty="0"/>
          </a:p>
        </p:txBody>
      </p:sp>
      <p:pic>
        <p:nvPicPr>
          <p:cNvPr id="4" name="图片 3"/>
          <p:cNvPicPr>
            <a:picLocks noChangeAspect="1"/>
          </p:cNvPicPr>
          <p:nvPr/>
        </p:nvPicPr>
        <p:blipFill>
          <a:blip r:embed="rId1"/>
          <a:stretch>
            <a:fillRect/>
          </a:stretch>
        </p:blipFill>
        <p:spPr>
          <a:xfrm>
            <a:off x="723078" y="2574066"/>
            <a:ext cx="7785592" cy="1621416"/>
          </a:xfrm>
          <a:prstGeom prst="rect">
            <a:avLst/>
          </a:prstGeom>
        </p:spPr>
      </p:pic>
    </p:spTree>
  </p:cSld>
  <p:clrMapOvr>
    <a:masterClrMapping/>
  </p:clrMapOvr>
  <p:transition>
    <p:pull dir="l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r>
              <a:rPr kumimoji="1" lang="en-US" altLang="zh-CN" dirty="0"/>
              <a:t>:Rebase</a:t>
            </a:r>
            <a:endParaRPr kumimoji="1" lang="zh-CN" altLang="en-US" dirty="0"/>
          </a:p>
        </p:txBody>
      </p:sp>
      <p:sp>
        <p:nvSpPr>
          <p:cNvPr id="3" name="内容占位符 2"/>
          <p:cNvSpPr>
            <a:spLocks noGrp="1"/>
          </p:cNvSpPr>
          <p:nvPr>
            <p:ph idx="1"/>
          </p:nvPr>
        </p:nvSpPr>
        <p:spPr/>
        <p:txBody>
          <a:bodyPr/>
          <a:lstStyle/>
          <a:p>
            <a:r>
              <a:rPr kumimoji="1" lang="zh-CN" altLang="en-US" dirty="0"/>
              <a:t>在开发过程中频繁使用分支与合并，会导致：</a:t>
            </a:r>
            <a:endParaRPr kumimoji="1" lang="en-US" altLang="zh-CN" dirty="0"/>
          </a:p>
          <a:p>
            <a:pPr lvl="1"/>
            <a:r>
              <a:rPr kumimoji="1" lang="zh-CN" altLang="en-US" dirty="0"/>
              <a:t>一个分支的各个提交的关系构成复杂的依赖图，导致依赖关系不清晰。</a:t>
            </a:r>
            <a:endParaRPr kumimoji="1" lang="en-US" altLang="zh-CN" dirty="0"/>
          </a:p>
          <a:p>
            <a:pPr lvl="1"/>
            <a:r>
              <a:rPr kumimoji="1" lang="zh-CN" altLang="en-US" dirty="0"/>
              <a:t>某个开发人员在本地分支上可能进行一次或多次提交，合并到远程分支上后，导致远程分支提交链过长，提交之间的依赖关系变得不清晰。</a:t>
            </a:r>
            <a:endParaRPr kumimoji="1" lang="en-US" altLang="zh-CN" dirty="0"/>
          </a:p>
          <a:p>
            <a:r>
              <a:rPr kumimoji="1" lang="zh-CN" altLang="en-US" dirty="0"/>
              <a:t>为了让提交关系变得简单，</a:t>
            </a:r>
            <a:r>
              <a:rPr kumimoji="1" lang="en-US" altLang="zh-CN" dirty="0"/>
              <a:t>git</a:t>
            </a:r>
            <a:r>
              <a:rPr kumimoji="1" lang="zh-CN" altLang="en-US" dirty="0"/>
              <a:t>提供了</a:t>
            </a:r>
            <a:r>
              <a:rPr kumimoji="1" lang="en-US" altLang="zh-CN" dirty="0"/>
              <a:t>rebase</a:t>
            </a:r>
            <a:r>
              <a:rPr kumimoji="1" lang="zh-CN" altLang="en-US" dirty="0"/>
              <a:t>做为合并的另一个方式</a:t>
            </a:r>
            <a:endParaRPr kumimoji="1" lang="en-US" altLang="zh-CN" dirty="0"/>
          </a:p>
          <a:p>
            <a:pPr lvl="1"/>
            <a:endParaRPr kumimoji="1" lang="en-US" altLang="zh-CN" dirty="0"/>
          </a:p>
          <a:p>
            <a:endParaRPr kumimoji="1" lang="zh-CN" altLang="en-US" dirty="0"/>
          </a:p>
        </p:txBody>
      </p:sp>
    </p:spTree>
  </p:cSld>
  <p:clrMapOvr>
    <a:masterClrMapping/>
  </p:clrMapOvr>
  <p:transition>
    <p:pull dir="l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r>
              <a:rPr kumimoji="1" lang="en-US" altLang="zh-CN" dirty="0"/>
              <a:t>:Rebase</a:t>
            </a:r>
            <a:endParaRPr kumimoji="1" lang="zh-CN" altLang="en-US" dirty="0"/>
          </a:p>
        </p:txBody>
      </p:sp>
      <p:sp>
        <p:nvSpPr>
          <p:cNvPr id="3" name="内容占位符 2"/>
          <p:cNvSpPr>
            <a:spLocks noGrp="1"/>
          </p:cNvSpPr>
          <p:nvPr>
            <p:ph idx="1"/>
          </p:nvPr>
        </p:nvSpPr>
        <p:spPr/>
        <p:txBody>
          <a:bodyPr/>
          <a:lstStyle/>
          <a:p>
            <a:r>
              <a:rPr kumimoji="1" lang="zh-CN" altLang="en-US" dirty="0"/>
              <a:t>使用</a:t>
            </a:r>
            <a:r>
              <a:rPr kumimoji="1" lang="en-US" altLang="zh-CN" dirty="0"/>
              <a:t>merge</a:t>
            </a:r>
            <a:r>
              <a:rPr kumimoji="1" lang="zh-CN" altLang="en-US" dirty="0"/>
              <a:t>，对下面</a:t>
            </a:r>
            <a:r>
              <a:rPr kumimoji="1" lang="en-US" altLang="zh-CN" dirty="0"/>
              <a:t>experiment</a:t>
            </a:r>
            <a:r>
              <a:rPr kumimoji="1" lang="zh-CN" altLang="en-US" dirty="0"/>
              <a:t>和</a:t>
            </a:r>
            <a:r>
              <a:rPr kumimoji="1" lang="en-US" altLang="zh-CN" dirty="0"/>
              <a:t>master</a:t>
            </a:r>
            <a:r>
              <a:rPr kumimoji="1" lang="zh-CN" altLang="en-US" dirty="0"/>
              <a:t>两个分支合并：</a:t>
            </a:r>
            <a:endParaRPr kumimoji="1" lang="zh-CN" altLang="en-US" dirty="0"/>
          </a:p>
        </p:txBody>
      </p:sp>
      <p:pic>
        <p:nvPicPr>
          <p:cNvPr id="5" name="图片 4"/>
          <p:cNvPicPr>
            <a:picLocks noChangeAspect="1"/>
          </p:cNvPicPr>
          <p:nvPr/>
        </p:nvPicPr>
        <p:blipFill>
          <a:blip r:embed="rId1"/>
          <a:stretch>
            <a:fillRect/>
          </a:stretch>
        </p:blipFill>
        <p:spPr>
          <a:xfrm>
            <a:off x="2093101" y="4056003"/>
            <a:ext cx="6345533" cy="2508699"/>
          </a:xfrm>
          <a:prstGeom prst="rect">
            <a:avLst/>
          </a:prstGeom>
          <a:ln>
            <a:solidFill>
              <a:schemeClr val="tx1"/>
            </a:solidFill>
          </a:ln>
        </p:spPr>
      </p:pic>
      <p:pic>
        <p:nvPicPr>
          <p:cNvPr id="4" name="图片 3"/>
          <p:cNvPicPr>
            <a:picLocks noChangeAspect="1"/>
          </p:cNvPicPr>
          <p:nvPr/>
        </p:nvPicPr>
        <p:blipFill>
          <a:blip r:embed="rId2"/>
          <a:stretch>
            <a:fillRect/>
          </a:stretch>
        </p:blipFill>
        <p:spPr>
          <a:xfrm>
            <a:off x="457200" y="1974659"/>
            <a:ext cx="4808668" cy="2284118"/>
          </a:xfrm>
          <a:prstGeom prst="rect">
            <a:avLst/>
          </a:prstGeom>
          <a:ln>
            <a:solidFill>
              <a:schemeClr val="tx1"/>
            </a:solidFill>
          </a:ln>
        </p:spPr>
      </p:pic>
      <p:sp>
        <p:nvSpPr>
          <p:cNvPr id="6" name="下弧形箭头 5"/>
          <p:cNvSpPr/>
          <p:nvPr/>
        </p:nvSpPr>
        <p:spPr bwMode="auto">
          <a:xfrm rot="2490762">
            <a:off x="5643284" y="3191741"/>
            <a:ext cx="2436658" cy="733735"/>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5871611" y="2040390"/>
            <a:ext cx="3007318" cy="646331"/>
          </a:xfrm>
          <a:prstGeom prst="rect">
            <a:avLst/>
          </a:prstGeom>
          <a:noFill/>
        </p:spPr>
        <p:txBody>
          <a:bodyPr wrap="square" rtlCol="0">
            <a:spAutoFit/>
          </a:bodyPr>
          <a:lstStyle/>
          <a:p>
            <a:r>
              <a:rPr kumimoji="1" lang="en-US" altLang="zh-CN" dirty="0"/>
              <a:t>git</a:t>
            </a:r>
            <a:r>
              <a:rPr kumimoji="1" lang="zh-CN" altLang="en-US" dirty="0"/>
              <a:t> </a:t>
            </a:r>
            <a:r>
              <a:rPr kumimoji="1" lang="en-US" altLang="zh-CN" dirty="0"/>
              <a:t>checkout</a:t>
            </a:r>
            <a:r>
              <a:rPr kumimoji="1" lang="zh-CN" altLang="en-US" dirty="0"/>
              <a:t> </a:t>
            </a:r>
            <a:r>
              <a:rPr kumimoji="1" lang="en-US" altLang="zh-CN" dirty="0"/>
              <a:t>master</a:t>
            </a:r>
            <a:endParaRPr kumimoji="1" lang="en-US" altLang="zh-CN" dirty="0"/>
          </a:p>
          <a:p>
            <a:r>
              <a:rPr kumimoji="1" lang="en-US" altLang="zh-CN" dirty="0"/>
              <a:t>git</a:t>
            </a:r>
            <a:r>
              <a:rPr kumimoji="1" lang="zh-CN" altLang="en-US" dirty="0"/>
              <a:t> </a:t>
            </a:r>
            <a:r>
              <a:rPr kumimoji="1" lang="en-US" altLang="zh-CN" dirty="0"/>
              <a:t>merge</a:t>
            </a:r>
            <a:r>
              <a:rPr kumimoji="1" lang="zh-CN" altLang="en-US" dirty="0"/>
              <a:t> </a:t>
            </a:r>
            <a:r>
              <a:rPr kumimoji="1" lang="en-US" altLang="zh-CN" dirty="0"/>
              <a:t>experiment</a:t>
            </a:r>
            <a:endParaRPr kumimoji="1" lang="zh-CN" altLang="en-US" dirty="0"/>
          </a:p>
        </p:txBody>
      </p:sp>
    </p:spTree>
  </p:cSld>
  <p:clrMapOvr>
    <a:masterClrMapping/>
  </p:clrMapOvr>
  <p:transition>
    <p:pull dir="l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r>
              <a:rPr kumimoji="1" lang="en-US" altLang="zh-CN" dirty="0"/>
              <a:t>:Rebase</a:t>
            </a:r>
            <a:endParaRPr kumimoji="1" lang="zh-CN" altLang="en-US" dirty="0"/>
          </a:p>
        </p:txBody>
      </p:sp>
      <p:sp>
        <p:nvSpPr>
          <p:cNvPr id="3" name="内容占位符 2"/>
          <p:cNvSpPr>
            <a:spLocks noGrp="1"/>
          </p:cNvSpPr>
          <p:nvPr>
            <p:ph idx="1"/>
          </p:nvPr>
        </p:nvSpPr>
        <p:spPr>
          <a:xfrm>
            <a:off x="457200" y="957533"/>
            <a:ext cx="8229600" cy="1274224"/>
          </a:xfrm>
        </p:spPr>
        <p:txBody>
          <a:bodyPr/>
          <a:lstStyle/>
          <a:p>
            <a:r>
              <a:rPr kumimoji="1" lang="en-US" altLang="zh-CN" dirty="0"/>
              <a:t>Rebase</a:t>
            </a:r>
            <a:r>
              <a:rPr kumimoji="1" lang="zh-CN" altLang="en-US" dirty="0"/>
              <a:t>的效果是，将两个分支以线性的结构组织起来。</a:t>
            </a:r>
            <a:endParaRPr kumimoji="1" lang="en-US" altLang="zh-CN" dirty="0"/>
          </a:p>
        </p:txBody>
      </p:sp>
      <p:sp>
        <p:nvSpPr>
          <p:cNvPr id="5" name="内容占位符 2"/>
          <p:cNvSpPr txBox="1"/>
          <p:nvPr/>
        </p:nvSpPr>
        <p:spPr bwMode="auto">
          <a:xfrm>
            <a:off x="457200" y="2256294"/>
            <a:ext cx="3866827" cy="4045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ts val="1000"/>
              </a:spcBef>
              <a:spcAft>
                <a:spcPct val="0"/>
              </a:spcAft>
              <a:buChar char="•"/>
              <a:defRPr sz="28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ts val="1000"/>
              </a:spcBef>
              <a:spcAft>
                <a:spcPct val="0"/>
              </a:spcAft>
              <a:buChar char="–"/>
              <a:defRPr sz="24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ts val="1000"/>
              </a:spcBef>
              <a:spcAft>
                <a:spcPct val="0"/>
              </a:spcAft>
              <a:buChar char="•"/>
              <a:defRPr sz="2200">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ts val="1000"/>
              </a:spcBef>
              <a:spcAft>
                <a:spcPct val="0"/>
              </a:spcAft>
              <a:buChar char="–"/>
              <a:defRPr sz="20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ts val="1000"/>
              </a:spcBef>
              <a:spcAft>
                <a:spcPct val="0"/>
              </a:spcAft>
              <a:buChar char="»"/>
              <a:defRPr sz="2000">
                <a:solidFill>
                  <a:schemeClr val="tx1"/>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endParaRPr kumimoji="1" lang="en-US" altLang="zh-CN" kern="0" dirty="0"/>
          </a:p>
          <a:p>
            <a:r>
              <a:rPr kumimoji="1" lang="zh-CN" altLang="en-US" kern="0" dirty="0"/>
              <a:t>在这种情况下，可以认为</a:t>
            </a:r>
            <a:r>
              <a:rPr kumimoji="1" lang="en-US" altLang="zh-CN" kern="0" dirty="0"/>
              <a:t>experiment</a:t>
            </a:r>
            <a:r>
              <a:rPr kumimoji="1" lang="zh-CN" altLang="en-US" kern="0" dirty="0"/>
              <a:t>是在</a:t>
            </a:r>
            <a:r>
              <a:rPr kumimoji="1" lang="en-US" altLang="zh-CN" kern="0" dirty="0"/>
              <a:t>master</a:t>
            </a:r>
            <a:r>
              <a:rPr kumimoji="1" lang="zh-CN" altLang="en-US" kern="0" dirty="0"/>
              <a:t>的最新</a:t>
            </a:r>
            <a:r>
              <a:rPr kumimoji="1" lang="en-US" altLang="zh-CN" kern="0" dirty="0"/>
              <a:t>commit</a:t>
            </a:r>
            <a:r>
              <a:rPr kumimoji="1" lang="zh-CN" altLang="en-US" kern="0" dirty="0"/>
              <a:t>之后才开始的。</a:t>
            </a:r>
            <a:endParaRPr kumimoji="1" lang="zh-CN" altLang="en-US" kern="0" dirty="0"/>
          </a:p>
        </p:txBody>
      </p:sp>
      <p:pic>
        <p:nvPicPr>
          <p:cNvPr id="6" name="图片 5"/>
          <p:cNvPicPr>
            <a:picLocks noChangeAspect="1"/>
          </p:cNvPicPr>
          <p:nvPr/>
        </p:nvPicPr>
        <p:blipFill>
          <a:blip r:embed="rId1"/>
          <a:stretch>
            <a:fillRect/>
          </a:stretch>
        </p:blipFill>
        <p:spPr>
          <a:xfrm>
            <a:off x="4381500" y="4206498"/>
            <a:ext cx="4305300" cy="2095500"/>
          </a:xfrm>
          <a:prstGeom prst="rect">
            <a:avLst/>
          </a:prstGeom>
          <a:ln>
            <a:solidFill>
              <a:schemeClr val="tx1"/>
            </a:solidFill>
          </a:ln>
        </p:spPr>
      </p:pic>
      <p:pic>
        <p:nvPicPr>
          <p:cNvPr id="7" name="图片 6"/>
          <p:cNvPicPr>
            <a:picLocks noChangeAspect="1"/>
          </p:cNvPicPr>
          <p:nvPr/>
        </p:nvPicPr>
        <p:blipFill>
          <a:blip r:embed="rId2"/>
          <a:stretch>
            <a:fillRect/>
          </a:stretch>
        </p:blipFill>
        <p:spPr>
          <a:xfrm>
            <a:off x="4370525" y="1753798"/>
            <a:ext cx="2396425" cy="2378674"/>
          </a:xfrm>
          <a:prstGeom prst="rect">
            <a:avLst/>
          </a:prstGeom>
          <a:ln>
            <a:solidFill>
              <a:schemeClr val="tx1"/>
            </a:solidFill>
          </a:ln>
        </p:spPr>
      </p:pic>
      <p:sp>
        <p:nvSpPr>
          <p:cNvPr id="8" name="下弧形箭头 7"/>
          <p:cNvSpPr/>
          <p:nvPr/>
        </p:nvSpPr>
        <p:spPr bwMode="auto">
          <a:xfrm rot="2490762">
            <a:off x="6794816" y="3118569"/>
            <a:ext cx="1683012" cy="721936"/>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9" name="文本框 8"/>
          <p:cNvSpPr txBox="1"/>
          <p:nvPr/>
        </p:nvSpPr>
        <p:spPr>
          <a:xfrm>
            <a:off x="6534150" y="2381691"/>
            <a:ext cx="3007318" cy="646331"/>
          </a:xfrm>
          <a:prstGeom prst="rect">
            <a:avLst/>
          </a:prstGeom>
          <a:noFill/>
        </p:spPr>
        <p:txBody>
          <a:bodyPr wrap="square" rtlCol="0">
            <a:spAutoFit/>
          </a:bodyPr>
          <a:lstStyle/>
          <a:p>
            <a:r>
              <a:rPr kumimoji="1" lang="en-US" altLang="zh-CN" dirty="0"/>
              <a:t>git</a:t>
            </a:r>
            <a:r>
              <a:rPr kumimoji="1" lang="zh-CN" altLang="en-US" dirty="0"/>
              <a:t> </a:t>
            </a:r>
            <a:r>
              <a:rPr kumimoji="1" lang="en-US" altLang="zh-CN" dirty="0"/>
              <a:t>checkout</a:t>
            </a:r>
            <a:r>
              <a:rPr kumimoji="1" lang="zh-CN" altLang="en-US" dirty="0"/>
              <a:t> </a:t>
            </a:r>
            <a:r>
              <a:rPr kumimoji="1" lang="en-US" altLang="zh-CN" dirty="0"/>
              <a:t>experiment</a:t>
            </a:r>
            <a:endParaRPr kumimoji="1" lang="en-US" altLang="zh-CN" dirty="0"/>
          </a:p>
          <a:p>
            <a:r>
              <a:rPr kumimoji="1" lang="en-US" altLang="zh-CN" dirty="0"/>
              <a:t>git</a:t>
            </a:r>
            <a:r>
              <a:rPr kumimoji="1" lang="zh-CN" altLang="en-US" dirty="0"/>
              <a:t> </a:t>
            </a:r>
            <a:r>
              <a:rPr kumimoji="1" lang="en-US" altLang="zh-CN" dirty="0"/>
              <a:t>rebase</a:t>
            </a:r>
            <a:r>
              <a:rPr kumimoji="1" lang="zh-CN" altLang="en-US" dirty="0"/>
              <a:t> </a:t>
            </a:r>
            <a:r>
              <a:rPr kumimoji="1" lang="en-US" altLang="zh-CN" dirty="0"/>
              <a:t>master</a:t>
            </a:r>
            <a:endParaRPr kumimoji="1" lang="zh-CN" altLang="en-US" dirty="0"/>
          </a:p>
        </p:txBody>
      </p:sp>
    </p:spTree>
  </p:cSld>
  <p:clrMapOvr>
    <a:masterClrMapping/>
  </p:clrMapOvr>
  <p:transition>
    <p:pull dir="l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r>
              <a:rPr kumimoji="1" lang="en-US" altLang="zh-CN" dirty="0"/>
              <a:t>:Rebase</a:t>
            </a:r>
            <a:endParaRPr kumimoji="1" lang="zh-CN" altLang="en-US" dirty="0"/>
          </a:p>
        </p:txBody>
      </p:sp>
      <p:sp>
        <p:nvSpPr>
          <p:cNvPr id="3" name="内容占位符 2"/>
          <p:cNvSpPr>
            <a:spLocks noGrp="1"/>
          </p:cNvSpPr>
          <p:nvPr>
            <p:ph idx="1"/>
          </p:nvPr>
        </p:nvSpPr>
        <p:spPr>
          <a:xfrm>
            <a:off x="457200" y="957532"/>
            <a:ext cx="8376834" cy="5607170"/>
          </a:xfrm>
        </p:spPr>
        <p:txBody>
          <a:bodyPr/>
          <a:lstStyle/>
          <a:p>
            <a:r>
              <a:rPr kumimoji="1" lang="zh-CN" altLang="en-US" dirty="0"/>
              <a:t>在待合并分支上进行</a:t>
            </a:r>
            <a:r>
              <a:rPr kumimoji="1" lang="en-US" altLang="zh-CN" dirty="0"/>
              <a:t>rebase</a:t>
            </a:r>
            <a:r>
              <a:rPr kumimoji="1" lang="zh-CN" altLang="en-US" dirty="0"/>
              <a:t>之后，再回到目标分支上进行</a:t>
            </a:r>
            <a:r>
              <a:rPr kumimoji="1" lang="en-US" altLang="zh-CN" dirty="0"/>
              <a:t>merge</a:t>
            </a:r>
            <a:endParaRPr kumimoji="1" lang="zh-CN" altLang="en-US" dirty="0"/>
          </a:p>
        </p:txBody>
      </p:sp>
      <p:pic>
        <p:nvPicPr>
          <p:cNvPr id="4" name="图片 3"/>
          <p:cNvPicPr>
            <a:picLocks noChangeAspect="1"/>
          </p:cNvPicPr>
          <p:nvPr/>
        </p:nvPicPr>
        <p:blipFill>
          <a:blip r:embed="rId1"/>
          <a:stretch>
            <a:fillRect/>
          </a:stretch>
        </p:blipFill>
        <p:spPr>
          <a:xfrm>
            <a:off x="4508500" y="3986812"/>
            <a:ext cx="4178300" cy="2146300"/>
          </a:xfrm>
          <a:prstGeom prst="rect">
            <a:avLst/>
          </a:prstGeom>
          <a:ln>
            <a:solidFill>
              <a:schemeClr val="tx1"/>
            </a:solidFill>
          </a:ln>
        </p:spPr>
      </p:pic>
      <p:pic>
        <p:nvPicPr>
          <p:cNvPr id="5" name="图片 4"/>
          <p:cNvPicPr>
            <a:picLocks noChangeAspect="1"/>
          </p:cNvPicPr>
          <p:nvPr/>
        </p:nvPicPr>
        <p:blipFill>
          <a:blip r:embed="rId2"/>
          <a:stretch>
            <a:fillRect/>
          </a:stretch>
        </p:blipFill>
        <p:spPr>
          <a:xfrm>
            <a:off x="824532" y="2115068"/>
            <a:ext cx="4305300" cy="2095500"/>
          </a:xfrm>
          <a:prstGeom prst="rect">
            <a:avLst/>
          </a:prstGeom>
          <a:ln>
            <a:solidFill>
              <a:schemeClr val="tx1"/>
            </a:solidFill>
          </a:ln>
        </p:spPr>
      </p:pic>
      <p:sp>
        <p:nvSpPr>
          <p:cNvPr id="6" name="下弧形箭头 5"/>
          <p:cNvSpPr/>
          <p:nvPr/>
        </p:nvSpPr>
        <p:spPr bwMode="auto">
          <a:xfrm rot="2490762">
            <a:off x="4922127" y="3074559"/>
            <a:ext cx="2436658" cy="708880"/>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5780221" y="2171319"/>
            <a:ext cx="3007318" cy="646331"/>
          </a:xfrm>
          <a:prstGeom prst="rect">
            <a:avLst/>
          </a:prstGeom>
          <a:noFill/>
        </p:spPr>
        <p:txBody>
          <a:bodyPr wrap="square" rtlCol="0">
            <a:spAutoFit/>
          </a:bodyPr>
          <a:lstStyle/>
          <a:p>
            <a:r>
              <a:rPr kumimoji="1" lang="en-US" altLang="zh-CN" dirty="0"/>
              <a:t>git</a:t>
            </a:r>
            <a:r>
              <a:rPr kumimoji="1" lang="zh-CN" altLang="en-US" dirty="0"/>
              <a:t> </a:t>
            </a:r>
            <a:r>
              <a:rPr kumimoji="1" lang="en-US" altLang="zh-CN" dirty="0"/>
              <a:t>checkout</a:t>
            </a:r>
            <a:r>
              <a:rPr kumimoji="1" lang="zh-CN" altLang="en-US" dirty="0"/>
              <a:t> </a:t>
            </a:r>
            <a:r>
              <a:rPr kumimoji="1" lang="en-US" altLang="zh-CN" dirty="0"/>
              <a:t>master</a:t>
            </a:r>
            <a:endParaRPr kumimoji="1" lang="en-US" altLang="zh-CN" dirty="0"/>
          </a:p>
          <a:p>
            <a:r>
              <a:rPr kumimoji="1" lang="en-US" altLang="zh-CN" dirty="0"/>
              <a:t>git</a:t>
            </a:r>
            <a:r>
              <a:rPr kumimoji="1" lang="zh-CN" altLang="en-US" dirty="0"/>
              <a:t> </a:t>
            </a:r>
            <a:r>
              <a:rPr kumimoji="1" lang="en-US" altLang="zh-CN" dirty="0"/>
              <a:t>merge</a:t>
            </a:r>
            <a:r>
              <a:rPr kumimoji="1" lang="zh-CN" altLang="en-US" dirty="0"/>
              <a:t> </a:t>
            </a:r>
            <a:r>
              <a:rPr kumimoji="1" lang="en-US" altLang="zh-CN" dirty="0"/>
              <a:t>experiment</a:t>
            </a:r>
            <a:endParaRPr kumimoji="1" lang="zh-CN" altLang="en-US" dirty="0"/>
          </a:p>
        </p:txBody>
      </p:sp>
      <p:sp>
        <p:nvSpPr>
          <p:cNvPr id="8" name="内容占位符 2"/>
          <p:cNvSpPr txBox="1"/>
          <p:nvPr/>
        </p:nvSpPr>
        <p:spPr bwMode="auto">
          <a:xfrm>
            <a:off x="1616506" y="4756786"/>
            <a:ext cx="2100020" cy="1624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ts val="1000"/>
              </a:spcBef>
              <a:spcAft>
                <a:spcPct val="0"/>
              </a:spcAft>
              <a:buChar char="•"/>
              <a:defRPr sz="280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ts val="1000"/>
              </a:spcBef>
              <a:spcAft>
                <a:spcPct val="0"/>
              </a:spcAft>
              <a:buChar char="–"/>
              <a:defRPr sz="2400">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ts val="1000"/>
              </a:spcBef>
              <a:spcAft>
                <a:spcPct val="0"/>
              </a:spcAft>
              <a:buChar char="•"/>
              <a:defRPr sz="2200">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ts val="1000"/>
              </a:spcBef>
              <a:spcAft>
                <a:spcPct val="0"/>
              </a:spcAft>
              <a:buChar char="–"/>
              <a:defRPr sz="2000">
                <a:solidFill>
                  <a:schemeClr val="tx1"/>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ts val="1000"/>
              </a:spcBef>
              <a:spcAft>
                <a:spcPct val="0"/>
              </a:spcAft>
              <a:buChar char="»"/>
              <a:defRPr sz="2000">
                <a:solidFill>
                  <a:schemeClr val="tx1"/>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pPr>
            <a:r>
              <a:rPr kumimoji="1" lang="zh-CN" altLang="en-US" kern="0" dirty="0"/>
              <a:t>更加清晰的历史记录</a:t>
            </a:r>
            <a:endParaRPr kumimoji="1" lang="zh-CN" altLang="en-US" kern="0" dirty="0"/>
          </a:p>
        </p:txBody>
      </p:sp>
      <p:sp>
        <p:nvSpPr>
          <p:cNvPr id="9" name="右箭头 8"/>
          <p:cNvSpPr/>
          <p:nvPr/>
        </p:nvSpPr>
        <p:spPr bwMode="auto">
          <a:xfrm>
            <a:off x="3513541" y="4832531"/>
            <a:ext cx="994959" cy="73640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no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transition>
    <p:pull dir="l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在</a:t>
            </a:r>
            <a:r>
              <a:rPr kumimoji="1" lang="en-US" altLang="zh-CN" dirty="0"/>
              <a:t>Git</a:t>
            </a:r>
            <a:r>
              <a:rPr kumimoji="1" lang="zh-CN" altLang="en-US" dirty="0"/>
              <a:t>中管理合并</a:t>
            </a:r>
            <a:r>
              <a:rPr kumimoji="1" lang="en-US" altLang="zh-CN" dirty="0"/>
              <a:t>:Rebase</a:t>
            </a:r>
            <a:endParaRPr kumimoji="1" lang="zh-CN" altLang="en-US" dirty="0"/>
          </a:p>
        </p:txBody>
      </p:sp>
      <p:sp>
        <p:nvSpPr>
          <p:cNvPr id="3" name="内容占位符 2"/>
          <p:cNvSpPr>
            <a:spLocks noGrp="1"/>
          </p:cNvSpPr>
          <p:nvPr>
            <p:ph idx="1"/>
          </p:nvPr>
        </p:nvSpPr>
        <p:spPr/>
        <p:txBody>
          <a:bodyPr/>
          <a:lstStyle/>
          <a:p>
            <a:r>
              <a:rPr kumimoji="1" lang="zh-CN" altLang="en-US" dirty="0"/>
              <a:t>如果在本地修改的时候，管理本地的提交记录，做了多次提交</a:t>
            </a:r>
            <a:endParaRPr kumimoji="1" lang="en-US" altLang="zh-CN" dirty="0"/>
          </a:p>
          <a:p>
            <a:endParaRPr kumimoji="1" lang="en-US" altLang="zh-CN" dirty="0"/>
          </a:p>
          <a:p>
            <a:pPr marL="0" indent="0">
              <a:buNone/>
            </a:pPr>
            <a:endParaRPr kumimoji="1" lang="en-US" altLang="zh-CN" dirty="0"/>
          </a:p>
          <a:p>
            <a:r>
              <a:rPr kumimoji="1" lang="zh-CN" altLang="en-US" dirty="0"/>
              <a:t>但是在最后需要与远程分支合并的时候，希望某些提交合并为一个提交，此时可以用</a:t>
            </a:r>
            <a:r>
              <a:rPr kumimoji="1" lang="en-US" altLang="zh-CN" dirty="0"/>
              <a:t>rebase</a:t>
            </a:r>
            <a:r>
              <a:rPr kumimoji="1" lang="zh-CN" altLang="en-US" dirty="0"/>
              <a:t> </a:t>
            </a:r>
            <a:r>
              <a:rPr kumimoji="1" lang="en-US" altLang="zh-CN" dirty="0"/>
              <a:t>–</a:t>
            </a:r>
            <a:r>
              <a:rPr kumimoji="1" lang="en-US" altLang="zh-CN" dirty="0" err="1"/>
              <a:t>i</a:t>
            </a:r>
            <a:r>
              <a:rPr kumimoji="1" lang="zh-CN" altLang="en-US" dirty="0"/>
              <a:t>命令</a:t>
            </a:r>
            <a:endParaRPr kumimoji="1" lang="en-US" altLang="zh-CN" dirty="0"/>
          </a:p>
          <a:p>
            <a:pPr marL="0" indent="0">
              <a:buNone/>
            </a:pPr>
            <a:r>
              <a:rPr lang="en-GB" altLang="zh-CN" dirty="0"/>
              <a:t>	git rebase -</a:t>
            </a:r>
            <a:r>
              <a:rPr lang="en-GB" altLang="zh-CN" dirty="0" err="1"/>
              <a:t>i</a:t>
            </a:r>
            <a:r>
              <a:rPr lang="en-GB" altLang="zh-CN" dirty="0"/>
              <a:t> &lt;after-this-commit&gt;</a:t>
            </a:r>
            <a:endParaRPr lang="en-GB" altLang="zh-CN" dirty="0"/>
          </a:p>
          <a:p>
            <a:pPr marL="0" indent="0">
              <a:buNone/>
            </a:pPr>
            <a:r>
              <a:rPr kumimoji="1" lang="zh-CN" altLang="en-US" dirty="0"/>
              <a:t>   </a:t>
            </a:r>
            <a:r>
              <a:rPr kumimoji="1" lang="zh-CN" altLang="en-GB" dirty="0"/>
              <a:t>将</a:t>
            </a:r>
            <a:r>
              <a:rPr kumimoji="1" lang="zh-CN" altLang="en-US" dirty="0"/>
              <a:t>指定的</a:t>
            </a:r>
            <a:r>
              <a:rPr kumimoji="1" lang="en-US" altLang="zh-CN" dirty="0"/>
              <a:t>commit</a:t>
            </a:r>
            <a:r>
              <a:rPr kumimoji="1" lang="zh-CN" altLang="en-US" dirty="0"/>
              <a:t>后的所有提交合并为一个。</a:t>
            </a:r>
            <a:endParaRPr kumimoji="1" lang="zh-CN" altLang="en-US" dirty="0"/>
          </a:p>
        </p:txBody>
      </p:sp>
      <p:pic>
        <p:nvPicPr>
          <p:cNvPr id="4" name="图片 3"/>
          <p:cNvPicPr>
            <a:picLocks noChangeAspect="1"/>
          </p:cNvPicPr>
          <p:nvPr/>
        </p:nvPicPr>
        <p:blipFill>
          <a:blip r:embed="rId1"/>
          <a:stretch>
            <a:fillRect/>
          </a:stretch>
        </p:blipFill>
        <p:spPr>
          <a:xfrm>
            <a:off x="0" y="1715674"/>
            <a:ext cx="9144000" cy="1163899"/>
          </a:xfrm>
          <a:prstGeom prst="rect">
            <a:avLst/>
          </a:prstGeom>
        </p:spPr>
      </p:pic>
    </p:spTree>
  </p:cSld>
  <p:clrMapOvr>
    <a:masterClrMapping/>
  </p:clrMapOvr>
  <p:transition>
    <p:pull dir="ld"/>
  </p:transition>
</p:sld>
</file>

<file path=ppt/tags/tag1.xml><?xml version="1.0" encoding="utf-8"?>
<p:tagLst xmlns:p="http://schemas.openxmlformats.org/presentationml/2006/main">
  <p:tag name="commondata" val="eyJoZGlkIjoiOWQ1ZTNhYmQ3MmEwZjA1ZmI1ZDk3ZWJmZThmOTQzY2Y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rtlCol="0" anchor="ctr" anchorCtr="0" compatLnSpc="1">
        <a:noAutofit/>
      </a:bodyPr>
      <a:lstStyle>
        <a:defPPr marL="0" marR="0" indent="0" algn="ctr" defTabSz="914400" rtl="0" eaLnBrk="1" fontAlgn="base" latinLnBrk="0" hangingPunct="1">
          <a:lnSpc>
            <a:spcPct val="100000"/>
          </a:lnSpc>
          <a:spcBef>
            <a:spcPct val="0"/>
          </a:spcBef>
          <a:spcAft>
            <a:spcPct val="0"/>
          </a:spcAft>
          <a:buClrTx/>
          <a:buSzTx/>
          <a:buFontTx/>
          <a:buNone/>
          <a:defRPr kumimoji="0" sz="28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8681</Words>
  <Application>WPS 文字</Application>
  <PresentationFormat>全屏显示(4:3)</PresentationFormat>
  <Paragraphs>680</Paragraphs>
  <Slides>81</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81</vt:i4>
      </vt:variant>
    </vt:vector>
  </HeadingPairs>
  <TitlesOfParts>
    <vt:vector size="93" baseType="lpstr">
      <vt:lpstr>Arial</vt:lpstr>
      <vt:lpstr>宋体</vt:lpstr>
      <vt:lpstr>Wingdings</vt:lpstr>
      <vt:lpstr>汉仪书宋二KW</vt:lpstr>
      <vt:lpstr>微软雅黑</vt:lpstr>
      <vt:lpstr>汉仪旗黑</vt:lpstr>
      <vt:lpstr>Helvetica</vt:lpstr>
      <vt:lpstr>Times New Roman</vt:lpstr>
      <vt:lpstr>宋体</vt:lpstr>
      <vt:lpstr>Arial Unicode MS</vt:lpstr>
      <vt:lpstr>微软雅黑</vt:lpstr>
      <vt:lpstr>默认设计模板</vt:lpstr>
      <vt:lpstr>L7 质量管理(4) ——版本管理及分支策略</vt:lpstr>
      <vt:lpstr>大纲</vt:lpstr>
      <vt:lpstr>大纲</vt:lpstr>
      <vt:lpstr>版本控制概述</vt:lpstr>
      <vt:lpstr>版本控制的历史</vt:lpstr>
      <vt:lpstr>版本管理中的基本概念</vt:lpstr>
      <vt:lpstr>版本管理的基本概念</vt:lpstr>
      <vt:lpstr>版本管理的基本概念</vt:lpstr>
      <vt:lpstr>大纲</vt:lpstr>
      <vt:lpstr>悲观锁与乐观锁</vt:lpstr>
      <vt:lpstr>悲观锁和乐观锁</vt:lpstr>
      <vt:lpstr>悲观锁与乐观锁</vt:lpstr>
      <vt:lpstr>大纲</vt:lpstr>
      <vt:lpstr>集中式与分布式版本控制</vt:lpstr>
      <vt:lpstr>集中式版本控制</vt:lpstr>
      <vt:lpstr>DVCS：分布式版本控制</vt:lpstr>
      <vt:lpstr>DVCS：分布式版本控制</vt:lpstr>
      <vt:lpstr>DVCS：分布式版本管理</vt:lpstr>
      <vt:lpstr>DVCS：分布式版本管理</vt:lpstr>
      <vt:lpstr>大纲</vt:lpstr>
      <vt:lpstr>分支与合并</vt:lpstr>
      <vt:lpstr>分支与合并</vt:lpstr>
      <vt:lpstr>分支与合并</vt:lpstr>
      <vt:lpstr>分支与合并</vt:lpstr>
      <vt:lpstr>分支与合并</vt:lpstr>
      <vt:lpstr>合并：可能的问题</vt:lpstr>
      <vt:lpstr>分支与合并</vt:lpstr>
      <vt:lpstr>创建分支的模式</vt:lpstr>
      <vt:lpstr>分支与持续集成</vt:lpstr>
      <vt:lpstr>分支与持续集成</vt:lpstr>
      <vt:lpstr>分支与持续集成</vt:lpstr>
      <vt:lpstr>大纲</vt:lpstr>
      <vt:lpstr>常见的分支开发模式</vt:lpstr>
      <vt:lpstr>主干开发，主干发布</vt:lpstr>
      <vt:lpstr>主干开发，主干发布</vt:lpstr>
      <vt:lpstr>主干开发，主干发布</vt:lpstr>
      <vt:lpstr>主干开发，主干发布</vt:lpstr>
      <vt:lpstr>主干开发，主干发布</vt:lpstr>
      <vt:lpstr>PowerPoint 演示文稿</vt:lpstr>
      <vt:lpstr>主干开发，主干发布</vt:lpstr>
      <vt:lpstr>主干开发，分支发布</vt:lpstr>
      <vt:lpstr>主干开发，分支发布</vt:lpstr>
      <vt:lpstr>主干开发，分支发布</vt:lpstr>
      <vt:lpstr>主干开发，分支发布</vt:lpstr>
      <vt:lpstr>主干开发，分支发布</vt:lpstr>
      <vt:lpstr>分支开发，主干发布</vt:lpstr>
      <vt:lpstr>分支开发，主干发布</vt:lpstr>
      <vt:lpstr>分支开发，主干发布</vt:lpstr>
      <vt:lpstr>分支开发，主干发布</vt:lpstr>
      <vt:lpstr>分支开发，主干发布</vt:lpstr>
      <vt:lpstr>分支开发，主干发布</vt:lpstr>
      <vt:lpstr>分支模式的演化</vt:lpstr>
      <vt:lpstr>三驾马车分支模式</vt:lpstr>
      <vt:lpstr>Gitflow分支模式</vt:lpstr>
      <vt:lpstr>Girflow分支模式</vt:lpstr>
      <vt:lpstr>Gitflow分支模式</vt:lpstr>
      <vt:lpstr>GitHubFlow分支模式</vt:lpstr>
      <vt:lpstr>大纲</vt:lpstr>
      <vt:lpstr>在Git中管理分支与合并</vt:lpstr>
      <vt:lpstr>在Git中管理分支与合并</vt:lpstr>
      <vt:lpstr>在Git中创建分支</vt:lpstr>
      <vt:lpstr>在Git中创建分支</vt:lpstr>
      <vt:lpstr>在Git中创建分支</vt:lpstr>
      <vt:lpstr>在Git中创建分支</vt:lpstr>
      <vt:lpstr>在Git中创建分支</vt:lpstr>
      <vt:lpstr>在Git中使用Cherry Pick管理分支</vt:lpstr>
      <vt:lpstr>在Git中使用Cherry Pick管理分支</vt:lpstr>
      <vt:lpstr>在Git中管理分支与合并</vt:lpstr>
      <vt:lpstr>在Git中管理合并</vt:lpstr>
      <vt:lpstr>在Git中管理合并</vt:lpstr>
      <vt:lpstr>在Git中管理合并</vt:lpstr>
      <vt:lpstr>在Git中管理合并</vt:lpstr>
      <vt:lpstr>在Git中管理合并</vt:lpstr>
      <vt:lpstr>在Git中管理合并</vt:lpstr>
      <vt:lpstr>在Git中管理合并:Merge</vt:lpstr>
      <vt:lpstr>在Git中管理合并Merge</vt:lpstr>
      <vt:lpstr>在Git中管理合并:Rebase</vt:lpstr>
      <vt:lpstr>在Git中管理合并:Rebase</vt:lpstr>
      <vt:lpstr>在Git中管理合并:Rebase</vt:lpstr>
      <vt:lpstr>在Git中管理合并:Rebase</vt:lpstr>
      <vt:lpstr>在Git中管理合并:Rebase</vt:lpstr>
    </vt:vector>
  </TitlesOfParts>
  <Company>Fudan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dc:title>
  <dc:creator>Wu Yijian</dc:creator>
  <dc:subject>Software Practice</dc:subject>
  <cp:lastModifiedBy>张天戈</cp:lastModifiedBy>
  <cp:revision>2806</cp:revision>
  <cp:lastPrinted>2026-05-09T02:14:47Z</cp:lastPrinted>
  <dcterms:created xsi:type="dcterms:W3CDTF">2026-05-09T02:14:47Z</dcterms:created>
  <dcterms:modified xsi:type="dcterms:W3CDTF">2026-05-09T02:14:47Z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5E66FEA314E75F67B5283B66B7154FF9_42</vt:lpwstr>
  </property>
  <property fmtid="{D5CDD505-2E9C-101B-9397-08002B2CF9AE}" pid="3" name="KSOProductBuildVer">
    <vt:lpwstr>2052-12.1.25869.25869</vt:lpwstr>
  </property>
</Properties>
</file>